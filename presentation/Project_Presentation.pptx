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ba67cbf-cf3c-adae-0f41-164443abf36a}">
          <p14:sldIdLst>
            <p14:sldId id="256"/>
          </p14:sldIdLst>
        </p14:section>
        <p14:section name="Problem and data" id="{a8130834-ba8c-6e94-9db7-41381b4406f3}">
          <p14:sldIdLst>
            <p14:sldId id="257"/>
            <p14:sldId id="258"/>
            <p14:sldId id="259"/>
          </p14:sldIdLst>
        </p14:section>
        <p14:section name="Solution and design" id="{8320735b-687c-8116-9a73-a7e615eebc35}">
          <p14:sldIdLst>
            <p14:sldId id="260"/>
            <p14:sldId id="261"/>
            <p14:sldId id="262"/>
            <p14:sldId id="263"/>
          </p14:sldIdLst>
        </p14:section>
        <p14:section name="Implementation and demo" id="{cbfbc704-e20a-f695-2a93-cafd9b786b65}">
          <p14:sldIdLst>
            <p14:sldId id="264"/>
            <p14:sldId id="265"/>
            <p14:sldId id="266"/>
          </p14:sldIdLst>
        </p14:section>
        <p14:section name="Evaluation and next steps" id="{1832223a-36f1-26cb-16b4-b1a80732e557}">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Opening | about 10 seconds
Open with the goal: help travel professionals find relevant, comparable travel-experience evidence faster, instead of searching raw records by hand.
Say the project name and "Project 2", introduce yourself or the team, then move straight to the problem.
Note for the presenter: the cover artwork is an original illustration created for this deck.
Transition: "Let's start with why this takes so long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problem | about 30 seconds
Travelers describe what they want in everyday language: "beach, good food, relaxed". Professionals then search scattered records by hand. Destination, activities, traveler type and ratings live in different places and are hard to compare side by side.
Emphasize time and inconsistency. Do not quote any financial impact or time savings; none has been measured for this project.
Land the core question on screen: "Which past experiences best match this traveler?" Everything that follows is built to answer it.
Transition: "So what outcome are we aiming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Business objective | about 25 seconds
Four goals feed one outcome: a better-informed recommendation.
1) Reduce manual searching.
2) Surface comparable travel experiences.
3) Help compare destinations and activity categories.
4) Give professionals evidence they can inspect, so they stay in control of the final call.
Frame this as decision support for travel professionals. It is not an automatic travel-booking system and it does not book anything.
Transition: "Here is the data that makes this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The data | about 30 seconds
The project has three CSV files. 1) sample_data.csv holds a User column plus generic Category 1 to Category 24 rating columns. 2) column_names_changed.csv is the same rating matrix with named activity categories. 3) modified_data.csv adds destination, category_visited, roverall_rating, review_text, travel_type and visit_date. The enriched file has 5,456 rows.
Provenance, said plainly: the destination, review text, travel type, overall rating and visit date are enriched fields whose provenance is synthetic or unverified. The project brief names a TripAdvisor dataset, but the link it provides points to UCI Restaurant &amp; Consumer Data, and the two may not match. We therefore treat this as a provenance limitation. We do NOT claim the data is verified TripAdvisor data or authentic traveler reviews.
At load time the app checks required fields, numeric ratings from 0 to 5, required text and ISO dates. It maps the misspelled roverall_rating header to overall_rating in memory only; the source CSVs are never rewritten. Each enriched row becomes one retrieval document; rows are not split into smaller chunks.
Transition: "Now, what did we build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The solution | about 25 seconds
Walk the five steps left to right: describe the trip, extract supported preferences, retrieve similar evidence, rank destinations and activities, and inspect the records behind the ranking.
Clarify that in the current application the recommendations are deterministic and evidence-based. There is no LLM call anywhere in the search and ranking path, and no LLM API key is needed.
Transition: "Let's look at how this is put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Architecture | about 45 seconds | animated: four click-to-reveal stages
Click 1 - indexing path. The three CSVs are preprocessed and validated at load time. Each enriched row becomes one retrieval document; we do not split rows into smaller chunks. Embeddings are generated and stored in a persistent Chroma collection. In parallel, a BM25 keyword index is built over the same documents.
Click 2 - query path. A user query with filters goes to the preference classifier, then to validated metadata filters (destination, travel type, rating range). Those feed hybrid retrieval, which combines BM25 and vector similarity with Reciprocal Rank Fusion.
Click 3 - downstream. Retrieved evidence is handed off (the RAG step, with no LLM call in the current runtime) to deterministic ranking, then a feasibility / data-coverage check, then the FastAPI layer, and finally the Streamlit UI.
Click 4 - feedback and planned work. Feedback is saved in SQLite, separately from the evidence. The dashed boxes are PLANNED and not implemented: feedback-based reranking and optional LLM generation or judging.
Key distinction to say aloud: solid = implemented, dashed =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Hybrid retrieval | about 40 seconds
BM25 finds useful keyword matches: exact terms like "beach" or "food". Vector similarity finds records that are semantically related even when the words differ. Reciprocal Rank Fusion, with constant 60, merges the two ranked lists into one evidence ranking. Metadata filters (destination, travel type and rating range) narrow the candidate set.
The record letters and ranks on this slide are purely illustrative; they are not real results.
Be honest about the runtime: the default embedding option is sentence-transformers/all-MiniLM-L6-v2. In the environment used for the observed demo, downloading the MiniLM model weights stalled, so the demo ran on TF-IDF with Chroma instead. TF-IDF is less capable at paraphrase matching, so semantic matches are weaker in the demo than they would be with MiniLM. The health endpoint reports which backend is active.
Transition: "Next, the small roles that turn retrieval into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Planning workflow | about 35 seconds
Four small roles hand work to each other in order:
1) Preference classifier - extracts interests, destination, traveler type, duration and budget cues from the query, and passes preferences on.
2) Retriever - hybrid search plus filters, passing on evidence records.
3) Recommendation ranker - builds destination and activity summaries from that evidence.
4) Feasibility validator - checks what the dataset can and cannot support.
Be precise about the word "agent": these are deterministic, in-process roles. They are not autonomous LLM agents and not distributed agents. The current pipeline makes no LLM call, which keeps results explainable and reproducible.
Transition: "Here is everything that is implemented today and how it is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Implemented features and API | about 30 seconds
Five implemented capabilities on the left, each reachable through the FastAPI surface on the right: hybrid experience search; preference extraction and metadata filters; ranked destination and activity summaries; an itinerary data-coverage response; and feedback capture in SQLite.
Routes: GET /health, POST /api/v1/search, POST /api/v1/recommendations, POST /api/v1/itinerary/feasibility, POST /api/v1/feedback.
Important: feedback is stored, but it does not currently retrain or rerank anything. Learned feedback reranking is planned, not implemented.
Transition: "Now, what does it look like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The experience | about 25 seconds
The Streamlit interface is called Wayfarer Travel Studio. A user types a natural-language trip query, narrows with destination, travel-party and rating filters, and gets ranked destination and activity results. Each result can be traced back to expandable retrieved experience records, so a professional can scan quickly and then inspect the evidence behind a ranking. The UI also has Light/Dark appearance, a coastal hero image and an animated airplane loading state.
The visual on this slide is a clearly labeled ILLUSTRATIVE MOCK-UP created for this deck. It is not a screenshot, and the destination and activity names and bar lengths are placeholders, not results.
Transition: "Let's see it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Live demo | about 80 seconds | extracted chips, results and evidence fade in on three clicks
Demo query: "Beach trip with local food for a couple."
Sequence:
1) Enter the query in the UI.
2) Show the extracted interests and traveler type (on this mock-up: click 1 fades in the extracted chips).
   Click 2 fades in the destination and activity results (step 3); click 3 fades in the evidence record and the optional feasibility box (steps 4 and 5). Use these clicks if you are not running the live app.
3) Compare the destination and activity results.
4) Open one retrieved evidence record and read a line or two aloud, so the audience sees the ranking is backed by a record.
5) Optional: send a 5-day / $900 feasibility request. The API returns "insufficient_data".
Say this clearly: rankings and scores depend on the query, the embedding backend and the corpus, so do not promise a specific destination or ranking. In the observed demo runtime the backend is TF-IDF with Chroma.
Why "insufficient_data"? The dataset has no actual prices and no activity durations, so the app cannot prove budget or duration feasibility, and it does not claim an itinerary is feasible when the data is missing.
The panel on this slide is an ILLUSTRATIVE mock-up, not a screenshot; its names and bars are placeholders. If the live app misbehaves, narrate from this slide and the earlier mock-up.
Transition: "So what have we actually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Evaluation | about 25 seconds
What is verified: 14 unit and API tests passed in the latest validation. They cover CSV validation, retrieval, filters, preference parsing, API behavior and feedback.
What is NOT done: DeepEval is in the dependency list, but no DeepEval run, report or score has been produced. RAGAS is not integrated. The proposed next metrics are Precision@k, Recall@k and nDCG, measured on a held-out query set.
Please do not quote or imply any retrieval-quality or LLM-judge scores; none exist. The honest statement is: the code behaves as tested, and quality evaluation is the next step.
Transition: "Let's be open about the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Challenges and trade-offs | about 30 seconds
Each challenge is paired with how we responded.
- Enriched provenance is unverified: we label those fields synthetic or unverified and never present them as authentic traveler reviews.
- No prices or durations: the feasibility endpoint reports insufficient data rather than guessing.
- The MiniLM weights download stalled in the demo environment: TF-IDF with Chroma gave an offline local runtime. MiniLM remains the default option.
- TF-IDF is weaker at paraphrase matching: hybrid retrieval still keeps BM25 exact-term matching alongside vector similarity.
- Chroma and SQLite suit local capstone scale, not distributed production: the benefit is a reproducible local run.
Emphasize transparent limitations and reproducible local execution.
Transition: "And here is where we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What's next and takeaway | about 25 seconds
Start with where we are: a local-first working product that searches, compares and recommends with inspectable evidence.
The roadmap items are all PLANNED, not done: 1) verify dataset provenance; 2) build a held-out query set; 3) run real DeepEval, and optional LLM-judge evaluation, after those are implemented; 4) add real price and duration data before any feasibility planning; 5) improve optional feedback-based ranking.
Close on the value: "Search less. Compare better. Recommend with evidence." Then thank the reviewers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Q&amp;A | 2 minutes
Invite questions. Backup answers:
Q: Why is there no LLM?
A: The core search and ranking is deterministic and works locally without an API key. LLM generation and judging remain future work.
Q: Why use TF-IDF in the live demo?
A: The MiniLM weights could not be downloaded in that environment. TF-IDF enabled an offline local run but is weaker for paraphrase matching. MiniLM is still the default embedding option.
Q: Is the data authentic TripAdvisor data?
A: The project brief names TripAdvisor, but the linked dataset and the provided schema may not match. The enriched fields are synthetic or unverified, and provenance needs confirmation.
Q: Can it verify the $900 budget or the 5-day schedule?
A: No. The dataset lacks prices and activity durations, so the API reports insufficient data.
Q: Are DeepEval or RAGAS results available?
A: No. DeepEval has not been run and RAGAS is not integrated. No evaluation scores should be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F4D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83080"/>
            <a:ext cx="4846320" cy="2468880"/>
          </a:xfrm>
          <a:prstGeom prst="rect">
            <a:avLst/>
          </a:prstGeom>
          <a:noFill/>
          <a:ln/>
        </p:spPr>
        <p:txBody>
          <a:bodyPr wrap="square" rtlCol="0"/>
          <a:lstStyle>
            <a:lvl1pPr algn="l" indent="0" marL="0">
              <a:buNone/>
              <a:defRPr lang="en-US" sz="3800" b="1" dirty="0">
                <a:solidFill>
                  <a:schemeClr val="bg2"/>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Project 2  |  AI-Powered Travel Planning &amp; Itinerary Assistant</a:t>
            </a:r>
            <a:endParaRPr lang="en-US" sz="1000" dirty="0"/>
          </a:p>
        </p:txBody>
      </p:sp>
      <p:sp>
        <p:nvSpPr>
          <p:cNvPr id="3" name="Text 1"/>
          <p:cNvSpPr/>
          <p:nvPr>
            <p:ph idx="101" type="body" hasCustomPrompt="1"/>
          </p:nvPr>
        </p:nvSpPr>
        <p:spPr>
          <a:xfrm>
            <a:off x="548640" y="329184"/>
            <a:ext cx="8229600" cy="274320"/>
          </a:xfrm>
          <a:prstGeom prst="rect">
            <a:avLst/>
          </a:prstGeom>
          <a:noFill/>
          <a:ln/>
        </p:spPr>
        <p:txBody>
          <a:bodyPr wrap="square" rtlCol="0"/>
          <a:lstStyle>
            <a:lvl1pPr indent="0" marL="0">
              <a:buNone/>
              <a:defRPr lang="en-US" sz="1300" b="1" spc="300" kern="0" dirty="0">
                <a:solidFill>
                  <a:schemeClr val="accent3"/>
                </a:solidFill>
              </a:defRPr>
            </a:lvl1pPr>
          </a:lstStyle>
          <a:p>
            <a:pPr indent="0" marL="0">
              <a:buNone/>
            </a:pPr>
            <a:endParaRPr lang="en-US" sz="1300" dirty="0"/>
          </a:p>
        </p:txBody>
      </p:sp>
      <p:sp>
        <p:nvSpPr>
          <p:cNvPr id="4" name="Text 1"/>
          <p:cNvSpPr/>
          <p:nvPr>
            <p:ph idx="102" type="title" hasCustomPrompt="1"/>
          </p:nvPr>
        </p:nvSpPr>
        <p:spPr>
          <a:xfrm>
            <a:off x="548640" y="621792"/>
            <a:ext cx="1106424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llustrated Mediterranean coastal village with a winding route to a destination pin">    </p:cNvPr>
          <p:cNvPicPr>
            <a:picLocks noChangeAspect="1"/>
          </p:cNvPicPr>
          <p:nvPr/>
        </p:nvPicPr>
        <p:blipFill>
          <a:blip r:embed="rId1"/>
          <a:stretch>
            <a:fillRect/>
          </a:stretch>
        </p:blipFill>
        <p:spPr>
          <a:xfrm>
            <a:off x="5669280" y="0"/>
            <a:ext cx="6522415" cy="6858000"/>
          </a:xfrm>
          <a:prstGeom prst="rect">
            <a:avLst/>
          </a:prstGeom>
        </p:spPr>
      </p:pic>
      <p:sp>
        <p:nvSpPr>
          <p:cNvPr id="3" name="Text 0"/>
          <p:cNvSpPr/>
          <p:nvPr/>
        </p:nvSpPr>
        <p:spPr>
          <a:xfrm>
            <a:off x="640080" y="1143000"/>
            <a:ext cx="1554480" cy="384048"/>
          </a:xfrm>
          <a:prstGeom prst="roundRect">
            <a:avLst>
              <a:gd name="adj" fmla="val 71429"/>
            </a:avLst>
          </a:prstGeom>
          <a:solidFill>
            <a:schemeClr val="accent3"/>
          </a:solidFill>
          <a:ln/>
        </p:spPr>
        <p:txBody>
          <a:bodyPr wrap="square" lIns="0" tIns="1016" rIns="1016" bIns="0" rtlCol="0" anchor="ctr"/>
          <a:lstStyle/>
          <a:p>
            <a:pPr algn="ctr" indent="0" marL="0">
              <a:buNone/>
            </a:pPr>
            <a:r>
              <a:rPr lang="en-US" sz="1400" b="1" spc="300" kern="0" dirty="0">
                <a:solidFill>
                  <a:schemeClr val="bg1"/>
                </a:solidFill>
              </a:rPr>
              <a:t>PROJECT 2</a:t>
            </a:r>
            <a:endParaRPr lang="en-US" sz="1400" dirty="0"/>
          </a:p>
        </p:txBody>
      </p:sp>
      <p:sp>
        <p:nvSpPr>
          <p:cNvPr id="4" name="Text 0"/>
          <p:cNvSpPr/>
          <p:nvPr>
            <p:ph idx="100" type="title" hasCustomPrompt="1"/>
          </p:nvPr>
        </p:nvSpPr>
        <p:spPr>
          <a:xfrm>
            <a:off x="640080" y="1783080"/>
            <a:ext cx="4846320" cy="2468880"/>
          </a:xfrm>
          <a:prstGeom prst="rect">
            <a:avLst/>
          </a:prstGeom>
          <a:noFill/>
          <a:ln/>
        </p:spPr>
        <p:txBody>
          <a:bodyPr wrap="square" lIns="0" tIns="0" rIns="0" bIns="0" rtlCol="0" anchor="t"/>
          <a:lstStyle/>
          <a:p>
            <a:pPr algn="l" indent="0" marL="0">
              <a:buNone/>
            </a:pPr>
            <a:r>
              <a:rPr lang="en-US" sz="3800" b="1" dirty="0">
                <a:solidFill>
                  <a:schemeClr val="bg2"/>
                </a:solidFill>
              </a:rPr>
              <a:t>AI-Powered Travel Planning &amp; Itinerary Assistant</a:t>
            </a:r>
            <a:endParaRPr lang="en-US" sz="3800" dirty="0"/>
          </a:p>
        </p:txBody>
      </p:sp>
      <p:sp>
        <p:nvSpPr>
          <p:cNvPr id="5" name="Text 2"/>
          <p:cNvSpPr txBox="1"/>
          <p:nvPr/>
        </p:nvSpPr>
        <p:spPr>
          <a:xfrm>
            <a:off x="640080" y="4434840"/>
            <a:ext cx="4754880" cy="1097280"/>
          </a:xfrm>
          <a:prstGeom prst="rect">
            <a:avLst/>
          </a:prstGeom>
          <a:noFill/>
          <a:ln/>
        </p:spPr>
        <p:txBody>
          <a:bodyPr wrap="square" lIns="0" tIns="0" rIns="0" bIns="0" rtlCol="0" anchor="t"/>
          <a:lstStyle/>
          <a:p>
            <a:pPr indent="0" marL="0">
              <a:buNone/>
            </a:pPr>
            <a:r>
              <a:rPr lang="en-US" sz="2200" i="1" dirty="0">
                <a:solidFill>
                  <a:schemeClr val="accent2"/>
                </a:solidFill>
                <a:latin typeface="+mj-lt" pitchFamily="34" charset="0"/>
                <a:ea typeface="+mj-lt" pitchFamily="34" charset="-122"/>
                <a:cs typeface="+mj-lt" pitchFamily="34" charset="-120"/>
              </a:rPr>
              <a:t>Find travel experiences that fit the way people want to travel.</a:t>
            </a:r>
            <a:endParaRPr lang="en-US" sz="2200" dirty="0"/>
          </a:p>
        </p:txBody>
      </p:sp>
      <p:sp>
        <p:nvSpPr>
          <p:cNvPr id="6" name="Text 3"/>
          <p:cNvSpPr txBox="1"/>
          <p:nvPr/>
        </p:nvSpPr>
        <p:spPr>
          <a:xfrm>
            <a:off x="640080" y="5989320"/>
            <a:ext cx="4572000" cy="365760"/>
          </a:xfrm>
          <a:prstGeom prst="rect">
            <a:avLst/>
          </a:prstGeom>
          <a:noFill/>
          <a:ln/>
        </p:spPr>
        <p:txBody>
          <a:bodyPr wrap="square" lIns="0" tIns="0" rIns="0" bIns="0" rtlCol="0" anchor="t"/>
          <a:lstStyle/>
          <a:p>
            <a:pPr indent="0" marL="0">
              <a:buNone/>
            </a:pPr>
            <a:r>
              <a:rPr lang="en-US" sz="1600" dirty="0">
                <a:solidFill>
                  <a:schemeClr val="bg2"/>
                </a:solidFill>
              </a:rPr>
              <a:t>[Presenter / team name]</a:t>
            </a:r>
            <a:endParaRPr lang="en-US" sz="16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THE PROBLEM</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Good recommendations take too long</a:t>
            </a:r>
            <a:endParaRPr lang="en-US" sz="3400" dirty="0"/>
          </a:p>
        </p:txBody>
      </p:sp>
      <p:sp>
        <p:nvSpPr>
          <p:cNvPr id="4" name="Shape 2"/>
          <p:cNvSpPr/>
          <p:nvPr/>
        </p:nvSpPr>
        <p:spPr>
          <a:xfrm>
            <a:off x="548640" y="1691640"/>
            <a:ext cx="640080" cy="64008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708660" y="1851660"/>
            <a:ext cx="320040" cy="320040"/>
          </a:xfrm>
          <a:prstGeom prst="rect">
            <a:avLst/>
          </a:prstGeom>
        </p:spPr>
      </p:pic>
      <p:sp>
        <p:nvSpPr>
          <p:cNvPr id="6" name="Text 3"/>
          <p:cNvSpPr txBox="1"/>
          <p:nvPr/>
        </p:nvSpPr>
        <p:spPr>
          <a:xfrm>
            <a:off x="1417320" y="1691640"/>
            <a:ext cx="4297680" cy="822960"/>
          </a:xfrm>
          <a:prstGeom prst="rect">
            <a:avLst/>
          </a:prstGeom>
          <a:noFill/>
          <a:ln/>
        </p:spPr>
        <p:txBody>
          <a:bodyPr wrap="square" lIns="0" tIns="0" rIns="0" bIns="0" rtlCol="0" anchor="ctr"/>
          <a:lstStyle/>
          <a:p>
            <a:pPr indent="0" marL="0">
              <a:buNone/>
            </a:pPr>
            <a:r>
              <a:rPr lang="en-US" sz="1900" dirty="0">
                <a:solidFill>
                  <a:schemeClr val="tx1"/>
                </a:solidFill>
              </a:rPr>
              <a:t>Travelers describe interests in natural language.</a:t>
            </a:r>
            <a:endParaRPr lang="en-US" sz="1900" dirty="0"/>
          </a:p>
        </p:txBody>
      </p:sp>
      <p:sp>
        <p:nvSpPr>
          <p:cNvPr id="7" name="Shape 4"/>
          <p:cNvSpPr/>
          <p:nvPr/>
        </p:nvSpPr>
        <p:spPr>
          <a:xfrm>
            <a:off x="548640" y="2788920"/>
            <a:ext cx="640080" cy="640080"/>
          </a:xfrm>
          <a:prstGeom prst="ellipse">
            <a:avLst/>
          </a:prstGeom>
          <a:solidFill>
            <a:schemeClr val="accent1"/>
          </a:solidFill>
          <a:ln w="12700">
            <a:solidFill>
              <a:schemeClr val="accent1"/>
            </a:solidFill>
            <a:prstDash val="solid"/>
          </a:ln>
        </p:spPr>
      </p:sp>
      <p:pic>
        <p:nvPicPr>
          <p:cNvPr id="8" name="Image 1" descr="icon">    </p:cNvPr>
          <p:cNvPicPr>
            <a:picLocks noChangeAspect="1"/>
          </p:cNvPicPr>
          <p:nvPr/>
        </p:nvPicPr>
        <p:blipFill>
          <a:blip r:embed="rId2"/>
          <a:stretch>
            <a:fillRect/>
          </a:stretch>
        </p:blipFill>
        <p:spPr>
          <a:xfrm>
            <a:off x="708660" y="2948940"/>
            <a:ext cx="320040" cy="320040"/>
          </a:xfrm>
          <a:prstGeom prst="rect">
            <a:avLst/>
          </a:prstGeom>
        </p:spPr>
      </p:pic>
      <p:sp>
        <p:nvSpPr>
          <p:cNvPr id="9" name="Text 5"/>
          <p:cNvSpPr txBox="1"/>
          <p:nvPr/>
        </p:nvSpPr>
        <p:spPr>
          <a:xfrm>
            <a:off x="1417320" y="2788920"/>
            <a:ext cx="4297680" cy="822960"/>
          </a:xfrm>
          <a:prstGeom prst="rect">
            <a:avLst/>
          </a:prstGeom>
          <a:noFill/>
          <a:ln/>
        </p:spPr>
        <p:txBody>
          <a:bodyPr wrap="square" lIns="0" tIns="0" rIns="0" bIns="0" rtlCol="0" anchor="ctr"/>
          <a:lstStyle/>
          <a:p>
            <a:pPr indent="0" marL="0">
              <a:buNone/>
            </a:pPr>
            <a:r>
              <a:rPr lang="en-US" sz="1900" dirty="0">
                <a:solidFill>
                  <a:schemeClr val="tx1"/>
                </a:solidFill>
              </a:rPr>
              <a:t>Professionals manually search scattered records.</a:t>
            </a:r>
            <a:endParaRPr lang="en-US" sz="1900" dirty="0"/>
          </a:p>
        </p:txBody>
      </p:sp>
      <p:sp>
        <p:nvSpPr>
          <p:cNvPr id="10" name="Shape 6"/>
          <p:cNvSpPr/>
          <p:nvPr/>
        </p:nvSpPr>
        <p:spPr>
          <a:xfrm>
            <a:off x="548640" y="3886200"/>
            <a:ext cx="640080" cy="640080"/>
          </a:xfrm>
          <a:prstGeom prst="ellipse">
            <a:avLst/>
          </a:prstGeom>
          <a:solidFill>
            <a:schemeClr val="accent1"/>
          </a:solidFill>
          <a:ln w="12700">
            <a:solidFill>
              <a:schemeClr val="accent1"/>
            </a:solidFill>
            <a:prstDash val="solid"/>
          </a:ln>
        </p:spPr>
      </p:sp>
      <p:pic>
        <p:nvPicPr>
          <p:cNvPr id="11" name="Image 2" descr="icon">    </p:cNvPr>
          <p:cNvPicPr>
            <a:picLocks noChangeAspect="1"/>
          </p:cNvPicPr>
          <p:nvPr/>
        </p:nvPicPr>
        <p:blipFill>
          <a:blip r:embed="rId3"/>
          <a:stretch>
            <a:fillRect/>
          </a:stretch>
        </p:blipFill>
        <p:spPr>
          <a:xfrm>
            <a:off x="708660" y="4046220"/>
            <a:ext cx="320040" cy="320040"/>
          </a:xfrm>
          <a:prstGeom prst="rect">
            <a:avLst/>
          </a:prstGeom>
        </p:spPr>
      </p:pic>
      <p:sp>
        <p:nvSpPr>
          <p:cNvPr id="12" name="Text 7"/>
          <p:cNvSpPr txBox="1"/>
          <p:nvPr/>
        </p:nvSpPr>
        <p:spPr>
          <a:xfrm>
            <a:off x="1417320" y="3886200"/>
            <a:ext cx="4297680" cy="822960"/>
          </a:xfrm>
          <a:prstGeom prst="rect">
            <a:avLst/>
          </a:prstGeom>
          <a:noFill/>
          <a:ln/>
        </p:spPr>
        <p:txBody>
          <a:bodyPr wrap="square" lIns="0" tIns="0" rIns="0" bIns="0" rtlCol="0" anchor="ctr"/>
          <a:lstStyle/>
          <a:p>
            <a:pPr indent="0" marL="0">
              <a:buNone/>
            </a:pPr>
            <a:r>
              <a:rPr lang="en-US" sz="1900" dirty="0">
                <a:solidFill>
                  <a:schemeClr val="tx1"/>
                </a:solidFill>
              </a:rPr>
              <a:t>Destination, activities, traveler type, and ratings are difficult to compare.</a:t>
            </a:r>
            <a:endParaRPr lang="en-US" sz="1900" dirty="0"/>
          </a:p>
        </p:txBody>
      </p:sp>
      <p:sp>
        <p:nvSpPr>
          <p:cNvPr id="13" name="Shape 8"/>
          <p:cNvSpPr/>
          <p:nvPr/>
        </p:nvSpPr>
        <p:spPr>
          <a:xfrm>
            <a:off x="6126480" y="1508760"/>
            <a:ext cx="5513832" cy="3200400"/>
          </a:xfrm>
          <a:prstGeom prst="roundRect">
            <a:avLst>
              <a:gd name="adj" fmla="val 3429"/>
            </a:avLst>
          </a:prstGeom>
          <a:solidFill>
            <a:schemeClr val="accent2">
              <a:alpha val="45000"/>
            </a:schemeClr>
          </a:solidFill>
          <a:ln w="12700">
            <a:solidFill>
              <a:schemeClr val="accent2"/>
            </a:solidFill>
            <a:prstDash val="solid"/>
          </a:ln>
        </p:spPr>
      </p:sp>
      <p:sp>
        <p:nvSpPr>
          <p:cNvPr id="14" name="rec0"/>
          <p:cNvSpPr/>
          <p:nvPr/>
        </p:nvSpPr>
        <p:spPr>
          <a:xfrm rot="-540000">
            <a:off x="6400800" y="1783080"/>
            <a:ext cx="1600200" cy="1005840"/>
          </a:xfrm>
          <a:prstGeom prst="roundRect">
            <a:avLst>
              <a:gd name="adj" fmla="val 10909"/>
            </a:avLst>
          </a:prstGeom>
          <a:solidFill>
            <a:schemeClr val="bg1"/>
          </a:solidFill>
          <a:ln w="12700">
            <a:solidFill>
              <a:schemeClr val="accent2"/>
            </a:solidFill>
            <a:prstDash val="solid"/>
          </a:ln>
          <a:effectLst>
            <a:outerShdw sx="100000" sy="100000" kx="0" ky="0" algn="bl" rotWithShape="0" blurRad="101600" dist="25400" dir="5400000">
              <a:srgbClr val="1B2B24">
                <a:alpha val="14000"/>
              </a:srgbClr>
            </a:outerShdw>
          </a:effectLst>
        </p:spPr>
      </p:sp>
      <p:sp>
        <p:nvSpPr>
          <p:cNvPr id="15" name="Shape 10"/>
          <p:cNvSpPr/>
          <p:nvPr/>
        </p:nvSpPr>
        <p:spPr>
          <a:xfrm rot="-540000">
            <a:off x="6583680" y="2167128"/>
            <a:ext cx="1188720" cy="64008"/>
          </a:xfrm>
          <a:prstGeom prst="rect">
            <a:avLst/>
          </a:prstGeom>
          <a:solidFill>
            <a:schemeClr val="accent6">
              <a:alpha val="40000"/>
            </a:schemeClr>
          </a:solidFill>
          <a:ln w="12700">
            <a:solidFill>
              <a:schemeClr val="accent6">
                <a:alpha val="0"/>
              </a:schemeClr>
            </a:solidFill>
            <a:prstDash val="solid"/>
          </a:ln>
        </p:spPr>
      </p:sp>
      <p:sp>
        <p:nvSpPr>
          <p:cNvPr id="16" name="Shape 11"/>
          <p:cNvSpPr/>
          <p:nvPr/>
        </p:nvSpPr>
        <p:spPr>
          <a:xfrm rot="-540000">
            <a:off x="6583680" y="2331720"/>
            <a:ext cx="1188720" cy="64008"/>
          </a:xfrm>
          <a:prstGeom prst="rect">
            <a:avLst/>
          </a:prstGeom>
          <a:solidFill>
            <a:schemeClr val="accent6">
              <a:alpha val="40000"/>
            </a:schemeClr>
          </a:solidFill>
          <a:ln w="12700">
            <a:solidFill>
              <a:schemeClr val="accent6">
                <a:alpha val="0"/>
              </a:schemeClr>
            </a:solidFill>
            <a:prstDash val="solid"/>
          </a:ln>
        </p:spPr>
      </p:sp>
      <p:sp>
        <p:nvSpPr>
          <p:cNvPr id="17" name="Shape 12"/>
          <p:cNvSpPr/>
          <p:nvPr/>
        </p:nvSpPr>
        <p:spPr>
          <a:xfrm rot="-540000">
            <a:off x="6583680" y="2496312"/>
            <a:ext cx="731520" cy="64008"/>
          </a:xfrm>
          <a:prstGeom prst="rect">
            <a:avLst/>
          </a:prstGeom>
          <a:solidFill>
            <a:schemeClr val="accent6">
              <a:alpha val="40000"/>
            </a:schemeClr>
          </a:solidFill>
          <a:ln w="12700">
            <a:solidFill>
              <a:schemeClr val="accent6">
                <a:alpha val="0"/>
              </a:schemeClr>
            </a:solidFill>
            <a:prstDash val="solid"/>
          </a:ln>
        </p:spPr>
      </p:sp>
      <p:sp>
        <p:nvSpPr>
          <p:cNvPr id="18" name="rec1"/>
          <p:cNvSpPr/>
          <p:nvPr/>
        </p:nvSpPr>
        <p:spPr>
          <a:xfrm rot="420000">
            <a:off x="8412480" y="1737360"/>
            <a:ext cx="1600200" cy="1005840"/>
          </a:xfrm>
          <a:prstGeom prst="roundRect">
            <a:avLst>
              <a:gd name="adj" fmla="val 10909"/>
            </a:avLst>
          </a:prstGeom>
          <a:solidFill>
            <a:schemeClr val="bg1"/>
          </a:solidFill>
          <a:ln w="12700">
            <a:solidFill>
              <a:schemeClr val="accent2"/>
            </a:solidFill>
            <a:prstDash val="solid"/>
          </a:ln>
          <a:effectLst>
            <a:outerShdw sx="100000" sy="100000" kx="0" ky="0" algn="bl" rotWithShape="0" blurRad="101600" dist="25400" dir="5400000">
              <a:srgbClr val="1B2B24">
                <a:alpha val="14000"/>
              </a:srgbClr>
            </a:outerShdw>
          </a:effectLst>
        </p:spPr>
      </p:sp>
      <p:sp>
        <p:nvSpPr>
          <p:cNvPr id="19" name="Shape 14"/>
          <p:cNvSpPr/>
          <p:nvPr/>
        </p:nvSpPr>
        <p:spPr>
          <a:xfrm rot="420000">
            <a:off x="8595360" y="2121408"/>
            <a:ext cx="1188720" cy="64008"/>
          </a:xfrm>
          <a:prstGeom prst="rect">
            <a:avLst/>
          </a:prstGeom>
          <a:solidFill>
            <a:schemeClr val="accent6">
              <a:alpha val="40000"/>
            </a:schemeClr>
          </a:solidFill>
          <a:ln w="12700">
            <a:solidFill>
              <a:schemeClr val="accent6">
                <a:alpha val="0"/>
              </a:schemeClr>
            </a:solidFill>
            <a:prstDash val="solid"/>
          </a:ln>
        </p:spPr>
      </p:sp>
      <p:sp>
        <p:nvSpPr>
          <p:cNvPr id="20" name="Shape 15"/>
          <p:cNvSpPr/>
          <p:nvPr/>
        </p:nvSpPr>
        <p:spPr>
          <a:xfrm rot="420000">
            <a:off x="8595360" y="2286000"/>
            <a:ext cx="1188720" cy="64008"/>
          </a:xfrm>
          <a:prstGeom prst="rect">
            <a:avLst/>
          </a:prstGeom>
          <a:solidFill>
            <a:schemeClr val="accent6">
              <a:alpha val="40000"/>
            </a:schemeClr>
          </a:solidFill>
          <a:ln w="12700">
            <a:solidFill>
              <a:schemeClr val="accent6">
                <a:alpha val="0"/>
              </a:schemeClr>
            </a:solidFill>
            <a:prstDash val="solid"/>
          </a:ln>
        </p:spPr>
      </p:sp>
      <p:sp>
        <p:nvSpPr>
          <p:cNvPr id="21" name="Shape 16"/>
          <p:cNvSpPr/>
          <p:nvPr/>
        </p:nvSpPr>
        <p:spPr>
          <a:xfrm rot="420000">
            <a:off x="8595360" y="2450592"/>
            <a:ext cx="731520" cy="64008"/>
          </a:xfrm>
          <a:prstGeom prst="rect">
            <a:avLst/>
          </a:prstGeom>
          <a:solidFill>
            <a:schemeClr val="accent6">
              <a:alpha val="40000"/>
            </a:schemeClr>
          </a:solidFill>
          <a:ln w="12700">
            <a:solidFill>
              <a:schemeClr val="accent6">
                <a:alpha val="0"/>
              </a:schemeClr>
            </a:solidFill>
            <a:prstDash val="solid"/>
          </a:ln>
        </p:spPr>
      </p:sp>
      <p:sp>
        <p:nvSpPr>
          <p:cNvPr id="22" name="rec2"/>
          <p:cNvSpPr/>
          <p:nvPr/>
        </p:nvSpPr>
        <p:spPr>
          <a:xfrm rot="-300000">
            <a:off x="10058400" y="2148840"/>
            <a:ext cx="1600200" cy="1005840"/>
          </a:xfrm>
          <a:prstGeom prst="roundRect">
            <a:avLst>
              <a:gd name="adj" fmla="val 10909"/>
            </a:avLst>
          </a:prstGeom>
          <a:solidFill>
            <a:schemeClr val="bg1"/>
          </a:solidFill>
          <a:ln w="12700">
            <a:solidFill>
              <a:schemeClr val="accent2"/>
            </a:solidFill>
            <a:prstDash val="solid"/>
          </a:ln>
          <a:effectLst>
            <a:outerShdw sx="100000" sy="100000" kx="0" ky="0" algn="bl" rotWithShape="0" blurRad="101600" dist="25400" dir="5400000">
              <a:srgbClr val="1B2B24">
                <a:alpha val="14000"/>
              </a:srgbClr>
            </a:outerShdw>
          </a:effectLst>
        </p:spPr>
      </p:sp>
      <p:sp>
        <p:nvSpPr>
          <p:cNvPr id="23" name="Shape 18"/>
          <p:cNvSpPr/>
          <p:nvPr/>
        </p:nvSpPr>
        <p:spPr>
          <a:xfrm rot="-300000">
            <a:off x="10241280" y="2532888"/>
            <a:ext cx="1188720" cy="64008"/>
          </a:xfrm>
          <a:prstGeom prst="rect">
            <a:avLst/>
          </a:prstGeom>
          <a:solidFill>
            <a:schemeClr val="accent6">
              <a:alpha val="40000"/>
            </a:schemeClr>
          </a:solidFill>
          <a:ln w="12700">
            <a:solidFill>
              <a:schemeClr val="accent6">
                <a:alpha val="0"/>
              </a:schemeClr>
            </a:solidFill>
            <a:prstDash val="solid"/>
          </a:ln>
        </p:spPr>
      </p:sp>
      <p:sp>
        <p:nvSpPr>
          <p:cNvPr id="24" name="Shape 19"/>
          <p:cNvSpPr/>
          <p:nvPr/>
        </p:nvSpPr>
        <p:spPr>
          <a:xfrm rot="-300000">
            <a:off x="10241280" y="2697480"/>
            <a:ext cx="1188720" cy="64008"/>
          </a:xfrm>
          <a:prstGeom prst="rect">
            <a:avLst/>
          </a:prstGeom>
          <a:solidFill>
            <a:schemeClr val="accent6">
              <a:alpha val="40000"/>
            </a:schemeClr>
          </a:solidFill>
          <a:ln w="12700">
            <a:solidFill>
              <a:schemeClr val="accent6">
                <a:alpha val="0"/>
              </a:schemeClr>
            </a:solidFill>
            <a:prstDash val="solid"/>
          </a:ln>
        </p:spPr>
      </p:sp>
      <p:sp>
        <p:nvSpPr>
          <p:cNvPr id="25" name="Shape 20"/>
          <p:cNvSpPr/>
          <p:nvPr/>
        </p:nvSpPr>
        <p:spPr>
          <a:xfrm rot="-300000">
            <a:off x="10241280" y="2862072"/>
            <a:ext cx="731520" cy="64008"/>
          </a:xfrm>
          <a:prstGeom prst="rect">
            <a:avLst/>
          </a:prstGeom>
          <a:solidFill>
            <a:schemeClr val="accent6">
              <a:alpha val="40000"/>
            </a:schemeClr>
          </a:solidFill>
          <a:ln w="12700">
            <a:solidFill>
              <a:schemeClr val="accent6">
                <a:alpha val="0"/>
              </a:schemeClr>
            </a:solidFill>
            <a:prstDash val="solid"/>
          </a:ln>
        </p:spPr>
      </p:sp>
      <p:sp>
        <p:nvSpPr>
          <p:cNvPr id="26" name="rec3"/>
          <p:cNvSpPr/>
          <p:nvPr/>
        </p:nvSpPr>
        <p:spPr>
          <a:xfrm rot="360000">
            <a:off x="6675120" y="3154680"/>
            <a:ext cx="1600200" cy="1005840"/>
          </a:xfrm>
          <a:prstGeom prst="roundRect">
            <a:avLst>
              <a:gd name="adj" fmla="val 10909"/>
            </a:avLst>
          </a:prstGeom>
          <a:solidFill>
            <a:schemeClr val="bg1"/>
          </a:solidFill>
          <a:ln w="12700">
            <a:solidFill>
              <a:schemeClr val="accent2"/>
            </a:solidFill>
            <a:prstDash val="solid"/>
          </a:ln>
          <a:effectLst>
            <a:outerShdw sx="100000" sy="100000" kx="0" ky="0" algn="bl" rotWithShape="0" blurRad="101600" dist="25400" dir="5400000">
              <a:srgbClr val="1B2B24">
                <a:alpha val="14000"/>
              </a:srgbClr>
            </a:outerShdw>
          </a:effectLst>
        </p:spPr>
      </p:sp>
      <p:sp>
        <p:nvSpPr>
          <p:cNvPr id="27" name="Shape 22"/>
          <p:cNvSpPr/>
          <p:nvPr/>
        </p:nvSpPr>
        <p:spPr>
          <a:xfrm rot="360000">
            <a:off x="6858000" y="3538728"/>
            <a:ext cx="1188720" cy="64008"/>
          </a:xfrm>
          <a:prstGeom prst="rect">
            <a:avLst/>
          </a:prstGeom>
          <a:solidFill>
            <a:schemeClr val="accent6">
              <a:alpha val="40000"/>
            </a:schemeClr>
          </a:solidFill>
          <a:ln w="12700">
            <a:solidFill>
              <a:schemeClr val="accent6">
                <a:alpha val="0"/>
              </a:schemeClr>
            </a:solidFill>
            <a:prstDash val="solid"/>
          </a:ln>
        </p:spPr>
      </p:sp>
      <p:sp>
        <p:nvSpPr>
          <p:cNvPr id="28" name="Shape 23"/>
          <p:cNvSpPr/>
          <p:nvPr/>
        </p:nvSpPr>
        <p:spPr>
          <a:xfrm rot="360000">
            <a:off x="6858000" y="3703320"/>
            <a:ext cx="1188720" cy="64008"/>
          </a:xfrm>
          <a:prstGeom prst="rect">
            <a:avLst/>
          </a:prstGeom>
          <a:solidFill>
            <a:schemeClr val="accent6">
              <a:alpha val="40000"/>
            </a:schemeClr>
          </a:solidFill>
          <a:ln w="12700">
            <a:solidFill>
              <a:schemeClr val="accent6">
                <a:alpha val="0"/>
              </a:schemeClr>
            </a:solidFill>
            <a:prstDash val="solid"/>
          </a:ln>
        </p:spPr>
      </p:sp>
      <p:sp>
        <p:nvSpPr>
          <p:cNvPr id="29" name="Shape 24"/>
          <p:cNvSpPr/>
          <p:nvPr/>
        </p:nvSpPr>
        <p:spPr>
          <a:xfrm rot="360000">
            <a:off x="6858000" y="3867912"/>
            <a:ext cx="731520" cy="64008"/>
          </a:xfrm>
          <a:prstGeom prst="rect">
            <a:avLst/>
          </a:prstGeom>
          <a:solidFill>
            <a:schemeClr val="accent6">
              <a:alpha val="40000"/>
            </a:schemeClr>
          </a:solidFill>
          <a:ln w="12700">
            <a:solidFill>
              <a:schemeClr val="accent6">
                <a:alpha val="0"/>
              </a:schemeClr>
            </a:solidFill>
            <a:prstDash val="solid"/>
          </a:ln>
        </p:spPr>
      </p:sp>
      <p:sp>
        <p:nvSpPr>
          <p:cNvPr id="30" name="rec4"/>
          <p:cNvSpPr/>
          <p:nvPr/>
        </p:nvSpPr>
        <p:spPr>
          <a:xfrm rot="-480000">
            <a:off x="8686800" y="3291840"/>
            <a:ext cx="1600200" cy="1005840"/>
          </a:xfrm>
          <a:prstGeom prst="roundRect">
            <a:avLst>
              <a:gd name="adj" fmla="val 10909"/>
            </a:avLst>
          </a:prstGeom>
          <a:solidFill>
            <a:schemeClr val="bg1"/>
          </a:solidFill>
          <a:ln w="12700">
            <a:solidFill>
              <a:schemeClr val="accent2"/>
            </a:solidFill>
            <a:prstDash val="solid"/>
          </a:ln>
          <a:effectLst>
            <a:outerShdw sx="100000" sy="100000" kx="0" ky="0" algn="bl" rotWithShape="0" blurRad="101600" dist="25400" dir="5400000">
              <a:srgbClr val="1B2B24">
                <a:alpha val="14000"/>
              </a:srgbClr>
            </a:outerShdw>
          </a:effectLst>
        </p:spPr>
      </p:sp>
      <p:sp>
        <p:nvSpPr>
          <p:cNvPr id="31" name="Shape 26"/>
          <p:cNvSpPr/>
          <p:nvPr/>
        </p:nvSpPr>
        <p:spPr>
          <a:xfrm rot="-480000">
            <a:off x="8869680" y="3675888"/>
            <a:ext cx="1188720" cy="64008"/>
          </a:xfrm>
          <a:prstGeom prst="rect">
            <a:avLst/>
          </a:prstGeom>
          <a:solidFill>
            <a:schemeClr val="accent6">
              <a:alpha val="40000"/>
            </a:schemeClr>
          </a:solidFill>
          <a:ln w="12700">
            <a:solidFill>
              <a:schemeClr val="accent6">
                <a:alpha val="0"/>
              </a:schemeClr>
            </a:solidFill>
            <a:prstDash val="solid"/>
          </a:ln>
        </p:spPr>
      </p:sp>
      <p:sp>
        <p:nvSpPr>
          <p:cNvPr id="32" name="Shape 27"/>
          <p:cNvSpPr/>
          <p:nvPr/>
        </p:nvSpPr>
        <p:spPr>
          <a:xfrm rot="-480000">
            <a:off x="8869680" y="3840480"/>
            <a:ext cx="1188720" cy="64008"/>
          </a:xfrm>
          <a:prstGeom prst="rect">
            <a:avLst/>
          </a:prstGeom>
          <a:solidFill>
            <a:schemeClr val="accent6">
              <a:alpha val="40000"/>
            </a:schemeClr>
          </a:solidFill>
          <a:ln w="12700">
            <a:solidFill>
              <a:schemeClr val="accent6">
                <a:alpha val="0"/>
              </a:schemeClr>
            </a:solidFill>
            <a:prstDash val="solid"/>
          </a:ln>
        </p:spPr>
      </p:sp>
      <p:sp>
        <p:nvSpPr>
          <p:cNvPr id="33" name="Shape 28"/>
          <p:cNvSpPr/>
          <p:nvPr/>
        </p:nvSpPr>
        <p:spPr>
          <a:xfrm rot="-480000">
            <a:off x="8869680" y="4005072"/>
            <a:ext cx="731520" cy="64008"/>
          </a:xfrm>
          <a:prstGeom prst="rect">
            <a:avLst/>
          </a:prstGeom>
          <a:solidFill>
            <a:schemeClr val="accent6">
              <a:alpha val="40000"/>
            </a:schemeClr>
          </a:solidFill>
          <a:ln w="12700">
            <a:solidFill>
              <a:schemeClr val="accent6">
                <a:alpha val="0"/>
              </a:schemeClr>
            </a:solidFill>
            <a:prstDash val="solid"/>
          </a:ln>
        </p:spPr>
      </p:sp>
      <p:sp>
        <p:nvSpPr>
          <p:cNvPr id="34" name="rec5"/>
          <p:cNvSpPr/>
          <p:nvPr/>
        </p:nvSpPr>
        <p:spPr>
          <a:xfrm rot="600000">
            <a:off x="10058400" y="3611880"/>
            <a:ext cx="1600200" cy="1005840"/>
          </a:xfrm>
          <a:prstGeom prst="roundRect">
            <a:avLst>
              <a:gd name="adj" fmla="val 10909"/>
            </a:avLst>
          </a:prstGeom>
          <a:solidFill>
            <a:schemeClr val="bg1"/>
          </a:solidFill>
          <a:ln w="12700">
            <a:solidFill>
              <a:schemeClr val="accent2"/>
            </a:solidFill>
            <a:prstDash val="solid"/>
          </a:ln>
          <a:effectLst>
            <a:outerShdw sx="100000" sy="100000" kx="0" ky="0" algn="bl" rotWithShape="0" blurRad="101600" dist="25400" dir="5400000">
              <a:srgbClr val="1B2B24">
                <a:alpha val="14000"/>
              </a:srgbClr>
            </a:outerShdw>
          </a:effectLst>
        </p:spPr>
      </p:sp>
      <p:sp>
        <p:nvSpPr>
          <p:cNvPr id="35" name="Shape 30"/>
          <p:cNvSpPr/>
          <p:nvPr/>
        </p:nvSpPr>
        <p:spPr>
          <a:xfrm rot="600000">
            <a:off x="10241280" y="3995928"/>
            <a:ext cx="1188720" cy="64008"/>
          </a:xfrm>
          <a:prstGeom prst="rect">
            <a:avLst/>
          </a:prstGeom>
          <a:solidFill>
            <a:schemeClr val="accent6">
              <a:alpha val="40000"/>
            </a:schemeClr>
          </a:solidFill>
          <a:ln w="12700">
            <a:solidFill>
              <a:schemeClr val="accent6">
                <a:alpha val="0"/>
              </a:schemeClr>
            </a:solidFill>
            <a:prstDash val="solid"/>
          </a:ln>
        </p:spPr>
      </p:sp>
      <p:sp>
        <p:nvSpPr>
          <p:cNvPr id="36" name="Shape 31"/>
          <p:cNvSpPr/>
          <p:nvPr/>
        </p:nvSpPr>
        <p:spPr>
          <a:xfrm rot="600000">
            <a:off x="10241280" y="4160520"/>
            <a:ext cx="1188720" cy="64008"/>
          </a:xfrm>
          <a:prstGeom prst="rect">
            <a:avLst/>
          </a:prstGeom>
          <a:solidFill>
            <a:schemeClr val="accent6">
              <a:alpha val="40000"/>
            </a:schemeClr>
          </a:solidFill>
          <a:ln w="12700">
            <a:solidFill>
              <a:schemeClr val="accent6">
                <a:alpha val="0"/>
              </a:schemeClr>
            </a:solidFill>
            <a:prstDash val="solid"/>
          </a:ln>
        </p:spPr>
      </p:sp>
      <p:sp>
        <p:nvSpPr>
          <p:cNvPr id="37" name="Shape 32"/>
          <p:cNvSpPr/>
          <p:nvPr/>
        </p:nvSpPr>
        <p:spPr>
          <a:xfrm rot="600000">
            <a:off x="10241280" y="4325112"/>
            <a:ext cx="731520" cy="64008"/>
          </a:xfrm>
          <a:prstGeom prst="rect">
            <a:avLst/>
          </a:prstGeom>
          <a:solidFill>
            <a:schemeClr val="accent6">
              <a:alpha val="40000"/>
            </a:schemeClr>
          </a:solidFill>
          <a:ln w="12700">
            <a:solidFill>
              <a:schemeClr val="accent6">
                <a:alpha val="0"/>
              </a:schemeClr>
            </a:solidFill>
            <a:prstDash val="solid"/>
          </a:ln>
        </p:spPr>
      </p:sp>
      <p:sp>
        <p:nvSpPr>
          <p:cNvPr id="38" name="rec6"/>
          <p:cNvSpPr/>
          <p:nvPr/>
        </p:nvSpPr>
        <p:spPr>
          <a:xfrm rot="-180000">
            <a:off x="7498080" y="2468880"/>
            <a:ext cx="1600200" cy="1005840"/>
          </a:xfrm>
          <a:prstGeom prst="roundRect">
            <a:avLst>
              <a:gd name="adj" fmla="val 10909"/>
            </a:avLst>
          </a:prstGeom>
          <a:solidFill>
            <a:schemeClr val="bg1"/>
          </a:solidFill>
          <a:ln w="12700">
            <a:solidFill>
              <a:schemeClr val="accent2"/>
            </a:solidFill>
            <a:prstDash val="solid"/>
          </a:ln>
          <a:effectLst>
            <a:outerShdw sx="100000" sy="100000" kx="0" ky="0" algn="bl" rotWithShape="0" blurRad="101600" dist="25400" dir="5400000">
              <a:srgbClr val="1B2B24">
                <a:alpha val="14000"/>
              </a:srgbClr>
            </a:outerShdw>
          </a:effectLst>
        </p:spPr>
      </p:sp>
      <p:sp>
        <p:nvSpPr>
          <p:cNvPr id="39" name="Shape 34"/>
          <p:cNvSpPr/>
          <p:nvPr/>
        </p:nvSpPr>
        <p:spPr>
          <a:xfrm rot="-180000">
            <a:off x="7680960" y="2852928"/>
            <a:ext cx="1188720" cy="64008"/>
          </a:xfrm>
          <a:prstGeom prst="rect">
            <a:avLst/>
          </a:prstGeom>
          <a:solidFill>
            <a:schemeClr val="accent6">
              <a:alpha val="40000"/>
            </a:schemeClr>
          </a:solidFill>
          <a:ln w="12700">
            <a:solidFill>
              <a:schemeClr val="accent6">
                <a:alpha val="0"/>
              </a:schemeClr>
            </a:solidFill>
            <a:prstDash val="solid"/>
          </a:ln>
        </p:spPr>
      </p:sp>
      <p:sp>
        <p:nvSpPr>
          <p:cNvPr id="40" name="Shape 35"/>
          <p:cNvSpPr/>
          <p:nvPr/>
        </p:nvSpPr>
        <p:spPr>
          <a:xfrm rot="-180000">
            <a:off x="7680960" y="3017520"/>
            <a:ext cx="1188720" cy="64008"/>
          </a:xfrm>
          <a:prstGeom prst="rect">
            <a:avLst/>
          </a:prstGeom>
          <a:solidFill>
            <a:schemeClr val="accent6">
              <a:alpha val="40000"/>
            </a:schemeClr>
          </a:solidFill>
          <a:ln w="12700">
            <a:solidFill>
              <a:schemeClr val="accent6">
                <a:alpha val="0"/>
              </a:schemeClr>
            </a:solidFill>
            <a:prstDash val="solid"/>
          </a:ln>
        </p:spPr>
      </p:sp>
      <p:sp>
        <p:nvSpPr>
          <p:cNvPr id="41" name="Shape 36"/>
          <p:cNvSpPr/>
          <p:nvPr/>
        </p:nvSpPr>
        <p:spPr>
          <a:xfrm rot="-180000">
            <a:off x="7680960" y="3182112"/>
            <a:ext cx="731520" cy="64008"/>
          </a:xfrm>
          <a:prstGeom prst="rect">
            <a:avLst/>
          </a:prstGeom>
          <a:solidFill>
            <a:schemeClr val="accent6">
              <a:alpha val="40000"/>
            </a:schemeClr>
          </a:solidFill>
          <a:ln w="12700">
            <a:solidFill>
              <a:schemeClr val="accent6">
                <a:alpha val="0"/>
              </a:schemeClr>
            </a:solidFill>
            <a:prstDash val="solid"/>
          </a:ln>
        </p:spPr>
      </p:sp>
      <p:sp>
        <p:nvSpPr>
          <p:cNvPr id="42" name="Text 37"/>
          <p:cNvSpPr/>
          <p:nvPr/>
        </p:nvSpPr>
        <p:spPr>
          <a:xfrm rot="-540000">
            <a:off x="6537960" y="1856232"/>
            <a:ext cx="1097280" cy="256032"/>
          </a:xfrm>
          <a:prstGeom prst="roundRect">
            <a:avLst>
              <a:gd name="adj" fmla="val 107143"/>
            </a:avLst>
          </a:prstGeom>
          <a:solidFill>
            <a:schemeClr val="accent3"/>
          </a:solidFill>
          <a:ln/>
        </p:spPr>
        <p:txBody>
          <a:bodyPr wrap="square" lIns="0" tIns="1016" rIns="1016" bIns="0" rtlCol="0" anchor="ctr"/>
          <a:lstStyle/>
          <a:p>
            <a:pPr algn="ctr" indent="0" marL="0">
              <a:buNone/>
            </a:pPr>
            <a:r>
              <a:rPr lang="en-US" sz="1100" b="1" dirty="0">
                <a:solidFill>
                  <a:schemeClr val="bg1"/>
                </a:solidFill>
              </a:rPr>
              <a:t>Destination</a:t>
            </a:r>
            <a:endParaRPr lang="en-US" sz="1100" dirty="0"/>
          </a:p>
        </p:txBody>
      </p:sp>
      <p:sp>
        <p:nvSpPr>
          <p:cNvPr id="43" name="Text 38"/>
          <p:cNvSpPr/>
          <p:nvPr/>
        </p:nvSpPr>
        <p:spPr>
          <a:xfrm rot="-300000">
            <a:off x="10195560" y="2221992"/>
            <a:ext cx="1097280" cy="256032"/>
          </a:xfrm>
          <a:prstGeom prst="roundRect">
            <a:avLst>
              <a:gd name="adj" fmla="val 107143"/>
            </a:avLst>
          </a:prstGeom>
          <a:solidFill>
            <a:schemeClr val="accent3"/>
          </a:solidFill>
          <a:ln/>
        </p:spPr>
        <p:txBody>
          <a:bodyPr wrap="square" lIns="0" tIns="1016" rIns="1016" bIns="0" rtlCol="0" anchor="ctr"/>
          <a:lstStyle/>
          <a:p>
            <a:pPr algn="ctr" indent="0" marL="0">
              <a:buNone/>
            </a:pPr>
            <a:r>
              <a:rPr lang="en-US" sz="1100" b="1" dirty="0">
                <a:solidFill>
                  <a:schemeClr val="bg1"/>
                </a:solidFill>
              </a:rPr>
              <a:t>Ratings</a:t>
            </a:r>
            <a:endParaRPr lang="en-US" sz="1100" dirty="0"/>
          </a:p>
        </p:txBody>
      </p:sp>
      <p:sp>
        <p:nvSpPr>
          <p:cNvPr id="44" name="Text 39"/>
          <p:cNvSpPr/>
          <p:nvPr/>
        </p:nvSpPr>
        <p:spPr>
          <a:xfrm rot="360000">
            <a:off x="6812280" y="3227832"/>
            <a:ext cx="1097280" cy="256032"/>
          </a:xfrm>
          <a:prstGeom prst="roundRect">
            <a:avLst>
              <a:gd name="adj" fmla="val 107143"/>
            </a:avLst>
          </a:prstGeom>
          <a:solidFill>
            <a:schemeClr val="accent3"/>
          </a:solidFill>
          <a:ln/>
        </p:spPr>
        <p:txBody>
          <a:bodyPr wrap="square" lIns="0" tIns="1016" rIns="1016" bIns="0" rtlCol="0" anchor="ctr"/>
          <a:lstStyle/>
          <a:p>
            <a:pPr algn="ctr" indent="0" marL="0">
              <a:buNone/>
            </a:pPr>
            <a:r>
              <a:rPr lang="en-US" sz="1100" b="1" dirty="0">
                <a:solidFill>
                  <a:schemeClr val="bg1"/>
                </a:solidFill>
              </a:rPr>
              <a:t>Activities</a:t>
            </a:r>
            <a:endParaRPr lang="en-US" sz="1100" dirty="0"/>
          </a:p>
        </p:txBody>
      </p:sp>
      <p:sp>
        <p:nvSpPr>
          <p:cNvPr id="45" name="Text 40"/>
          <p:cNvSpPr/>
          <p:nvPr/>
        </p:nvSpPr>
        <p:spPr>
          <a:xfrm rot="600000">
            <a:off x="10195560" y="3685032"/>
            <a:ext cx="1097280" cy="256032"/>
          </a:xfrm>
          <a:prstGeom prst="roundRect">
            <a:avLst>
              <a:gd name="adj" fmla="val 107143"/>
            </a:avLst>
          </a:prstGeom>
          <a:solidFill>
            <a:schemeClr val="accent3"/>
          </a:solidFill>
          <a:ln/>
        </p:spPr>
        <p:txBody>
          <a:bodyPr wrap="square" lIns="0" tIns="1016" rIns="1016" bIns="0" rtlCol="0" anchor="ctr"/>
          <a:lstStyle/>
          <a:p>
            <a:pPr algn="ctr" indent="0" marL="0">
              <a:buNone/>
            </a:pPr>
            <a:r>
              <a:rPr lang="en-US" sz="1100" b="1" dirty="0">
                <a:solidFill>
                  <a:schemeClr val="bg1"/>
                </a:solidFill>
              </a:rPr>
              <a:t>Traveler type</a:t>
            </a:r>
            <a:endParaRPr lang="en-US" sz="1100" dirty="0"/>
          </a:p>
        </p:txBody>
      </p:sp>
      <p:sp>
        <p:nvSpPr>
          <p:cNvPr id="46" name="Shape 41"/>
          <p:cNvSpPr/>
          <p:nvPr/>
        </p:nvSpPr>
        <p:spPr>
          <a:xfrm>
            <a:off x="10972800" y="1600200"/>
            <a:ext cx="502920" cy="502920"/>
          </a:xfrm>
          <a:prstGeom prst="ellipse">
            <a:avLst/>
          </a:prstGeom>
          <a:solidFill>
            <a:schemeClr val="accent3"/>
          </a:solidFill>
          <a:ln w="12700">
            <a:solidFill>
              <a:schemeClr val="accent3"/>
            </a:solidFill>
            <a:prstDash val="solid"/>
          </a:ln>
        </p:spPr>
      </p:sp>
      <p:sp>
        <p:nvSpPr>
          <p:cNvPr id="47" name="Text 42"/>
          <p:cNvSpPr txBox="1"/>
          <p:nvPr/>
        </p:nvSpPr>
        <p:spPr>
          <a:xfrm>
            <a:off x="10972800" y="160020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a:t>
            </a:r>
            <a:endParaRPr lang="en-US" sz="2400" dirty="0"/>
          </a:p>
        </p:txBody>
      </p:sp>
      <p:sp>
        <p:nvSpPr>
          <p:cNvPr id="48" name="Text 43"/>
          <p:cNvSpPr txBox="1"/>
          <p:nvPr/>
        </p:nvSpPr>
        <p:spPr>
          <a:xfrm>
            <a:off x="6126480" y="4773168"/>
            <a:ext cx="5513832" cy="274320"/>
          </a:xfrm>
          <a:prstGeom prst="rect">
            <a:avLst/>
          </a:prstGeom>
          <a:noFill/>
          <a:ln/>
        </p:spPr>
        <p:txBody>
          <a:bodyPr wrap="square" lIns="0" tIns="0" rIns="0" bIns="0" rtlCol="0" anchor="t"/>
          <a:lstStyle/>
          <a:p>
            <a:pPr algn="ctr" indent="0" marL="0">
              <a:buNone/>
            </a:pPr>
            <a:r>
              <a:rPr lang="en-US" sz="1200" i="1" dirty="0">
                <a:solidFill>
                  <a:schemeClr val="accent6"/>
                </a:solidFill>
              </a:rPr>
              <a:t>Scattered, inconsistent records</a:t>
            </a:r>
            <a:endParaRPr lang="en-US" sz="1200" dirty="0"/>
          </a:p>
        </p:txBody>
      </p:sp>
      <p:sp>
        <p:nvSpPr>
          <p:cNvPr id="49" name="Shape 44"/>
          <p:cNvSpPr/>
          <p:nvPr/>
        </p:nvSpPr>
        <p:spPr>
          <a:xfrm>
            <a:off x="548640" y="5212080"/>
            <a:ext cx="11091672" cy="1005840"/>
          </a:xfrm>
          <a:prstGeom prst="roundRect">
            <a:avLst>
              <a:gd name="adj" fmla="val 10909"/>
            </a:avLst>
          </a:prstGeom>
          <a:solidFill>
            <a:schemeClr val="tx2"/>
          </a:solidFill>
          <a:ln w="12700">
            <a:solidFill>
              <a:schemeClr val="tx2"/>
            </a:solidFill>
            <a:prstDash val="solid"/>
          </a:ln>
        </p:spPr>
      </p:sp>
      <p:sp>
        <p:nvSpPr>
          <p:cNvPr id="50" name="Text 45"/>
          <p:cNvSpPr txBox="1"/>
          <p:nvPr/>
        </p:nvSpPr>
        <p:spPr>
          <a:xfrm>
            <a:off x="868680" y="5321808"/>
            <a:ext cx="4572000" cy="228600"/>
          </a:xfrm>
          <a:prstGeom prst="rect">
            <a:avLst/>
          </a:prstGeom>
          <a:noFill/>
          <a:ln/>
        </p:spPr>
        <p:txBody>
          <a:bodyPr wrap="square" lIns="0" tIns="0" rIns="0" bIns="0" rtlCol="0" anchor="t"/>
          <a:lstStyle/>
          <a:p>
            <a:pPr indent="0" marL="0">
              <a:buNone/>
            </a:pPr>
            <a:r>
              <a:rPr lang="en-US" sz="1200" b="1" spc="300" kern="0" dirty="0">
                <a:solidFill>
                  <a:schemeClr val="accent2"/>
                </a:solidFill>
              </a:rPr>
              <a:t>THE CORE QUESTION</a:t>
            </a:r>
            <a:endParaRPr lang="en-US" sz="1200" dirty="0"/>
          </a:p>
        </p:txBody>
      </p:sp>
      <p:sp>
        <p:nvSpPr>
          <p:cNvPr id="51" name="Text 46"/>
          <p:cNvSpPr txBox="1"/>
          <p:nvPr/>
        </p:nvSpPr>
        <p:spPr>
          <a:xfrm>
            <a:off x="868680" y="5577840"/>
            <a:ext cx="10424160" cy="502920"/>
          </a:xfrm>
          <a:prstGeom prst="rect">
            <a:avLst/>
          </a:prstGeom>
          <a:noFill/>
          <a:ln/>
        </p:spPr>
        <p:txBody>
          <a:bodyPr wrap="square" lIns="0" tIns="0" rIns="0" bIns="0" rtlCol="0" anchor="t"/>
          <a:lstStyle/>
          <a:p>
            <a:pPr indent="0" marL="0">
              <a:buNone/>
            </a:pPr>
            <a:r>
              <a:rPr lang="en-US" sz="2800" i="1" dirty="0">
                <a:solidFill>
                  <a:schemeClr val="bg2"/>
                </a:solidFill>
                <a:latin typeface="+mj-lt" pitchFamily="34" charset="0"/>
                <a:ea typeface="+mj-lt" pitchFamily="34" charset="-122"/>
                <a:cs typeface="+mj-lt" pitchFamily="34" charset="-120"/>
              </a:rPr>
              <a:t>“Which past experiences best match this traveler?”</a:t>
            </a:r>
            <a:endParaRPr lang="en-US" sz="2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BUSINESS OBJECTIVE</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Turn history into useful evidence</a:t>
            </a:r>
            <a:endParaRPr lang="en-US" sz="3400" dirty="0"/>
          </a:p>
        </p:txBody>
      </p:sp>
      <p:sp>
        <p:nvSpPr>
          <p:cNvPr id="4" name="Shape 2"/>
          <p:cNvSpPr/>
          <p:nvPr/>
        </p:nvSpPr>
        <p:spPr>
          <a:xfrm>
            <a:off x="4480560" y="2286000"/>
            <a:ext cx="722114" cy="633433"/>
          </a:xfrm>
          <a:prstGeom prst="line">
            <a:avLst/>
          </a:prstGeom>
          <a:noFill/>
          <a:ln w="31750">
            <a:solidFill>
              <a:schemeClr val="accent4"/>
            </a:solidFill>
            <a:prstDash val="dash"/>
          </a:ln>
        </p:spPr>
      </p:sp>
      <p:sp>
        <p:nvSpPr>
          <p:cNvPr id="5" name="Shape 3"/>
          <p:cNvSpPr/>
          <p:nvPr/>
        </p:nvSpPr>
        <p:spPr>
          <a:xfrm flipV="1">
            <a:off x="4480560" y="4351733"/>
            <a:ext cx="619444" cy="403147"/>
          </a:xfrm>
          <a:prstGeom prst="line">
            <a:avLst/>
          </a:prstGeom>
          <a:noFill/>
          <a:ln w="31750">
            <a:solidFill>
              <a:schemeClr val="accent4"/>
            </a:solidFill>
            <a:prstDash val="dash"/>
          </a:ln>
        </p:spPr>
      </p:sp>
      <p:sp>
        <p:nvSpPr>
          <p:cNvPr id="6" name="Shape 4"/>
          <p:cNvSpPr/>
          <p:nvPr/>
        </p:nvSpPr>
        <p:spPr>
          <a:xfrm flipH="1">
            <a:off x="6989055" y="2286000"/>
            <a:ext cx="719337" cy="632429"/>
          </a:xfrm>
          <a:prstGeom prst="line">
            <a:avLst/>
          </a:prstGeom>
          <a:noFill/>
          <a:ln w="31750">
            <a:solidFill>
              <a:schemeClr val="accent4"/>
            </a:solidFill>
            <a:prstDash val="dash"/>
          </a:ln>
        </p:spPr>
      </p:sp>
      <p:sp>
        <p:nvSpPr>
          <p:cNvPr id="7" name="Shape 5"/>
          <p:cNvSpPr/>
          <p:nvPr/>
        </p:nvSpPr>
        <p:spPr>
          <a:xfrm flipH="1" flipV="1">
            <a:off x="7091933" y="4352766"/>
            <a:ext cx="616459" cy="402114"/>
          </a:xfrm>
          <a:prstGeom prst="line">
            <a:avLst/>
          </a:prstGeom>
          <a:noFill/>
          <a:ln w="31750">
            <a:solidFill>
              <a:schemeClr val="accent4"/>
            </a:solidFill>
            <a:prstDash val="dash"/>
          </a:ln>
        </p:spPr>
      </p:sp>
      <p:sp>
        <p:nvSpPr>
          <p:cNvPr id="8" name="Shape 6"/>
          <p:cNvSpPr/>
          <p:nvPr/>
        </p:nvSpPr>
        <p:spPr>
          <a:xfrm>
            <a:off x="548640" y="1691640"/>
            <a:ext cx="3931920" cy="1188720"/>
          </a:xfrm>
          <a:prstGeom prst="roundRect">
            <a:avLst>
              <a:gd name="adj" fmla="val 9231"/>
            </a:avLst>
          </a:prstGeom>
          <a:solidFill>
            <a:schemeClr val="bg1"/>
          </a:solidFill>
          <a:ln w="15875">
            <a:solidFill>
              <a:schemeClr val="accent2"/>
            </a:solidFill>
            <a:prstDash val="solid"/>
          </a:ln>
          <a:effectLst>
            <a:outerShdw sx="100000" sy="100000" kx="0" ky="0" algn="bl" rotWithShape="0" blurRad="101600" dist="25400" dir="5400000">
              <a:srgbClr val="1B2B24">
                <a:alpha val="14000"/>
              </a:srgbClr>
            </a:outerShdw>
          </a:effectLst>
        </p:spPr>
      </p:sp>
      <p:sp>
        <p:nvSpPr>
          <p:cNvPr id="9" name="Shape 7"/>
          <p:cNvSpPr/>
          <p:nvPr/>
        </p:nvSpPr>
        <p:spPr>
          <a:xfrm>
            <a:off x="777240" y="1965960"/>
            <a:ext cx="640080" cy="640080"/>
          </a:xfrm>
          <a:prstGeom prst="ellipse">
            <a:avLst/>
          </a:prstGeom>
          <a:solidFill>
            <a:schemeClr val="accent1"/>
          </a:solidFill>
          <a:ln w="12700">
            <a:solidFill>
              <a:schemeClr val="accent1"/>
            </a:solidFill>
            <a:prstDash val="solid"/>
          </a:ln>
        </p:spPr>
      </p:sp>
      <p:pic>
        <p:nvPicPr>
          <p:cNvPr id="10" name="Image 0" descr="icon">    </p:cNvPr>
          <p:cNvPicPr>
            <a:picLocks noChangeAspect="1"/>
          </p:cNvPicPr>
          <p:nvPr/>
        </p:nvPicPr>
        <p:blipFill>
          <a:blip r:embed="rId1"/>
          <a:stretch>
            <a:fillRect/>
          </a:stretch>
        </p:blipFill>
        <p:spPr>
          <a:xfrm>
            <a:off x="937260" y="2125980"/>
            <a:ext cx="320040" cy="320040"/>
          </a:xfrm>
          <a:prstGeom prst="rect">
            <a:avLst/>
          </a:prstGeom>
        </p:spPr>
      </p:pic>
      <p:sp>
        <p:nvSpPr>
          <p:cNvPr id="11" name="Text 8"/>
          <p:cNvSpPr txBox="1"/>
          <p:nvPr/>
        </p:nvSpPr>
        <p:spPr>
          <a:xfrm>
            <a:off x="1600200" y="1783080"/>
            <a:ext cx="2697480" cy="1005840"/>
          </a:xfrm>
          <a:prstGeom prst="rect">
            <a:avLst/>
          </a:prstGeom>
          <a:noFill/>
          <a:ln/>
        </p:spPr>
        <p:txBody>
          <a:bodyPr wrap="square" lIns="0" tIns="0" rIns="0" bIns="0" rtlCol="0" anchor="ctr"/>
          <a:lstStyle/>
          <a:p>
            <a:pPr indent="0" marL="0">
              <a:buNone/>
            </a:pPr>
            <a:r>
              <a:rPr lang="en-US" sz="1800" b="1" dirty="0">
                <a:solidFill>
                  <a:schemeClr val="tx2"/>
                </a:solidFill>
              </a:rPr>
              <a:t>Reduce manual searching</a:t>
            </a:r>
            <a:endParaRPr lang="en-US" sz="1800" dirty="0"/>
          </a:p>
        </p:txBody>
      </p:sp>
      <p:sp>
        <p:nvSpPr>
          <p:cNvPr id="12" name="Shape 9"/>
          <p:cNvSpPr/>
          <p:nvPr/>
        </p:nvSpPr>
        <p:spPr>
          <a:xfrm>
            <a:off x="548640" y="4160520"/>
            <a:ext cx="3931920" cy="1188720"/>
          </a:xfrm>
          <a:prstGeom prst="roundRect">
            <a:avLst>
              <a:gd name="adj" fmla="val 9231"/>
            </a:avLst>
          </a:prstGeom>
          <a:solidFill>
            <a:schemeClr val="bg1"/>
          </a:solidFill>
          <a:ln w="15875">
            <a:solidFill>
              <a:schemeClr val="accent2"/>
            </a:solidFill>
            <a:prstDash val="solid"/>
          </a:ln>
          <a:effectLst>
            <a:outerShdw sx="100000" sy="100000" kx="0" ky="0" algn="bl" rotWithShape="0" blurRad="101600" dist="25400" dir="5400000">
              <a:srgbClr val="1B2B24">
                <a:alpha val="14000"/>
              </a:srgbClr>
            </a:outerShdw>
          </a:effectLst>
        </p:spPr>
      </p:sp>
      <p:sp>
        <p:nvSpPr>
          <p:cNvPr id="13" name="Shape 10"/>
          <p:cNvSpPr/>
          <p:nvPr/>
        </p:nvSpPr>
        <p:spPr>
          <a:xfrm>
            <a:off x="777240" y="4434840"/>
            <a:ext cx="640080" cy="640080"/>
          </a:xfrm>
          <a:prstGeom prst="ellipse">
            <a:avLst/>
          </a:prstGeom>
          <a:solidFill>
            <a:schemeClr val="accent1"/>
          </a:solidFill>
          <a:ln w="12700">
            <a:solidFill>
              <a:schemeClr val="accent1"/>
            </a:solidFill>
            <a:prstDash val="solid"/>
          </a:ln>
        </p:spPr>
      </p:sp>
      <p:pic>
        <p:nvPicPr>
          <p:cNvPr id="14" name="Image 1" descr="icon">    </p:cNvPr>
          <p:cNvPicPr>
            <a:picLocks noChangeAspect="1"/>
          </p:cNvPicPr>
          <p:nvPr/>
        </p:nvPicPr>
        <p:blipFill>
          <a:blip r:embed="rId2"/>
          <a:stretch>
            <a:fillRect/>
          </a:stretch>
        </p:blipFill>
        <p:spPr>
          <a:xfrm>
            <a:off x="937260" y="4594860"/>
            <a:ext cx="320040" cy="320040"/>
          </a:xfrm>
          <a:prstGeom prst="rect">
            <a:avLst/>
          </a:prstGeom>
        </p:spPr>
      </p:pic>
      <p:sp>
        <p:nvSpPr>
          <p:cNvPr id="15" name="Text 11"/>
          <p:cNvSpPr txBox="1"/>
          <p:nvPr/>
        </p:nvSpPr>
        <p:spPr>
          <a:xfrm>
            <a:off x="1600200" y="4251960"/>
            <a:ext cx="2697480" cy="1005840"/>
          </a:xfrm>
          <a:prstGeom prst="rect">
            <a:avLst/>
          </a:prstGeom>
          <a:noFill/>
          <a:ln/>
        </p:spPr>
        <p:txBody>
          <a:bodyPr wrap="square" lIns="0" tIns="0" rIns="0" bIns="0" rtlCol="0" anchor="ctr"/>
          <a:lstStyle/>
          <a:p>
            <a:pPr indent="0" marL="0">
              <a:buNone/>
            </a:pPr>
            <a:r>
              <a:rPr lang="en-US" sz="1800" b="1" dirty="0">
                <a:solidFill>
                  <a:schemeClr val="tx2"/>
                </a:solidFill>
              </a:rPr>
              <a:t>Surface comparable travel experiences</a:t>
            </a:r>
            <a:endParaRPr lang="en-US" sz="1800" dirty="0"/>
          </a:p>
        </p:txBody>
      </p:sp>
      <p:sp>
        <p:nvSpPr>
          <p:cNvPr id="16" name="Shape 12"/>
          <p:cNvSpPr/>
          <p:nvPr/>
        </p:nvSpPr>
        <p:spPr>
          <a:xfrm>
            <a:off x="7708392" y="1691640"/>
            <a:ext cx="3931920" cy="1188720"/>
          </a:xfrm>
          <a:prstGeom prst="roundRect">
            <a:avLst>
              <a:gd name="adj" fmla="val 9231"/>
            </a:avLst>
          </a:prstGeom>
          <a:solidFill>
            <a:schemeClr val="bg1"/>
          </a:solidFill>
          <a:ln w="15875">
            <a:solidFill>
              <a:schemeClr val="accent2"/>
            </a:solidFill>
            <a:prstDash val="solid"/>
          </a:ln>
          <a:effectLst>
            <a:outerShdw sx="100000" sy="100000" kx="0" ky="0" algn="bl" rotWithShape="0" blurRad="101600" dist="25400" dir="5400000">
              <a:srgbClr val="1B2B24">
                <a:alpha val="14000"/>
              </a:srgbClr>
            </a:outerShdw>
          </a:effectLst>
        </p:spPr>
      </p:sp>
      <p:sp>
        <p:nvSpPr>
          <p:cNvPr id="17" name="Shape 13"/>
          <p:cNvSpPr/>
          <p:nvPr/>
        </p:nvSpPr>
        <p:spPr>
          <a:xfrm>
            <a:off x="7936992" y="1965960"/>
            <a:ext cx="640080" cy="640080"/>
          </a:xfrm>
          <a:prstGeom prst="ellipse">
            <a:avLst/>
          </a:prstGeom>
          <a:solidFill>
            <a:schemeClr val="accent1"/>
          </a:solidFill>
          <a:ln w="12700">
            <a:solidFill>
              <a:schemeClr val="accent1"/>
            </a:solidFill>
            <a:prstDash val="solid"/>
          </a:ln>
        </p:spPr>
      </p:sp>
      <p:pic>
        <p:nvPicPr>
          <p:cNvPr id="18" name="Image 2" descr="icon">    </p:cNvPr>
          <p:cNvPicPr>
            <a:picLocks noChangeAspect="1"/>
          </p:cNvPicPr>
          <p:nvPr/>
        </p:nvPicPr>
        <p:blipFill>
          <a:blip r:embed="rId3"/>
          <a:stretch>
            <a:fillRect/>
          </a:stretch>
        </p:blipFill>
        <p:spPr>
          <a:xfrm>
            <a:off x="8097012" y="2125980"/>
            <a:ext cx="320040" cy="320040"/>
          </a:xfrm>
          <a:prstGeom prst="rect">
            <a:avLst/>
          </a:prstGeom>
        </p:spPr>
      </p:pic>
      <p:sp>
        <p:nvSpPr>
          <p:cNvPr id="19" name="Text 14"/>
          <p:cNvSpPr txBox="1"/>
          <p:nvPr/>
        </p:nvSpPr>
        <p:spPr>
          <a:xfrm>
            <a:off x="8759952" y="1783080"/>
            <a:ext cx="2697480" cy="1005840"/>
          </a:xfrm>
          <a:prstGeom prst="rect">
            <a:avLst/>
          </a:prstGeom>
          <a:noFill/>
          <a:ln/>
        </p:spPr>
        <p:txBody>
          <a:bodyPr wrap="square" lIns="0" tIns="0" rIns="0" bIns="0" rtlCol="0" anchor="ctr"/>
          <a:lstStyle/>
          <a:p>
            <a:pPr indent="0" marL="0">
              <a:buNone/>
            </a:pPr>
            <a:r>
              <a:rPr lang="en-US" sz="1800" b="1" dirty="0">
                <a:solidFill>
                  <a:schemeClr val="tx2"/>
                </a:solidFill>
              </a:rPr>
              <a:t>Help compare destinations and activity categories</a:t>
            </a:r>
            <a:endParaRPr lang="en-US" sz="1800" dirty="0"/>
          </a:p>
        </p:txBody>
      </p:sp>
      <p:sp>
        <p:nvSpPr>
          <p:cNvPr id="20" name="Shape 15"/>
          <p:cNvSpPr/>
          <p:nvPr/>
        </p:nvSpPr>
        <p:spPr>
          <a:xfrm>
            <a:off x="7708392" y="4160520"/>
            <a:ext cx="3931920" cy="1188720"/>
          </a:xfrm>
          <a:prstGeom prst="roundRect">
            <a:avLst>
              <a:gd name="adj" fmla="val 9231"/>
            </a:avLst>
          </a:prstGeom>
          <a:solidFill>
            <a:schemeClr val="bg1"/>
          </a:solidFill>
          <a:ln w="15875">
            <a:solidFill>
              <a:schemeClr val="accent2"/>
            </a:solidFill>
            <a:prstDash val="solid"/>
          </a:ln>
          <a:effectLst>
            <a:outerShdw sx="100000" sy="100000" kx="0" ky="0" algn="bl" rotWithShape="0" blurRad="101600" dist="25400" dir="5400000">
              <a:srgbClr val="1B2B24">
                <a:alpha val="14000"/>
              </a:srgbClr>
            </a:outerShdw>
          </a:effectLst>
        </p:spPr>
      </p:sp>
      <p:sp>
        <p:nvSpPr>
          <p:cNvPr id="21" name="Shape 16"/>
          <p:cNvSpPr/>
          <p:nvPr/>
        </p:nvSpPr>
        <p:spPr>
          <a:xfrm>
            <a:off x="7936992" y="4434840"/>
            <a:ext cx="640080" cy="640080"/>
          </a:xfrm>
          <a:prstGeom prst="ellipse">
            <a:avLst/>
          </a:prstGeom>
          <a:solidFill>
            <a:schemeClr val="accent1"/>
          </a:solidFill>
          <a:ln w="12700">
            <a:solidFill>
              <a:schemeClr val="accent1"/>
            </a:solidFill>
            <a:prstDash val="solid"/>
          </a:ln>
        </p:spPr>
      </p:sp>
      <p:pic>
        <p:nvPicPr>
          <p:cNvPr id="22" name="Image 3" descr="icon">    </p:cNvPr>
          <p:cNvPicPr>
            <a:picLocks noChangeAspect="1"/>
          </p:cNvPicPr>
          <p:nvPr/>
        </p:nvPicPr>
        <p:blipFill>
          <a:blip r:embed="rId4"/>
          <a:stretch>
            <a:fillRect/>
          </a:stretch>
        </p:blipFill>
        <p:spPr>
          <a:xfrm>
            <a:off x="8097012" y="4594860"/>
            <a:ext cx="320040" cy="320040"/>
          </a:xfrm>
          <a:prstGeom prst="rect">
            <a:avLst/>
          </a:prstGeom>
        </p:spPr>
      </p:pic>
      <p:sp>
        <p:nvSpPr>
          <p:cNvPr id="23" name="Text 17"/>
          <p:cNvSpPr txBox="1"/>
          <p:nvPr/>
        </p:nvSpPr>
        <p:spPr>
          <a:xfrm>
            <a:off x="8759952" y="4251960"/>
            <a:ext cx="2697480" cy="1005840"/>
          </a:xfrm>
          <a:prstGeom prst="rect">
            <a:avLst/>
          </a:prstGeom>
          <a:noFill/>
          <a:ln/>
        </p:spPr>
        <p:txBody>
          <a:bodyPr wrap="square" lIns="0" tIns="0" rIns="0" bIns="0" rtlCol="0" anchor="ctr"/>
          <a:lstStyle/>
          <a:p>
            <a:pPr indent="0" marL="0">
              <a:buNone/>
            </a:pPr>
            <a:r>
              <a:rPr lang="en-US" sz="1800" b="1" dirty="0">
                <a:solidFill>
                  <a:schemeClr val="tx2"/>
                </a:solidFill>
              </a:rPr>
              <a:t>Give professionals evidence they can inspect</a:t>
            </a:r>
            <a:endParaRPr lang="en-US" sz="1800" dirty="0"/>
          </a:p>
        </p:txBody>
      </p:sp>
      <p:sp>
        <p:nvSpPr>
          <p:cNvPr id="24" name="Shape 18"/>
          <p:cNvSpPr/>
          <p:nvPr/>
        </p:nvSpPr>
        <p:spPr>
          <a:xfrm>
            <a:off x="4907585" y="2514600"/>
            <a:ext cx="2377440" cy="2377440"/>
          </a:xfrm>
          <a:prstGeom prst="ellipse">
            <a:avLst/>
          </a:prstGeom>
          <a:solidFill>
            <a:schemeClr val="tx2"/>
          </a:solidFill>
          <a:ln w="50800">
            <a:solidFill>
              <a:schemeClr val="accent2"/>
            </a:solidFill>
            <a:prstDash val="solid"/>
          </a:ln>
          <a:effectLst>
            <a:outerShdw sx="100000" sy="100000" kx="0" ky="0" algn="bl" rotWithShape="0" blurRad="101600" dist="25400" dir="5400000">
              <a:srgbClr val="1B2B24">
                <a:alpha val="14000"/>
              </a:srgbClr>
            </a:outerShdw>
          </a:effectLst>
        </p:spPr>
      </p:sp>
      <p:sp>
        <p:nvSpPr>
          <p:cNvPr id="25" name="Text 19"/>
          <p:cNvSpPr txBox="1"/>
          <p:nvPr/>
        </p:nvSpPr>
        <p:spPr>
          <a:xfrm>
            <a:off x="5136185" y="2971800"/>
            <a:ext cx="1920240" cy="1463040"/>
          </a:xfrm>
          <a:prstGeom prst="rect">
            <a:avLst/>
          </a:prstGeom>
          <a:noFill/>
          <a:ln/>
        </p:spPr>
        <p:txBody>
          <a:bodyPr wrap="square" lIns="0" tIns="0" rIns="0" bIns="0" rtlCol="0" anchor="ctr"/>
          <a:lstStyle/>
          <a:p>
            <a:pPr algn="ctr" indent="0" marL="0">
              <a:buNone/>
            </a:pPr>
            <a:r>
              <a:rPr lang="en-US" sz="1700" b="1" dirty="0">
                <a:solidFill>
                  <a:schemeClr val="bg2"/>
                </a:solidFill>
                <a:latin typeface="+mj-lt" pitchFamily="34" charset="0"/>
                <a:ea typeface="+mj-lt" pitchFamily="34" charset="-122"/>
                <a:cs typeface="+mj-lt" pitchFamily="34" charset="-120"/>
              </a:rPr>
              <a:t>Better-informed recommendation</a:t>
            </a:r>
            <a:endParaRPr lang="en-US" sz="1700" dirty="0"/>
          </a:p>
        </p:txBody>
      </p:sp>
      <p:sp>
        <p:nvSpPr>
          <p:cNvPr id="26" name="Text 20"/>
          <p:cNvSpPr/>
          <p:nvPr/>
        </p:nvSpPr>
        <p:spPr>
          <a:xfrm>
            <a:off x="3355848" y="5852160"/>
            <a:ext cx="5486400" cy="365760"/>
          </a:xfrm>
          <a:prstGeom prst="roundRect">
            <a:avLst>
              <a:gd name="adj" fmla="val 75000"/>
            </a:avLst>
          </a:prstGeom>
          <a:solidFill>
            <a:schemeClr val="accent5"/>
          </a:solidFill>
          <a:ln/>
        </p:spPr>
        <p:txBody>
          <a:bodyPr wrap="square" lIns="0" tIns="1016" rIns="1016" bIns="0" rtlCol="0" anchor="ctr"/>
          <a:lstStyle/>
          <a:p>
            <a:pPr algn="ctr" indent="0" marL="0">
              <a:buNone/>
            </a:pPr>
            <a:r>
              <a:rPr lang="en-US" sz="1400" i="1" dirty="0">
                <a:solidFill>
                  <a:schemeClr val="tx2"/>
                </a:solidFill>
              </a:rPr>
              <a:t>Decision support, not an automatic travel-booking system</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THE DATA</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Ratings plus enriched travel context</a:t>
            </a:r>
            <a:endParaRPr lang="en-US" sz="3400" dirty="0"/>
          </a:p>
        </p:txBody>
      </p:sp>
      <p:sp>
        <p:nvSpPr>
          <p:cNvPr id="4" name="Text 2"/>
          <p:cNvSpPr txBox="1"/>
          <p:nvPr/>
        </p:nvSpPr>
        <p:spPr>
          <a:xfrm>
            <a:off x="548640" y="1417320"/>
            <a:ext cx="2377440" cy="777240"/>
          </a:xfrm>
          <a:prstGeom prst="rect">
            <a:avLst/>
          </a:prstGeom>
          <a:noFill/>
          <a:ln/>
        </p:spPr>
        <p:txBody>
          <a:bodyPr wrap="square" lIns="0" tIns="0" rIns="0" bIns="0" rtlCol="0" anchor="t"/>
          <a:lstStyle/>
          <a:p>
            <a:pPr indent="0" marL="0">
              <a:buNone/>
            </a:pPr>
            <a:r>
              <a:rPr lang="en-US" sz="5200" b="1" dirty="0">
                <a:solidFill>
                  <a:schemeClr val="accent3"/>
                </a:solidFill>
                <a:latin typeface="+mj-lt" pitchFamily="34" charset="0"/>
                <a:ea typeface="+mj-lt" pitchFamily="34" charset="-122"/>
                <a:cs typeface="+mj-lt" pitchFamily="34" charset="-120"/>
              </a:rPr>
              <a:t>5,456</a:t>
            </a:r>
            <a:endParaRPr lang="en-US" sz="5200" dirty="0"/>
          </a:p>
        </p:txBody>
      </p:sp>
      <p:sp>
        <p:nvSpPr>
          <p:cNvPr id="5" name="Text 3"/>
          <p:cNvSpPr txBox="1"/>
          <p:nvPr/>
        </p:nvSpPr>
        <p:spPr>
          <a:xfrm>
            <a:off x="548640" y="2176272"/>
            <a:ext cx="2377440" cy="365760"/>
          </a:xfrm>
          <a:prstGeom prst="rect">
            <a:avLst/>
          </a:prstGeom>
          <a:noFill/>
          <a:ln/>
        </p:spPr>
        <p:txBody>
          <a:bodyPr wrap="square" lIns="0" tIns="0" rIns="0" bIns="0" rtlCol="0" anchor="t"/>
          <a:lstStyle/>
          <a:p>
            <a:pPr indent="0" marL="0">
              <a:buNone/>
            </a:pPr>
            <a:r>
              <a:rPr lang="en-US" sz="1500" dirty="0">
                <a:solidFill>
                  <a:schemeClr val="accent6"/>
                </a:solidFill>
              </a:rPr>
              <a:t>enriched records</a:t>
            </a:r>
            <a:endParaRPr lang="en-US" sz="1500" dirty="0"/>
          </a:p>
        </p:txBody>
      </p:sp>
      <p:sp>
        <p:nvSpPr>
          <p:cNvPr id="6" name="Text 4"/>
          <p:cNvSpPr txBox="1"/>
          <p:nvPr/>
        </p:nvSpPr>
        <p:spPr>
          <a:xfrm>
            <a:off x="3063240" y="1417320"/>
            <a:ext cx="2377440" cy="777240"/>
          </a:xfrm>
          <a:prstGeom prst="rect">
            <a:avLst/>
          </a:prstGeom>
          <a:noFill/>
          <a:ln/>
        </p:spPr>
        <p:txBody>
          <a:bodyPr wrap="square" lIns="0" tIns="0" rIns="0" bIns="0" rtlCol="0" anchor="t"/>
          <a:lstStyle/>
          <a:p>
            <a:pPr indent="0" marL="0">
              <a:buNone/>
            </a:pPr>
            <a:r>
              <a:rPr lang="en-US" sz="5200" b="1" dirty="0">
                <a:solidFill>
                  <a:schemeClr val="tx2"/>
                </a:solidFill>
                <a:latin typeface="+mj-lt" pitchFamily="34" charset="0"/>
                <a:ea typeface="+mj-lt" pitchFamily="34" charset="-122"/>
                <a:cs typeface="+mj-lt" pitchFamily="34" charset="-120"/>
              </a:rPr>
              <a:t>24</a:t>
            </a:r>
            <a:endParaRPr lang="en-US" sz="5200" dirty="0"/>
          </a:p>
        </p:txBody>
      </p:sp>
      <p:sp>
        <p:nvSpPr>
          <p:cNvPr id="7" name="Text 5"/>
          <p:cNvSpPr txBox="1"/>
          <p:nvPr/>
        </p:nvSpPr>
        <p:spPr>
          <a:xfrm>
            <a:off x="3063240" y="2176272"/>
            <a:ext cx="2377440" cy="365760"/>
          </a:xfrm>
          <a:prstGeom prst="rect">
            <a:avLst/>
          </a:prstGeom>
          <a:noFill/>
          <a:ln/>
        </p:spPr>
        <p:txBody>
          <a:bodyPr wrap="square" lIns="0" tIns="0" rIns="0" bIns="0" rtlCol="0" anchor="t"/>
          <a:lstStyle/>
          <a:p>
            <a:pPr indent="0" marL="0">
              <a:buNone/>
            </a:pPr>
            <a:r>
              <a:rPr lang="en-US" sz="1500" dirty="0">
                <a:solidFill>
                  <a:schemeClr val="accent6"/>
                </a:solidFill>
              </a:rPr>
              <a:t>activity rating categories</a:t>
            </a:r>
            <a:endParaRPr lang="en-US" sz="1500" dirty="0"/>
          </a:p>
        </p:txBody>
      </p:sp>
      <p:sp>
        <p:nvSpPr>
          <p:cNvPr id="8" name="Text 6"/>
          <p:cNvSpPr txBox="1"/>
          <p:nvPr/>
        </p:nvSpPr>
        <p:spPr>
          <a:xfrm>
            <a:off x="5577840" y="1417320"/>
            <a:ext cx="2377440" cy="777240"/>
          </a:xfrm>
          <a:prstGeom prst="rect">
            <a:avLst/>
          </a:prstGeom>
          <a:noFill/>
          <a:ln/>
        </p:spPr>
        <p:txBody>
          <a:bodyPr wrap="square" lIns="0" tIns="0" rIns="0" bIns="0" rtlCol="0" anchor="t"/>
          <a:lstStyle/>
          <a:p>
            <a:pPr indent="0" marL="0">
              <a:buNone/>
            </a:pPr>
            <a:r>
              <a:rPr lang="en-US" sz="5200" b="1" dirty="0">
                <a:solidFill>
                  <a:schemeClr val="tx2"/>
                </a:solidFill>
                <a:latin typeface="+mj-lt" pitchFamily="34" charset="0"/>
                <a:ea typeface="+mj-lt" pitchFamily="34" charset="-122"/>
                <a:cs typeface="+mj-lt" pitchFamily="34" charset="-120"/>
              </a:rPr>
              <a:t>3</a:t>
            </a:r>
            <a:endParaRPr lang="en-US" sz="5200" dirty="0"/>
          </a:p>
        </p:txBody>
      </p:sp>
      <p:sp>
        <p:nvSpPr>
          <p:cNvPr id="9" name="Text 7"/>
          <p:cNvSpPr txBox="1"/>
          <p:nvPr/>
        </p:nvSpPr>
        <p:spPr>
          <a:xfrm>
            <a:off x="5577840" y="2176272"/>
            <a:ext cx="2377440" cy="365760"/>
          </a:xfrm>
          <a:prstGeom prst="rect">
            <a:avLst/>
          </a:prstGeom>
          <a:noFill/>
          <a:ln/>
        </p:spPr>
        <p:txBody>
          <a:bodyPr wrap="square" lIns="0" tIns="0" rIns="0" bIns="0" rtlCol="0" anchor="t"/>
          <a:lstStyle/>
          <a:p>
            <a:pPr indent="0" marL="0">
              <a:buNone/>
            </a:pPr>
            <a:r>
              <a:rPr lang="en-US" sz="1500" dirty="0">
                <a:solidFill>
                  <a:schemeClr val="accent6"/>
                </a:solidFill>
              </a:rPr>
              <a:t>CSV files</a:t>
            </a:r>
            <a:endParaRPr lang="en-US" sz="1500" dirty="0"/>
          </a:p>
        </p:txBody>
      </p:sp>
      <p:sp>
        <p:nvSpPr>
          <p:cNvPr id="10" name="Text 8"/>
          <p:cNvSpPr txBox="1"/>
          <p:nvPr/>
        </p:nvSpPr>
        <p:spPr>
          <a:xfrm>
            <a:off x="8183880" y="1554480"/>
            <a:ext cx="3456432" cy="1005840"/>
          </a:xfrm>
          <a:prstGeom prst="rect">
            <a:avLst/>
          </a:prstGeom>
          <a:noFill/>
          <a:ln/>
        </p:spPr>
        <p:txBody>
          <a:bodyPr wrap="square" lIns="0" tIns="0" rIns="0" bIns="0" rtlCol="0" anchor="t"/>
          <a:lstStyle/>
          <a:p>
            <a:pPr indent="0" marL="0">
              <a:buNone/>
            </a:pPr>
            <a:r>
              <a:rPr lang="en-US" sz="1700" dirty="0">
                <a:solidFill>
                  <a:schemeClr val="tx1"/>
                </a:solidFill>
              </a:rPr>
              <a:t>Enriched fields include destination, review text, traveler type, and date.</a:t>
            </a:r>
            <a:endParaRPr lang="en-US" sz="1700" dirty="0"/>
          </a:p>
        </p:txBody>
      </p:sp>
      <p:sp>
        <p:nvSpPr>
          <p:cNvPr id="11" name="Shape 9"/>
          <p:cNvSpPr/>
          <p:nvPr/>
        </p:nvSpPr>
        <p:spPr>
          <a:xfrm>
            <a:off x="548640" y="2743200"/>
            <a:ext cx="3429000" cy="2926080"/>
          </a:xfrm>
          <a:prstGeom prst="roundRect">
            <a:avLst>
              <a:gd name="adj" fmla="val 3750"/>
            </a:avLst>
          </a:prstGeom>
          <a:solidFill>
            <a:schemeClr val="bg1"/>
          </a:solidFill>
          <a:ln w="15875">
            <a:solidFill>
              <a:schemeClr val="accent2"/>
            </a:solidFill>
            <a:prstDash val="solid"/>
          </a:ln>
          <a:effectLst>
            <a:outerShdw sx="100000" sy="100000" kx="0" ky="0" algn="bl" rotWithShape="0" blurRad="101600" dist="25400" dir="5400000">
              <a:srgbClr val="1B2B24">
                <a:alpha val="14000"/>
              </a:srgbClr>
            </a:outerShdw>
          </a:effectLst>
        </p:spPr>
      </p:sp>
      <p:sp>
        <p:nvSpPr>
          <p:cNvPr id="12" name="Text 10"/>
          <p:cNvSpPr txBox="1"/>
          <p:nvPr/>
        </p:nvSpPr>
        <p:spPr>
          <a:xfrm>
            <a:off x="777240" y="2926080"/>
            <a:ext cx="2971800" cy="320040"/>
          </a:xfrm>
          <a:prstGeom prst="rect">
            <a:avLst/>
          </a:prstGeom>
          <a:noFill/>
          <a:ln/>
        </p:spPr>
        <p:txBody>
          <a:bodyPr wrap="square" lIns="0" tIns="0" rIns="0" bIns="0" rtlCol="0" anchor="t"/>
          <a:lstStyle/>
          <a:p>
            <a:pPr indent="0" marL="0">
              <a:buNone/>
            </a:pPr>
            <a:r>
              <a:rPr lang="en-US" sz="1500" b="1" dirty="0">
                <a:solidFill>
                  <a:schemeClr val="tx2"/>
                </a:solidFill>
              </a:rPr>
              <a:t>sample_data.csv</a:t>
            </a:r>
            <a:endParaRPr lang="en-US" sz="1500" dirty="0"/>
          </a:p>
        </p:txBody>
      </p:sp>
      <p:sp>
        <p:nvSpPr>
          <p:cNvPr id="13" name="Text 11"/>
          <p:cNvSpPr txBox="1"/>
          <p:nvPr/>
        </p:nvSpPr>
        <p:spPr>
          <a:xfrm>
            <a:off x="777240" y="3273552"/>
            <a:ext cx="2971800" cy="274320"/>
          </a:xfrm>
          <a:prstGeom prst="rect">
            <a:avLst/>
          </a:prstGeom>
          <a:noFill/>
          <a:ln/>
        </p:spPr>
        <p:txBody>
          <a:bodyPr wrap="square" lIns="0" tIns="0" rIns="0" bIns="0" rtlCol="0" anchor="t"/>
          <a:lstStyle/>
          <a:p>
            <a:pPr indent="0" marL="0">
              <a:buNone/>
            </a:pPr>
            <a:r>
              <a:rPr lang="en-US" sz="1400" dirty="0">
                <a:solidFill>
                  <a:schemeClr val="accent6"/>
                </a:solidFill>
              </a:rPr>
              <a:t>Generic rating matrix</a:t>
            </a:r>
            <a:endParaRPr lang="en-US" sz="1400" dirty="0"/>
          </a:p>
        </p:txBody>
      </p:sp>
      <p:sp>
        <p:nvSpPr>
          <p:cNvPr id="14" name="Text 12"/>
          <p:cNvSpPr/>
          <p:nvPr/>
        </p:nvSpPr>
        <p:spPr>
          <a:xfrm>
            <a:off x="777240" y="3703320"/>
            <a:ext cx="559613" cy="310896"/>
          </a:xfrm>
          <a:prstGeom prst="roundRect">
            <a:avLst>
              <a:gd name="adj" fmla="val 88235"/>
            </a:avLst>
          </a:prstGeom>
          <a:solidFill>
            <a:schemeClr val="accent2">
              <a:alpha val="50000"/>
            </a:schemeClr>
          </a:solidFill>
          <a:ln w="9525">
            <a:solidFill>
              <a:schemeClr val="accent2"/>
            </a:solidFill>
          </a:ln>
        </p:spPr>
        <p:txBody>
          <a:bodyPr wrap="square" lIns="0" tIns="1016" rIns="1016" bIns="0" rtlCol="0" anchor="ctr"/>
          <a:lstStyle/>
          <a:p>
            <a:pPr algn="ctr" indent="0" marL="0">
              <a:buNone/>
            </a:pPr>
            <a:r>
              <a:rPr lang="en-US" sz="1200" dirty="0">
                <a:solidFill>
                  <a:schemeClr val="tx1"/>
                </a:solidFill>
              </a:rPr>
              <a:t>User</a:t>
            </a:r>
            <a:endParaRPr lang="en-US" sz="1200" dirty="0"/>
          </a:p>
        </p:txBody>
      </p:sp>
      <p:sp>
        <p:nvSpPr>
          <p:cNvPr id="15" name="Text 13"/>
          <p:cNvSpPr/>
          <p:nvPr/>
        </p:nvSpPr>
        <p:spPr>
          <a:xfrm>
            <a:off x="1428293" y="3703320"/>
            <a:ext cx="987552" cy="310896"/>
          </a:xfrm>
          <a:prstGeom prst="roundRect">
            <a:avLst>
              <a:gd name="adj" fmla="val 88235"/>
            </a:avLst>
          </a:prstGeom>
          <a:solidFill>
            <a:schemeClr val="accent2">
              <a:alpha val="50000"/>
            </a:schemeClr>
          </a:solidFill>
          <a:ln w="9525">
            <a:solidFill>
              <a:schemeClr val="accent2"/>
            </a:solidFill>
          </a:ln>
        </p:spPr>
        <p:txBody>
          <a:bodyPr wrap="square" lIns="0" tIns="1016" rIns="1016" bIns="0" rtlCol="0" anchor="ctr"/>
          <a:lstStyle/>
          <a:p>
            <a:pPr algn="ctr" indent="0" marL="0">
              <a:buNone/>
            </a:pPr>
            <a:r>
              <a:rPr lang="en-US" sz="1200" dirty="0">
                <a:solidFill>
                  <a:schemeClr val="tx1"/>
                </a:solidFill>
              </a:rPr>
              <a:t>Category 1</a:t>
            </a:r>
            <a:endParaRPr lang="en-US" sz="1200" dirty="0"/>
          </a:p>
        </p:txBody>
      </p:sp>
      <p:sp>
        <p:nvSpPr>
          <p:cNvPr id="16" name="Text 14"/>
          <p:cNvSpPr/>
          <p:nvPr/>
        </p:nvSpPr>
        <p:spPr>
          <a:xfrm>
            <a:off x="2507285" y="3703320"/>
            <a:ext cx="987552" cy="310896"/>
          </a:xfrm>
          <a:prstGeom prst="roundRect">
            <a:avLst>
              <a:gd name="adj" fmla="val 88235"/>
            </a:avLst>
          </a:prstGeom>
          <a:solidFill>
            <a:schemeClr val="accent2">
              <a:alpha val="50000"/>
            </a:schemeClr>
          </a:solidFill>
          <a:ln w="9525">
            <a:solidFill>
              <a:schemeClr val="accent2"/>
            </a:solidFill>
          </a:ln>
        </p:spPr>
        <p:txBody>
          <a:bodyPr wrap="square" lIns="0" tIns="1016" rIns="1016" bIns="0" rtlCol="0" anchor="ctr"/>
          <a:lstStyle/>
          <a:p>
            <a:pPr algn="ctr" indent="0" marL="0">
              <a:buNone/>
            </a:pPr>
            <a:r>
              <a:rPr lang="en-US" sz="1200" dirty="0">
                <a:solidFill>
                  <a:schemeClr val="tx1"/>
                </a:solidFill>
              </a:rPr>
              <a:t>Category 2</a:t>
            </a:r>
            <a:endParaRPr lang="en-US" sz="1200" dirty="0"/>
          </a:p>
        </p:txBody>
      </p:sp>
      <p:sp>
        <p:nvSpPr>
          <p:cNvPr id="17" name="Text 15"/>
          <p:cNvSpPr/>
          <p:nvPr/>
        </p:nvSpPr>
        <p:spPr>
          <a:xfrm>
            <a:off x="777240" y="4096512"/>
            <a:ext cx="345643" cy="310896"/>
          </a:xfrm>
          <a:prstGeom prst="roundRect">
            <a:avLst>
              <a:gd name="adj" fmla="val 88235"/>
            </a:avLst>
          </a:prstGeom>
          <a:solidFill>
            <a:schemeClr val="accent2">
              <a:alpha val="50000"/>
            </a:schemeClr>
          </a:solidFill>
          <a:ln w="9525">
            <a:solidFill>
              <a:schemeClr val="accent2"/>
            </a:solidFill>
          </a:ln>
        </p:spPr>
        <p:txBody>
          <a:bodyPr wrap="square" lIns="0" tIns="1016" rIns="1016" bIns="0" rtlCol="0" anchor="ctr"/>
          <a:lstStyle/>
          <a:p>
            <a:pPr algn="ctr" indent="0" marL="0">
              <a:buNone/>
            </a:pPr>
            <a:r>
              <a:rPr lang="en-US" sz="1200" dirty="0">
                <a:solidFill>
                  <a:schemeClr val="tx1"/>
                </a:solidFill>
              </a:rPr>
              <a:t>…</a:t>
            </a:r>
            <a:endParaRPr lang="en-US" sz="1200" dirty="0"/>
          </a:p>
        </p:txBody>
      </p:sp>
      <p:sp>
        <p:nvSpPr>
          <p:cNvPr id="18" name="Text 16"/>
          <p:cNvSpPr/>
          <p:nvPr/>
        </p:nvSpPr>
        <p:spPr>
          <a:xfrm>
            <a:off x="1214323" y="4096512"/>
            <a:ext cx="1058875" cy="310896"/>
          </a:xfrm>
          <a:prstGeom prst="roundRect">
            <a:avLst>
              <a:gd name="adj" fmla="val 88235"/>
            </a:avLst>
          </a:prstGeom>
          <a:solidFill>
            <a:schemeClr val="accent2">
              <a:alpha val="50000"/>
            </a:schemeClr>
          </a:solidFill>
          <a:ln w="9525">
            <a:solidFill>
              <a:schemeClr val="accent2"/>
            </a:solidFill>
          </a:ln>
        </p:spPr>
        <p:txBody>
          <a:bodyPr wrap="square" lIns="0" tIns="1016" rIns="1016" bIns="0" rtlCol="0" anchor="ctr"/>
          <a:lstStyle/>
          <a:p>
            <a:pPr algn="ctr" indent="0" marL="0">
              <a:buNone/>
            </a:pPr>
            <a:r>
              <a:rPr lang="en-US" sz="1200" dirty="0">
                <a:solidFill>
                  <a:schemeClr val="tx1"/>
                </a:solidFill>
              </a:rPr>
              <a:t>Category 24</a:t>
            </a:r>
            <a:endParaRPr lang="en-US" sz="1200" dirty="0"/>
          </a:p>
        </p:txBody>
      </p:sp>
      <p:sp>
        <p:nvSpPr>
          <p:cNvPr id="19" name="Shape 17"/>
          <p:cNvSpPr/>
          <p:nvPr/>
        </p:nvSpPr>
        <p:spPr>
          <a:xfrm>
            <a:off x="4014216" y="4206240"/>
            <a:ext cx="329184" cy="0"/>
          </a:xfrm>
          <a:prstGeom prst="line">
            <a:avLst/>
          </a:prstGeom>
          <a:noFill/>
          <a:ln w="31750">
            <a:solidFill>
              <a:schemeClr val="accent4"/>
            </a:solidFill>
            <a:prstDash val="solid"/>
            <a:tailEnd type="triangle"/>
          </a:ln>
        </p:spPr>
      </p:sp>
      <p:sp>
        <p:nvSpPr>
          <p:cNvPr id="20" name="Shape 18"/>
          <p:cNvSpPr/>
          <p:nvPr/>
        </p:nvSpPr>
        <p:spPr>
          <a:xfrm>
            <a:off x="4379976" y="2743200"/>
            <a:ext cx="3429000" cy="2926080"/>
          </a:xfrm>
          <a:prstGeom prst="roundRect">
            <a:avLst>
              <a:gd name="adj" fmla="val 3750"/>
            </a:avLst>
          </a:prstGeom>
          <a:solidFill>
            <a:schemeClr val="bg1"/>
          </a:solidFill>
          <a:ln w="15875">
            <a:solidFill>
              <a:schemeClr val="accent2"/>
            </a:solidFill>
            <a:prstDash val="solid"/>
          </a:ln>
          <a:effectLst>
            <a:outerShdw sx="100000" sy="100000" kx="0" ky="0" algn="bl" rotWithShape="0" blurRad="101600" dist="25400" dir="5400000">
              <a:srgbClr val="1B2B24">
                <a:alpha val="14000"/>
              </a:srgbClr>
            </a:outerShdw>
          </a:effectLst>
        </p:spPr>
      </p:sp>
      <p:sp>
        <p:nvSpPr>
          <p:cNvPr id="21" name="Text 19"/>
          <p:cNvSpPr txBox="1"/>
          <p:nvPr/>
        </p:nvSpPr>
        <p:spPr>
          <a:xfrm>
            <a:off x="4608576" y="2926080"/>
            <a:ext cx="2971800" cy="320040"/>
          </a:xfrm>
          <a:prstGeom prst="rect">
            <a:avLst/>
          </a:prstGeom>
          <a:noFill/>
          <a:ln/>
        </p:spPr>
        <p:txBody>
          <a:bodyPr wrap="square" lIns="0" tIns="0" rIns="0" bIns="0" rtlCol="0" anchor="t"/>
          <a:lstStyle/>
          <a:p>
            <a:pPr indent="0" marL="0">
              <a:buNone/>
            </a:pPr>
            <a:r>
              <a:rPr lang="en-US" sz="1500" b="1" dirty="0">
                <a:solidFill>
                  <a:schemeClr val="tx2"/>
                </a:solidFill>
              </a:rPr>
              <a:t>column_names_changed.csv</a:t>
            </a:r>
            <a:endParaRPr lang="en-US" sz="1500" dirty="0"/>
          </a:p>
        </p:txBody>
      </p:sp>
      <p:sp>
        <p:nvSpPr>
          <p:cNvPr id="22" name="Text 20"/>
          <p:cNvSpPr txBox="1"/>
          <p:nvPr/>
        </p:nvSpPr>
        <p:spPr>
          <a:xfrm>
            <a:off x="4608576" y="3273552"/>
            <a:ext cx="2971800" cy="274320"/>
          </a:xfrm>
          <a:prstGeom prst="rect">
            <a:avLst/>
          </a:prstGeom>
          <a:noFill/>
          <a:ln/>
        </p:spPr>
        <p:txBody>
          <a:bodyPr wrap="square" lIns="0" tIns="0" rIns="0" bIns="0" rtlCol="0" anchor="t"/>
          <a:lstStyle/>
          <a:p>
            <a:pPr indent="0" marL="0">
              <a:buNone/>
            </a:pPr>
            <a:r>
              <a:rPr lang="en-US" sz="1400" dirty="0">
                <a:solidFill>
                  <a:schemeClr val="accent6"/>
                </a:solidFill>
              </a:rPr>
              <a:t>Named activity categories</a:t>
            </a:r>
            <a:endParaRPr lang="en-US" sz="1400" dirty="0"/>
          </a:p>
        </p:txBody>
      </p:sp>
      <p:sp>
        <p:nvSpPr>
          <p:cNvPr id="23" name="Text 21"/>
          <p:cNvSpPr/>
          <p:nvPr/>
        </p:nvSpPr>
        <p:spPr>
          <a:xfrm>
            <a:off x="4608576" y="3703320"/>
            <a:ext cx="559613" cy="310896"/>
          </a:xfrm>
          <a:prstGeom prst="roundRect">
            <a:avLst>
              <a:gd name="adj" fmla="val 88235"/>
            </a:avLst>
          </a:prstGeom>
          <a:solidFill>
            <a:schemeClr val="accent2">
              <a:alpha val="50000"/>
            </a:schemeClr>
          </a:solidFill>
          <a:ln w="9525">
            <a:solidFill>
              <a:schemeClr val="accent2"/>
            </a:solidFill>
          </a:ln>
        </p:spPr>
        <p:txBody>
          <a:bodyPr wrap="square" lIns="0" tIns="1016" rIns="1016" bIns="0" rtlCol="0" anchor="ctr"/>
          <a:lstStyle/>
          <a:p>
            <a:pPr algn="ctr" indent="0" marL="0">
              <a:buNone/>
            </a:pPr>
            <a:r>
              <a:rPr lang="en-US" sz="1200" dirty="0">
                <a:solidFill>
                  <a:schemeClr val="tx1"/>
                </a:solidFill>
              </a:rPr>
              <a:t>User</a:t>
            </a:r>
            <a:endParaRPr lang="en-US" sz="1200" dirty="0"/>
          </a:p>
        </p:txBody>
      </p:sp>
      <p:sp>
        <p:nvSpPr>
          <p:cNvPr id="24" name="Text 22"/>
          <p:cNvSpPr/>
          <p:nvPr/>
        </p:nvSpPr>
        <p:spPr>
          <a:xfrm>
            <a:off x="5259629" y="3703320"/>
            <a:ext cx="844906" cy="310896"/>
          </a:xfrm>
          <a:prstGeom prst="roundRect">
            <a:avLst>
              <a:gd name="adj" fmla="val 88235"/>
            </a:avLst>
          </a:prstGeom>
          <a:solidFill>
            <a:schemeClr val="accent2">
              <a:alpha val="50000"/>
            </a:schemeClr>
          </a:solidFill>
          <a:ln w="9525">
            <a:solidFill>
              <a:schemeClr val="accent2"/>
            </a:solidFill>
          </a:ln>
        </p:spPr>
        <p:txBody>
          <a:bodyPr wrap="square" lIns="0" tIns="1016" rIns="1016" bIns="0" rtlCol="0" anchor="ctr"/>
          <a:lstStyle/>
          <a:p>
            <a:pPr algn="ctr" indent="0" marL="0">
              <a:buNone/>
            </a:pPr>
            <a:r>
              <a:rPr lang="en-US" sz="1200" dirty="0">
                <a:solidFill>
                  <a:schemeClr val="tx1"/>
                </a:solidFill>
              </a:rPr>
              <a:t>churches</a:t>
            </a:r>
            <a:endParaRPr lang="en-US" sz="1200" dirty="0"/>
          </a:p>
        </p:txBody>
      </p:sp>
      <p:sp>
        <p:nvSpPr>
          <p:cNvPr id="25" name="Text 23"/>
          <p:cNvSpPr/>
          <p:nvPr/>
        </p:nvSpPr>
        <p:spPr>
          <a:xfrm>
            <a:off x="6195974" y="3703320"/>
            <a:ext cx="773582" cy="310896"/>
          </a:xfrm>
          <a:prstGeom prst="roundRect">
            <a:avLst>
              <a:gd name="adj" fmla="val 88235"/>
            </a:avLst>
          </a:prstGeom>
          <a:solidFill>
            <a:schemeClr val="accent2">
              <a:alpha val="50000"/>
            </a:schemeClr>
          </a:solidFill>
          <a:ln w="9525">
            <a:solidFill>
              <a:schemeClr val="accent2"/>
            </a:solidFill>
          </a:ln>
        </p:spPr>
        <p:txBody>
          <a:bodyPr wrap="square" lIns="0" tIns="1016" rIns="1016" bIns="0" rtlCol="0" anchor="ctr"/>
          <a:lstStyle/>
          <a:p>
            <a:pPr algn="ctr" indent="0" marL="0">
              <a:buNone/>
            </a:pPr>
            <a:r>
              <a:rPr lang="en-US" sz="1200" dirty="0">
                <a:solidFill>
                  <a:schemeClr val="tx1"/>
                </a:solidFill>
              </a:rPr>
              <a:t>resorts</a:t>
            </a:r>
            <a:endParaRPr lang="en-US" sz="1200" dirty="0"/>
          </a:p>
        </p:txBody>
      </p:sp>
      <p:sp>
        <p:nvSpPr>
          <p:cNvPr id="26" name="Text 24"/>
          <p:cNvSpPr/>
          <p:nvPr/>
        </p:nvSpPr>
        <p:spPr>
          <a:xfrm>
            <a:off x="7060997" y="3703320"/>
            <a:ext cx="345643" cy="310896"/>
          </a:xfrm>
          <a:prstGeom prst="roundRect">
            <a:avLst>
              <a:gd name="adj" fmla="val 88235"/>
            </a:avLst>
          </a:prstGeom>
          <a:solidFill>
            <a:schemeClr val="accent2">
              <a:alpha val="50000"/>
            </a:schemeClr>
          </a:solidFill>
          <a:ln w="9525">
            <a:solidFill>
              <a:schemeClr val="accent2"/>
            </a:solidFill>
          </a:ln>
        </p:spPr>
        <p:txBody>
          <a:bodyPr wrap="square" lIns="0" tIns="1016" rIns="1016" bIns="0" rtlCol="0" anchor="ctr"/>
          <a:lstStyle/>
          <a:p>
            <a:pPr algn="ctr" indent="0" marL="0">
              <a:buNone/>
            </a:pPr>
            <a:r>
              <a:rPr lang="en-US" sz="1200" dirty="0">
                <a:solidFill>
                  <a:schemeClr val="tx1"/>
                </a:solidFill>
              </a:rPr>
              <a:t>…</a:t>
            </a:r>
            <a:endParaRPr lang="en-US" sz="1200" dirty="0"/>
          </a:p>
        </p:txBody>
      </p:sp>
      <p:sp>
        <p:nvSpPr>
          <p:cNvPr id="27" name="Text 25"/>
          <p:cNvSpPr/>
          <p:nvPr/>
        </p:nvSpPr>
        <p:spPr>
          <a:xfrm>
            <a:off x="4608576" y="4096512"/>
            <a:ext cx="773582" cy="310896"/>
          </a:xfrm>
          <a:prstGeom prst="roundRect">
            <a:avLst>
              <a:gd name="adj" fmla="val 88235"/>
            </a:avLst>
          </a:prstGeom>
          <a:solidFill>
            <a:schemeClr val="accent2">
              <a:alpha val="50000"/>
            </a:schemeClr>
          </a:solidFill>
          <a:ln w="9525">
            <a:solidFill>
              <a:schemeClr val="accent2"/>
            </a:solidFill>
          </a:ln>
        </p:spPr>
        <p:txBody>
          <a:bodyPr wrap="square" lIns="0" tIns="1016" rIns="1016" bIns="0" rtlCol="0" anchor="ctr"/>
          <a:lstStyle/>
          <a:p>
            <a:pPr algn="ctr" indent="0" marL="0">
              <a:buNone/>
            </a:pPr>
            <a:r>
              <a:rPr lang="en-US" sz="1200" dirty="0">
                <a:solidFill>
                  <a:schemeClr val="tx1"/>
                </a:solidFill>
              </a:rPr>
              <a:t>gardens</a:t>
            </a:r>
            <a:endParaRPr lang="en-US" sz="1200" dirty="0"/>
          </a:p>
        </p:txBody>
      </p:sp>
      <p:sp>
        <p:nvSpPr>
          <p:cNvPr id="28" name="Shape 26"/>
          <p:cNvSpPr/>
          <p:nvPr/>
        </p:nvSpPr>
        <p:spPr>
          <a:xfrm>
            <a:off x="7845552" y="4206240"/>
            <a:ext cx="329184" cy="0"/>
          </a:xfrm>
          <a:prstGeom prst="line">
            <a:avLst/>
          </a:prstGeom>
          <a:noFill/>
          <a:ln w="31750">
            <a:solidFill>
              <a:schemeClr val="accent4"/>
            </a:solidFill>
            <a:prstDash val="solid"/>
            <a:tailEnd type="triangle"/>
          </a:ln>
        </p:spPr>
      </p:sp>
      <p:sp>
        <p:nvSpPr>
          <p:cNvPr id="29" name="Shape 27"/>
          <p:cNvSpPr/>
          <p:nvPr/>
        </p:nvSpPr>
        <p:spPr>
          <a:xfrm>
            <a:off x="8211312" y="2743200"/>
            <a:ext cx="3429000" cy="2926080"/>
          </a:xfrm>
          <a:prstGeom prst="roundRect">
            <a:avLst>
              <a:gd name="adj" fmla="val 3750"/>
            </a:avLst>
          </a:prstGeom>
          <a:solidFill>
            <a:schemeClr val="accent5">
              <a:alpha val="70000"/>
            </a:schemeClr>
          </a:solidFill>
          <a:ln w="25400">
            <a:solidFill>
              <a:schemeClr val="accent3"/>
            </a:solidFill>
            <a:prstDash val="dash"/>
          </a:ln>
          <a:effectLst>
            <a:outerShdw sx="100000" sy="100000" kx="0" ky="0" algn="bl" rotWithShape="0" blurRad="101600" dist="25400" dir="5400000">
              <a:srgbClr val="1B2B24">
                <a:alpha val="14000"/>
              </a:srgbClr>
            </a:outerShdw>
          </a:effectLst>
        </p:spPr>
      </p:sp>
      <p:sp>
        <p:nvSpPr>
          <p:cNvPr id="30" name="Text 28"/>
          <p:cNvSpPr txBox="1"/>
          <p:nvPr/>
        </p:nvSpPr>
        <p:spPr>
          <a:xfrm>
            <a:off x="8439912" y="2926080"/>
            <a:ext cx="2971800" cy="320040"/>
          </a:xfrm>
          <a:prstGeom prst="rect">
            <a:avLst/>
          </a:prstGeom>
          <a:noFill/>
          <a:ln/>
        </p:spPr>
        <p:txBody>
          <a:bodyPr wrap="square" lIns="0" tIns="0" rIns="0" bIns="0" rtlCol="0" anchor="t"/>
          <a:lstStyle/>
          <a:p>
            <a:pPr indent="0" marL="0">
              <a:buNone/>
            </a:pPr>
            <a:r>
              <a:rPr lang="en-US" sz="1500" b="1" dirty="0">
                <a:solidFill>
                  <a:schemeClr val="tx2"/>
                </a:solidFill>
              </a:rPr>
              <a:t>modified_data.csv</a:t>
            </a:r>
            <a:endParaRPr lang="en-US" sz="1500" dirty="0"/>
          </a:p>
        </p:txBody>
      </p:sp>
      <p:sp>
        <p:nvSpPr>
          <p:cNvPr id="31" name="Text 29"/>
          <p:cNvSpPr txBox="1"/>
          <p:nvPr/>
        </p:nvSpPr>
        <p:spPr>
          <a:xfrm>
            <a:off x="8439912" y="3273552"/>
            <a:ext cx="2971800" cy="274320"/>
          </a:xfrm>
          <a:prstGeom prst="rect">
            <a:avLst/>
          </a:prstGeom>
          <a:noFill/>
          <a:ln/>
        </p:spPr>
        <p:txBody>
          <a:bodyPr wrap="square" lIns="0" tIns="0" rIns="0" bIns="0" rtlCol="0" anchor="t"/>
          <a:lstStyle/>
          <a:p>
            <a:pPr indent="0" marL="0">
              <a:buNone/>
            </a:pPr>
            <a:r>
              <a:rPr lang="en-US" sz="1400" dirty="0">
                <a:solidFill>
                  <a:schemeClr val="accent6"/>
                </a:solidFill>
              </a:rPr>
              <a:t>Enriched experience row</a:t>
            </a:r>
            <a:endParaRPr lang="en-US" sz="1400" dirty="0"/>
          </a:p>
        </p:txBody>
      </p:sp>
      <p:sp>
        <p:nvSpPr>
          <p:cNvPr id="32" name="Text 30"/>
          <p:cNvSpPr/>
          <p:nvPr/>
        </p:nvSpPr>
        <p:spPr>
          <a:xfrm>
            <a:off x="8439912" y="3703320"/>
            <a:ext cx="1415491" cy="310896"/>
          </a:xfrm>
          <a:prstGeom prst="roundRect">
            <a:avLst>
              <a:gd name="adj" fmla="val 88235"/>
            </a:avLst>
          </a:prstGeom>
          <a:solidFill>
            <a:schemeClr val="accent2">
              <a:alpha val="50000"/>
            </a:schemeClr>
          </a:solidFill>
          <a:ln w="9525">
            <a:solidFill>
              <a:schemeClr val="accent2"/>
            </a:solidFill>
          </a:ln>
        </p:spPr>
        <p:txBody>
          <a:bodyPr wrap="square" lIns="0" tIns="1016" rIns="1016" bIns="0" rtlCol="0" anchor="ctr"/>
          <a:lstStyle/>
          <a:p>
            <a:pPr algn="ctr" indent="0" marL="0">
              <a:buNone/>
            </a:pPr>
            <a:r>
              <a:rPr lang="en-US" sz="1200" dirty="0">
                <a:solidFill>
                  <a:schemeClr val="tx1"/>
                </a:solidFill>
              </a:rPr>
              <a:t>24 named ratings</a:t>
            </a:r>
            <a:endParaRPr lang="en-US" sz="1200" dirty="0"/>
          </a:p>
        </p:txBody>
      </p:sp>
      <p:sp>
        <p:nvSpPr>
          <p:cNvPr id="33" name="Text 31"/>
          <p:cNvSpPr/>
          <p:nvPr/>
        </p:nvSpPr>
        <p:spPr>
          <a:xfrm>
            <a:off x="9946843" y="3703320"/>
            <a:ext cx="1058875" cy="310896"/>
          </a:xfrm>
          <a:prstGeom prst="roundRect">
            <a:avLst>
              <a:gd name="adj" fmla="val 88235"/>
            </a:avLst>
          </a:prstGeom>
          <a:solidFill>
            <a:schemeClr val="accent3">
              <a:alpha val="20000"/>
            </a:schemeClr>
          </a:solidFill>
          <a:ln w="9525">
            <a:solidFill>
              <a:schemeClr val="accent3"/>
            </a:solidFill>
          </a:ln>
        </p:spPr>
        <p:txBody>
          <a:bodyPr wrap="square" lIns="0" tIns="1016" rIns="1016" bIns="0" rtlCol="0" anchor="ctr"/>
          <a:lstStyle/>
          <a:p>
            <a:pPr algn="ctr" indent="0" marL="0">
              <a:buNone/>
            </a:pPr>
            <a:r>
              <a:rPr lang="en-US" sz="1200" dirty="0">
                <a:solidFill>
                  <a:schemeClr val="tx1"/>
                </a:solidFill>
              </a:rPr>
              <a:t>destination</a:t>
            </a:r>
            <a:endParaRPr lang="en-US" sz="1200" dirty="0"/>
          </a:p>
        </p:txBody>
      </p:sp>
      <p:sp>
        <p:nvSpPr>
          <p:cNvPr id="34" name="Text 32"/>
          <p:cNvSpPr/>
          <p:nvPr/>
        </p:nvSpPr>
        <p:spPr>
          <a:xfrm>
            <a:off x="8439912" y="4096512"/>
            <a:ext cx="1415491" cy="310896"/>
          </a:xfrm>
          <a:prstGeom prst="roundRect">
            <a:avLst>
              <a:gd name="adj" fmla="val 88235"/>
            </a:avLst>
          </a:prstGeom>
          <a:solidFill>
            <a:schemeClr val="accent3">
              <a:alpha val="20000"/>
            </a:schemeClr>
          </a:solidFill>
          <a:ln w="9525">
            <a:solidFill>
              <a:schemeClr val="accent3"/>
            </a:solidFill>
          </a:ln>
        </p:spPr>
        <p:txBody>
          <a:bodyPr wrap="square" lIns="0" tIns="1016" rIns="1016" bIns="0" rtlCol="0" anchor="ctr"/>
          <a:lstStyle/>
          <a:p>
            <a:pPr algn="ctr" indent="0" marL="0">
              <a:buNone/>
            </a:pPr>
            <a:r>
              <a:rPr lang="en-US" sz="1200" dirty="0">
                <a:solidFill>
                  <a:schemeClr val="tx1"/>
                </a:solidFill>
              </a:rPr>
              <a:t>category_visited</a:t>
            </a:r>
            <a:endParaRPr lang="en-US" sz="1200" dirty="0"/>
          </a:p>
        </p:txBody>
      </p:sp>
      <p:sp>
        <p:nvSpPr>
          <p:cNvPr id="35" name="Text 33"/>
          <p:cNvSpPr/>
          <p:nvPr/>
        </p:nvSpPr>
        <p:spPr>
          <a:xfrm>
            <a:off x="9946843" y="4096512"/>
            <a:ext cx="1344168" cy="310896"/>
          </a:xfrm>
          <a:prstGeom prst="roundRect">
            <a:avLst>
              <a:gd name="adj" fmla="val 88235"/>
            </a:avLst>
          </a:prstGeom>
          <a:solidFill>
            <a:schemeClr val="accent3">
              <a:alpha val="20000"/>
            </a:schemeClr>
          </a:solidFill>
          <a:ln w="9525">
            <a:solidFill>
              <a:schemeClr val="accent3"/>
            </a:solidFill>
          </a:ln>
        </p:spPr>
        <p:txBody>
          <a:bodyPr wrap="square" lIns="0" tIns="1016" rIns="1016" bIns="0" rtlCol="0" anchor="ctr"/>
          <a:lstStyle/>
          <a:p>
            <a:pPr algn="ctr" indent="0" marL="0">
              <a:buNone/>
            </a:pPr>
            <a:r>
              <a:rPr lang="en-US" sz="1200" dirty="0">
                <a:solidFill>
                  <a:schemeClr val="tx1"/>
                </a:solidFill>
              </a:rPr>
              <a:t>roverall_rating</a:t>
            </a:r>
            <a:endParaRPr lang="en-US" sz="1200" dirty="0"/>
          </a:p>
        </p:txBody>
      </p:sp>
      <p:sp>
        <p:nvSpPr>
          <p:cNvPr id="36" name="Text 34"/>
          <p:cNvSpPr/>
          <p:nvPr/>
        </p:nvSpPr>
        <p:spPr>
          <a:xfrm>
            <a:off x="8439912" y="4489704"/>
            <a:ext cx="1058875" cy="310896"/>
          </a:xfrm>
          <a:prstGeom prst="roundRect">
            <a:avLst>
              <a:gd name="adj" fmla="val 88235"/>
            </a:avLst>
          </a:prstGeom>
          <a:solidFill>
            <a:schemeClr val="accent3">
              <a:alpha val="20000"/>
            </a:schemeClr>
          </a:solidFill>
          <a:ln w="9525">
            <a:solidFill>
              <a:schemeClr val="accent3"/>
            </a:solidFill>
          </a:ln>
        </p:spPr>
        <p:txBody>
          <a:bodyPr wrap="square" lIns="0" tIns="1016" rIns="1016" bIns="0" rtlCol="0" anchor="ctr"/>
          <a:lstStyle/>
          <a:p>
            <a:pPr algn="ctr" indent="0" marL="0">
              <a:buNone/>
            </a:pPr>
            <a:r>
              <a:rPr lang="en-US" sz="1200" dirty="0">
                <a:solidFill>
                  <a:schemeClr val="tx1"/>
                </a:solidFill>
              </a:rPr>
              <a:t>review_text</a:t>
            </a:r>
            <a:endParaRPr lang="en-US" sz="1200" dirty="0"/>
          </a:p>
        </p:txBody>
      </p:sp>
      <p:sp>
        <p:nvSpPr>
          <p:cNvPr id="37" name="Text 35"/>
          <p:cNvSpPr/>
          <p:nvPr/>
        </p:nvSpPr>
        <p:spPr>
          <a:xfrm>
            <a:off x="9590227" y="4489704"/>
            <a:ext cx="1058875" cy="310896"/>
          </a:xfrm>
          <a:prstGeom prst="roundRect">
            <a:avLst>
              <a:gd name="adj" fmla="val 88235"/>
            </a:avLst>
          </a:prstGeom>
          <a:solidFill>
            <a:schemeClr val="accent3">
              <a:alpha val="20000"/>
            </a:schemeClr>
          </a:solidFill>
          <a:ln w="9525">
            <a:solidFill>
              <a:schemeClr val="accent3"/>
            </a:solidFill>
          </a:ln>
        </p:spPr>
        <p:txBody>
          <a:bodyPr wrap="square" lIns="0" tIns="1016" rIns="1016" bIns="0" rtlCol="0" anchor="ctr"/>
          <a:lstStyle/>
          <a:p>
            <a:pPr algn="ctr" indent="0" marL="0">
              <a:buNone/>
            </a:pPr>
            <a:r>
              <a:rPr lang="en-US" sz="1200" dirty="0">
                <a:solidFill>
                  <a:schemeClr val="tx1"/>
                </a:solidFill>
              </a:rPr>
              <a:t>travel_type</a:t>
            </a:r>
            <a:endParaRPr lang="en-US" sz="1200" dirty="0"/>
          </a:p>
        </p:txBody>
      </p:sp>
      <p:sp>
        <p:nvSpPr>
          <p:cNvPr id="38" name="Text 36"/>
          <p:cNvSpPr/>
          <p:nvPr/>
        </p:nvSpPr>
        <p:spPr>
          <a:xfrm>
            <a:off x="8439912" y="4882896"/>
            <a:ext cx="987552" cy="310896"/>
          </a:xfrm>
          <a:prstGeom prst="roundRect">
            <a:avLst>
              <a:gd name="adj" fmla="val 88235"/>
            </a:avLst>
          </a:prstGeom>
          <a:solidFill>
            <a:schemeClr val="accent3">
              <a:alpha val="20000"/>
            </a:schemeClr>
          </a:solidFill>
          <a:ln w="9525">
            <a:solidFill>
              <a:schemeClr val="accent3"/>
            </a:solidFill>
          </a:ln>
        </p:spPr>
        <p:txBody>
          <a:bodyPr wrap="square" lIns="0" tIns="1016" rIns="1016" bIns="0" rtlCol="0" anchor="ctr"/>
          <a:lstStyle/>
          <a:p>
            <a:pPr algn="ctr" indent="0" marL="0">
              <a:buNone/>
            </a:pPr>
            <a:r>
              <a:rPr lang="en-US" sz="1200" dirty="0">
                <a:solidFill>
                  <a:schemeClr val="tx1"/>
                </a:solidFill>
              </a:rPr>
              <a:t>visit_date</a:t>
            </a:r>
            <a:endParaRPr lang="en-US" sz="1200" dirty="0"/>
          </a:p>
        </p:txBody>
      </p:sp>
      <p:sp>
        <p:nvSpPr>
          <p:cNvPr id="39" name="Text 37"/>
          <p:cNvSpPr txBox="1"/>
          <p:nvPr/>
        </p:nvSpPr>
        <p:spPr>
          <a:xfrm>
            <a:off x="8439912" y="5285232"/>
            <a:ext cx="2971800" cy="274320"/>
          </a:xfrm>
          <a:prstGeom prst="rect">
            <a:avLst/>
          </a:prstGeom>
          <a:noFill/>
          <a:ln/>
        </p:spPr>
        <p:txBody>
          <a:bodyPr wrap="square" lIns="0" tIns="0" rIns="0" bIns="0" rtlCol="0" anchor="t"/>
          <a:lstStyle/>
          <a:p>
            <a:pPr indent="0" marL="0">
              <a:buNone/>
            </a:pPr>
            <a:r>
              <a:rPr lang="en-US" sz="1300" b="1" dirty="0">
                <a:solidFill>
                  <a:schemeClr val="accent3"/>
                </a:solidFill>
              </a:rPr>
              <a:t>Provenance unverified</a:t>
            </a:r>
            <a:endParaRPr lang="en-US" sz="1300" dirty="0"/>
          </a:p>
        </p:txBody>
      </p:sp>
      <p:sp>
        <p:nvSpPr>
          <p:cNvPr id="40" name="Text 38"/>
          <p:cNvSpPr txBox="1"/>
          <p:nvPr/>
        </p:nvSpPr>
        <p:spPr>
          <a:xfrm>
            <a:off x="548640" y="5760720"/>
            <a:ext cx="3429000" cy="274320"/>
          </a:xfrm>
          <a:prstGeom prst="rect">
            <a:avLst/>
          </a:prstGeom>
          <a:noFill/>
          <a:ln/>
        </p:spPr>
        <p:txBody>
          <a:bodyPr wrap="square" lIns="0" tIns="0" rIns="0" bIns="0" rtlCol="0" anchor="t"/>
          <a:lstStyle/>
          <a:p>
            <a:pPr algn="ctr" indent="0" marL="0">
              <a:buNone/>
            </a:pPr>
            <a:r>
              <a:rPr lang="en-US" sz="1300" b="1" dirty="0">
                <a:solidFill>
                  <a:schemeClr val="accent6"/>
                </a:solidFill>
              </a:rPr>
              <a:t>Raw ratings</a:t>
            </a:r>
            <a:endParaRPr lang="en-US" sz="1300" dirty="0"/>
          </a:p>
        </p:txBody>
      </p:sp>
      <p:sp>
        <p:nvSpPr>
          <p:cNvPr id="41" name="Text 39"/>
          <p:cNvSpPr txBox="1"/>
          <p:nvPr/>
        </p:nvSpPr>
        <p:spPr>
          <a:xfrm>
            <a:off x="4379976" y="5760720"/>
            <a:ext cx="3429000" cy="274320"/>
          </a:xfrm>
          <a:prstGeom prst="rect">
            <a:avLst/>
          </a:prstGeom>
          <a:noFill/>
          <a:ln/>
        </p:spPr>
        <p:txBody>
          <a:bodyPr wrap="square" lIns="0" tIns="0" rIns="0" bIns="0" rtlCol="0" anchor="t"/>
          <a:lstStyle/>
          <a:p>
            <a:pPr algn="ctr" indent="0" marL="0">
              <a:buNone/>
            </a:pPr>
            <a:r>
              <a:rPr lang="en-US" sz="1300" b="1" dirty="0">
                <a:solidFill>
                  <a:schemeClr val="accent6"/>
                </a:solidFill>
              </a:rPr>
              <a:t>Descriptive category names</a:t>
            </a:r>
            <a:endParaRPr lang="en-US" sz="1300" dirty="0"/>
          </a:p>
        </p:txBody>
      </p:sp>
      <p:sp>
        <p:nvSpPr>
          <p:cNvPr id="42" name="Text 40"/>
          <p:cNvSpPr txBox="1"/>
          <p:nvPr/>
        </p:nvSpPr>
        <p:spPr>
          <a:xfrm>
            <a:off x="8211312" y="5760720"/>
            <a:ext cx="3429000" cy="274320"/>
          </a:xfrm>
          <a:prstGeom prst="rect">
            <a:avLst/>
          </a:prstGeom>
          <a:noFill/>
          <a:ln/>
        </p:spPr>
        <p:txBody>
          <a:bodyPr wrap="square" lIns="0" tIns="0" rIns="0" bIns="0" rtlCol="0" anchor="t"/>
          <a:lstStyle/>
          <a:p>
            <a:pPr algn="ctr" indent="0" marL="0">
              <a:buNone/>
            </a:pPr>
            <a:r>
              <a:rPr lang="en-US" sz="1300" b="1" dirty="0">
                <a:solidFill>
                  <a:schemeClr val="accent6"/>
                </a:solidFill>
              </a:rPr>
              <a:t>Enriched experience record</a:t>
            </a:r>
            <a:endParaRPr lang="en-US" sz="1300" dirty="0"/>
          </a:p>
        </p:txBody>
      </p:sp>
      <p:sp>
        <p:nvSpPr>
          <p:cNvPr id="43" name="Text 41"/>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300" i="1" dirty="0">
                <a:solidFill>
                  <a:schemeClr val="accent3"/>
                </a:solidFill>
              </a:rPr>
              <a:t>Enriched-field provenance is unverified; these fields are not presented as authentic TripAdvisor reviews.</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THE SOLUTION</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Search, compare, recommend</a:t>
            </a:r>
            <a:endParaRPr lang="en-US" sz="3400" dirty="0"/>
          </a:p>
        </p:txBody>
      </p:sp>
      <p:sp>
        <p:nvSpPr>
          <p:cNvPr id="4" name="Shape 2"/>
          <p:cNvSpPr/>
          <p:nvPr/>
        </p:nvSpPr>
        <p:spPr>
          <a:xfrm>
            <a:off x="1657807" y="2971800"/>
            <a:ext cx="8873338" cy="0"/>
          </a:xfrm>
          <a:prstGeom prst="line">
            <a:avLst/>
          </a:prstGeom>
          <a:noFill/>
          <a:ln w="38100">
            <a:solidFill>
              <a:schemeClr val="accent3"/>
            </a:solidFill>
            <a:prstDash val="dash"/>
          </a:ln>
        </p:spPr>
      </p:sp>
      <p:sp>
        <p:nvSpPr>
          <p:cNvPr id="5" name="Shape 3"/>
          <p:cNvSpPr/>
          <p:nvPr/>
        </p:nvSpPr>
        <p:spPr>
          <a:xfrm>
            <a:off x="1090879" y="2404872"/>
            <a:ext cx="1133856" cy="1133856"/>
          </a:xfrm>
          <a:prstGeom prst="ellipse">
            <a:avLst/>
          </a:prstGeom>
          <a:solidFill>
            <a:schemeClr val="tx2"/>
          </a:solidFill>
          <a:ln w="50800">
            <a:solidFill>
              <a:schemeClr val="bg2"/>
            </a:solidFill>
            <a:prstDash val="solid"/>
          </a:ln>
          <a:effectLst>
            <a:outerShdw sx="100000" sy="100000" kx="0" ky="0" algn="bl" rotWithShape="0" blurRad="101600" dist="25400" dir="5400000">
              <a:srgbClr val="1B2B24">
                <a:alpha val="14000"/>
              </a:srgbClr>
            </a:outerShdw>
          </a:effectLst>
        </p:spPr>
      </p:sp>
      <p:pic>
        <p:nvPicPr>
          <p:cNvPr id="6" name="Image 0" descr="icon">    </p:cNvPr>
          <p:cNvPicPr>
            <a:picLocks noChangeAspect="1"/>
          </p:cNvPicPr>
          <p:nvPr/>
        </p:nvPicPr>
        <p:blipFill>
          <a:blip r:embed="rId1"/>
          <a:stretch>
            <a:fillRect/>
          </a:stretch>
        </p:blipFill>
        <p:spPr>
          <a:xfrm>
            <a:off x="1383487" y="2697480"/>
            <a:ext cx="548640" cy="548640"/>
          </a:xfrm>
          <a:prstGeom prst="rect">
            <a:avLst/>
          </a:prstGeom>
        </p:spPr>
      </p:pic>
      <p:sp>
        <p:nvSpPr>
          <p:cNvPr id="7" name="Shape 4"/>
          <p:cNvSpPr/>
          <p:nvPr/>
        </p:nvSpPr>
        <p:spPr>
          <a:xfrm>
            <a:off x="944575" y="2286000"/>
            <a:ext cx="384048" cy="384048"/>
          </a:xfrm>
          <a:prstGeom prst="ellipse">
            <a:avLst/>
          </a:prstGeom>
          <a:solidFill>
            <a:schemeClr val="accent3"/>
          </a:solidFill>
          <a:ln w="25400">
            <a:solidFill>
              <a:schemeClr val="bg2"/>
            </a:solidFill>
            <a:prstDash val="solid"/>
          </a:ln>
        </p:spPr>
      </p:sp>
      <p:sp>
        <p:nvSpPr>
          <p:cNvPr id="8" name="Text 5"/>
          <p:cNvSpPr txBox="1"/>
          <p:nvPr/>
        </p:nvSpPr>
        <p:spPr>
          <a:xfrm>
            <a:off x="944575" y="2286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640080" y="3749040"/>
            <a:ext cx="2035454" cy="822960"/>
          </a:xfrm>
          <a:prstGeom prst="rect">
            <a:avLst/>
          </a:prstGeom>
          <a:noFill/>
          <a:ln/>
        </p:spPr>
        <p:txBody>
          <a:bodyPr wrap="square" lIns="0" tIns="0" rIns="0" bIns="0" rtlCol="0" anchor="t"/>
          <a:lstStyle/>
          <a:p>
            <a:pPr algn="ctr" indent="0" marL="0">
              <a:buNone/>
            </a:pPr>
            <a:r>
              <a:rPr lang="en-US" sz="1800" b="1" dirty="0">
                <a:solidFill>
                  <a:schemeClr val="tx2"/>
                </a:solidFill>
              </a:rPr>
              <a:t>Describe the trip</a:t>
            </a:r>
            <a:endParaRPr lang="en-US" sz="1800" dirty="0"/>
          </a:p>
        </p:txBody>
      </p:sp>
      <p:sp>
        <p:nvSpPr>
          <p:cNvPr id="10" name="Text 7"/>
          <p:cNvSpPr txBox="1"/>
          <p:nvPr/>
        </p:nvSpPr>
        <p:spPr>
          <a:xfrm>
            <a:off x="640080" y="4572000"/>
            <a:ext cx="2035454" cy="640080"/>
          </a:xfrm>
          <a:prstGeom prst="rect">
            <a:avLst/>
          </a:prstGeom>
          <a:noFill/>
          <a:ln/>
        </p:spPr>
        <p:txBody>
          <a:bodyPr wrap="square" lIns="0" tIns="0" rIns="0" bIns="0" rtlCol="0" anchor="t"/>
          <a:lstStyle/>
          <a:p>
            <a:pPr algn="ctr" indent="0" marL="0">
              <a:buNone/>
            </a:pPr>
            <a:r>
              <a:rPr lang="en-US" sz="1400" dirty="0">
                <a:solidFill>
                  <a:schemeClr val="accent6"/>
                </a:solidFill>
              </a:rPr>
              <a:t>Natural-language query</a:t>
            </a:r>
            <a:endParaRPr lang="en-US" sz="1400" dirty="0"/>
          </a:p>
        </p:txBody>
      </p:sp>
      <p:sp>
        <p:nvSpPr>
          <p:cNvPr id="11" name="Shape 8"/>
          <p:cNvSpPr/>
          <p:nvPr/>
        </p:nvSpPr>
        <p:spPr>
          <a:xfrm>
            <a:off x="3309214" y="2404872"/>
            <a:ext cx="1133856" cy="1133856"/>
          </a:xfrm>
          <a:prstGeom prst="ellipse">
            <a:avLst/>
          </a:prstGeom>
          <a:solidFill>
            <a:schemeClr val="tx2"/>
          </a:solidFill>
          <a:ln w="50800">
            <a:solidFill>
              <a:schemeClr val="bg2"/>
            </a:solidFill>
            <a:prstDash val="solid"/>
          </a:ln>
          <a:effectLst>
            <a:outerShdw sx="100000" sy="100000" kx="0" ky="0" algn="bl" rotWithShape="0" blurRad="101600" dist="25400" dir="5400000">
              <a:srgbClr val="1B2B24">
                <a:alpha val="14000"/>
              </a:srgbClr>
            </a:outerShdw>
          </a:effectLst>
        </p:spPr>
      </p:sp>
      <p:pic>
        <p:nvPicPr>
          <p:cNvPr id="12" name="Image 1" descr="icon">    </p:cNvPr>
          <p:cNvPicPr>
            <a:picLocks noChangeAspect="1"/>
          </p:cNvPicPr>
          <p:nvPr/>
        </p:nvPicPr>
        <p:blipFill>
          <a:blip r:embed="rId2"/>
          <a:stretch>
            <a:fillRect/>
          </a:stretch>
        </p:blipFill>
        <p:spPr>
          <a:xfrm>
            <a:off x="3601822" y="2697480"/>
            <a:ext cx="548640" cy="548640"/>
          </a:xfrm>
          <a:prstGeom prst="rect">
            <a:avLst/>
          </a:prstGeom>
        </p:spPr>
      </p:pic>
      <p:sp>
        <p:nvSpPr>
          <p:cNvPr id="13" name="Shape 9"/>
          <p:cNvSpPr/>
          <p:nvPr/>
        </p:nvSpPr>
        <p:spPr>
          <a:xfrm>
            <a:off x="3162910" y="2286000"/>
            <a:ext cx="384048" cy="384048"/>
          </a:xfrm>
          <a:prstGeom prst="ellipse">
            <a:avLst/>
          </a:prstGeom>
          <a:solidFill>
            <a:schemeClr val="accent3"/>
          </a:solidFill>
          <a:ln w="25400">
            <a:solidFill>
              <a:schemeClr val="bg2"/>
            </a:solidFill>
            <a:prstDash val="solid"/>
          </a:ln>
        </p:spPr>
      </p:sp>
      <p:sp>
        <p:nvSpPr>
          <p:cNvPr id="14" name="Text 10"/>
          <p:cNvSpPr txBox="1"/>
          <p:nvPr/>
        </p:nvSpPr>
        <p:spPr>
          <a:xfrm>
            <a:off x="3162910" y="2286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1"/>
          <p:cNvSpPr txBox="1"/>
          <p:nvPr/>
        </p:nvSpPr>
        <p:spPr>
          <a:xfrm>
            <a:off x="2858414" y="3749040"/>
            <a:ext cx="2035454" cy="822960"/>
          </a:xfrm>
          <a:prstGeom prst="rect">
            <a:avLst/>
          </a:prstGeom>
          <a:noFill/>
          <a:ln/>
        </p:spPr>
        <p:txBody>
          <a:bodyPr wrap="square" lIns="0" tIns="0" rIns="0" bIns="0" rtlCol="0" anchor="t"/>
          <a:lstStyle/>
          <a:p>
            <a:pPr algn="ctr" indent="0" marL="0">
              <a:buNone/>
            </a:pPr>
            <a:r>
              <a:rPr lang="en-US" sz="1800" b="1" dirty="0">
                <a:solidFill>
                  <a:schemeClr val="tx2"/>
                </a:solidFill>
              </a:rPr>
              <a:t>Extract supported preferences</a:t>
            </a:r>
            <a:endParaRPr lang="en-US" sz="1800" dirty="0"/>
          </a:p>
        </p:txBody>
      </p:sp>
      <p:sp>
        <p:nvSpPr>
          <p:cNvPr id="16" name="Text 12"/>
          <p:cNvSpPr txBox="1"/>
          <p:nvPr/>
        </p:nvSpPr>
        <p:spPr>
          <a:xfrm>
            <a:off x="2858414" y="4572000"/>
            <a:ext cx="2035454" cy="640080"/>
          </a:xfrm>
          <a:prstGeom prst="rect">
            <a:avLst/>
          </a:prstGeom>
          <a:noFill/>
          <a:ln/>
        </p:spPr>
        <p:txBody>
          <a:bodyPr wrap="square" lIns="0" tIns="0" rIns="0" bIns="0" rtlCol="0" anchor="t"/>
          <a:lstStyle/>
          <a:p>
            <a:pPr algn="ctr" indent="0" marL="0">
              <a:buNone/>
            </a:pPr>
            <a:r>
              <a:rPr lang="en-US" sz="1400" dirty="0">
                <a:solidFill>
                  <a:schemeClr val="accent6"/>
                </a:solidFill>
              </a:rPr>
              <a:t>Interests, destination, traveler type</a:t>
            </a:r>
            <a:endParaRPr lang="en-US" sz="1400" dirty="0"/>
          </a:p>
        </p:txBody>
      </p:sp>
      <p:sp>
        <p:nvSpPr>
          <p:cNvPr id="17" name="Shape 13"/>
          <p:cNvSpPr/>
          <p:nvPr/>
        </p:nvSpPr>
        <p:spPr>
          <a:xfrm>
            <a:off x="5527548" y="2404872"/>
            <a:ext cx="1133856" cy="1133856"/>
          </a:xfrm>
          <a:prstGeom prst="ellipse">
            <a:avLst/>
          </a:prstGeom>
          <a:solidFill>
            <a:schemeClr val="tx2"/>
          </a:solidFill>
          <a:ln w="50800">
            <a:solidFill>
              <a:schemeClr val="bg2"/>
            </a:solidFill>
            <a:prstDash val="solid"/>
          </a:ln>
          <a:effectLst>
            <a:outerShdw sx="100000" sy="100000" kx="0" ky="0" algn="bl" rotWithShape="0" blurRad="101600" dist="25400" dir="5400000">
              <a:srgbClr val="1B2B24">
                <a:alpha val="14000"/>
              </a:srgbClr>
            </a:outerShdw>
          </a:effectLst>
        </p:spPr>
      </p:sp>
      <p:pic>
        <p:nvPicPr>
          <p:cNvPr id="18" name="Image 2" descr="icon">    </p:cNvPr>
          <p:cNvPicPr>
            <a:picLocks noChangeAspect="1"/>
          </p:cNvPicPr>
          <p:nvPr/>
        </p:nvPicPr>
        <p:blipFill>
          <a:blip r:embed="rId3"/>
          <a:stretch>
            <a:fillRect/>
          </a:stretch>
        </p:blipFill>
        <p:spPr>
          <a:xfrm>
            <a:off x="5820156" y="2697480"/>
            <a:ext cx="548640" cy="548640"/>
          </a:xfrm>
          <a:prstGeom prst="rect">
            <a:avLst/>
          </a:prstGeom>
        </p:spPr>
      </p:pic>
      <p:sp>
        <p:nvSpPr>
          <p:cNvPr id="19" name="Shape 14"/>
          <p:cNvSpPr/>
          <p:nvPr/>
        </p:nvSpPr>
        <p:spPr>
          <a:xfrm>
            <a:off x="5381244" y="2286000"/>
            <a:ext cx="384048" cy="384048"/>
          </a:xfrm>
          <a:prstGeom prst="ellipse">
            <a:avLst/>
          </a:prstGeom>
          <a:solidFill>
            <a:schemeClr val="accent3"/>
          </a:solidFill>
          <a:ln w="25400">
            <a:solidFill>
              <a:schemeClr val="bg2"/>
            </a:solidFill>
            <a:prstDash val="solid"/>
          </a:ln>
        </p:spPr>
      </p:sp>
      <p:sp>
        <p:nvSpPr>
          <p:cNvPr id="20" name="Text 15"/>
          <p:cNvSpPr txBox="1"/>
          <p:nvPr/>
        </p:nvSpPr>
        <p:spPr>
          <a:xfrm>
            <a:off x="5381244" y="2286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6"/>
          <p:cNvSpPr txBox="1"/>
          <p:nvPr/>
        </p:nvSpPr>
        <p:spPr>
          <a:xfrm>
            <a:off x="5076749" y="3749040"/>
            <a:ext cx="2035454" cy="822960"/>
          </a:xfrm>
          <a:prstGeom prst="rect">
            <a:avLst/>
          </a:prstGeom>
          <a:noFill/>
          <a:ln/>
        </p:spPr>
        <p:txBody>
          <a:bodyPr wrap="square" lIns="0" tIns="0" rIns="0" bIns="0" rtlCol="0" anchor="t"/>
          <a:lstStyle/>
          <a:p>
            <a:pPr algn="ctr" indent="0" marL="0">
              <a:buNone/>
            </a:pPr>
            <a:r>
              <a:rPr lang="en-US" sz="1800" b="1" dirty="0">
                <a:solidFill>
                  <a:schemeClr val="tx2"/>
                </a:solidFill>
              </a:rPr>
              <a:t>Retrieve similar evidence</a:t>
            </a:r>
            <a:endParaRPr lang="en-US" sz="1800" dirty="0"/>
          </a:p>
        </p:txBody>
      </p:sp>
      <p:sp>
        <p:nvSpPr>
          <p:cNvPr id="22" name="Text 17"/>
          <p:cNvSpPr txBox="1"/>
          <p:nvPr/>
        </p:nvSpPr>
        <p:spPr>
          <a:xfrm>
            <a:off x="5076749" y="4572000"/>
            <a:ext cx="2035454" cy="640080"/>
          </a:xfrm>
          <a:prstGeom prst="rect">
            <a:avLst/>
          </a:prstGeom>
          <a:noFill/>
          <a:ln/>
        </p:spPr>
        <p:txBody>
          <a:bodyPr wrap="square" lIns="0" tIns="0" rIns="0" bIns="0" rtlCol="0" anchor="t"/>
          <a:lstStyle/>
          <a:p>
            <a:pPr algn="ctr" indent="0" marL="0">
              <a:buNone/>
            </a:pPr>
            <a:r>
              <a:rPr lang="en-US" sz="1400" dirty="0">
                <a:solidFill>
                  <a:schemeClr val="accent6"/>
                </a:solidFill>
              </a:rPr>
              <a:t>BM25 + vector search with filters</a:t>
            </a:r>
            <a:endParaRPr lang="en-US" sz="1400" dirty="0"/>
          </a:p>
        </p:txBody>
      </p:sp>
      <p:sp>
        <p:nvSpPr>
          <p:cNvPr id="23" name="Shape 18"/>
          <p:cNvSpPr/>
          <p:nvPr/>
        </p:nvSpPr>
        <p:spPr>
          <a:xfrm>
            <a:off x="7745882" y="2404872"/>
            <a:ext cx="1133856" cy="1133856"/>
          </a:xfrm>
          <a:prstGeom prst="ellipse">
            <a:avLst/>
          </a:prstGeom>
          <a:solidFill>
            <a:schemeClr val="tx2"/>
          </a:solidFill>
          <a:ln w="50800">
            <a:solidFill>
              <a:schemeClr val="bg2"/>
            </a:solidFill>
            <a:prstDash val="solid"/>
          </a:ln>
          <a:effectLst>
            <a:outerShdw sx="100000" sy="100000" kx="0" ky="0" algn="bl" rotWithShape="0" blurRad="101600" dist="25400" dir="5400000">
              <a:srgbClr val="1B2B24">
                <a:alpha val="14000"/>
              </a:srgbClr>
            </a:outerShdw>
          </a:effectLst>
        </p:spPr>
      </p:sp>
      <p:pic>
        <p:nvPicPr>
          <p:cNvPr id="24" name="Image 3" descr="icon">    </p:cNvPr>
          <p:cNvPicPr>
            <a:picLocks noChangeAspect="1"/>
          </p:cNvPicPr>
          <p:nvPr/>
        </p:nvPicPr>
        <p:blipFill>
          <a:blip r:embed="rId4"/>
          <a:stretch>
            <a:fillRect/>
          </a:stretch>
        </p:blipFill>
        <p:spPr>
          <a:xfrm>
            <a:off x="8038490" y="2697480"/>
            <a:ext cx="548640" cy="548640"/>
          </a:xfrm>
          <a:prstGeom prst="rect">
            <a:avLst/>
          </a:prstGeom>
        </p:spPr>
      </p:pic>
      <p:sp>
        <p:nvSpPr>
          <p:cNvPr id="25" name="Shape 19"/>
          <p:cNvSpPr/>
          <p:nvPr/>
        </p:nvSpPr>
        <p:spPr>
          <a:xfrm>
            <a:off x="7599578" y="2286000"/>
            <a:ext cx="384048" cy="384048"/>
          </a:xfrm>
          <a:prstGeom prst="ellipse">
            <a:avLst/>
          </a:prstGeom>
          <a:solidFill>
            <a:schemeClr val="accent3"/>
          </a:solidFill>
          <a:ln w="25400">
            <a:solidFill>
              <a:schemeClr val="bg2"/>
            </a:solidFill>
            <a:prstDash val="solid"/>
          </a:ln>
        </p:spPr>
      </p:sp>
      <p:sp>
        <p:nvSpPr>
          <p:cNvPr id="26" name="Text 20"/>
          <p:cNvSpPr txBox="1"/>
          <p:nvPr/>
        </p:nvSpPr>
        <p:spPr>
          <a:xfrm>
            <a:off x="7599578" y="2286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7295083" y="3749040"/>
            <a:ext cx="2035454" cy="822960"/>
          </a:xfrm>
          <a:prstGeom prst="rect">
            <a:avLst/>
          </a:prstGeom>
          <a:noFill/>
          <a:ln/>
        </p:spPr>
        <p:txBody>
          <a:bodyPr wrap="square" lIns="0" tIns="0" rIns="0" bIns="0" rtlCol="0" anchor="t"/>
          <a:lstStyle/>
          <a:p>
            <a:pPr algn="ctr" indent="0" marL="0">
              <a:buNone/>
            </a:pPr>
            <a:r>
              <a:rPr lang="en-US" sz="1800" b="1" dirty="0">
                <a:solidFill>
                  <a:schemeClr val="tx2"/>
                </a:solidFill>
              </a:rPr>
              <a:t>Rank destinations and activities</a:t>
            </a:r>
            <a:endParaRPr lang="en-US" sz="1800" dirty="0"/>
          </a:p>
        </p:txBody>
      </p:sp>
      <p:sp>
        <p:nvSpPr>
          <p:cNvPr id="28" name="Text 22"/>
          <p:cNvSpPr txBox="1"/>
          <p:nvPr/>
        </p:nvSpPr>
        <p:spPr>
          <a:xfrm>
            <a:off x="7295083" y="4572000"/>
            <a:ext cx="2035454" cy="640080"/>
          </a:xfrm>
          <a:prstGeom prst="rect">
            <a:avLst/>
          </a:prstGeom>
          <a:noFill/>
          <a:ln/>
        </p:spPr>
        <p:txBody>
          <a:bodyPr wrap="square" lIns="0" tIns="0" rIns="0" bIns="0" rtlCol="0" anchor="t"/>
          <a:lstStyle/>
          <a:p>
            <a:pPr algn="ctr" indent="0" marL="0">
              <a:buNone/>
            </a:pPr>
            <a:r>
              <a:rPr lang="en-US" sz="1400" dirty="0">
                <a:solidFill>
                  <a:schemeClr val="accent6"/>
                </a:solidFill>
              </a:rPr>
              <a:t>Evidence-based summaries</a:t>
            </a:r>
            <a:endParaRPr lang="en-US" sz="1400" dirty="0"/>
          </a:p>
        </p:txBody>
      </p:sp>
      <p:sp>
        <p:nvSpPr>
          <p:cNvPr id="29" name="Shape 23"/>
          <p:cNvSpPr/>
          <p:nvPr/>
        </p:nvSpPr>
        <p:spPr>
          <a:xfrm>
            <a:off x="9964217" y="2404872"/>
            <a:ext cx="1133856" cy="1133856"/>
          </a:xfrm>
          <a:prstGeom prst="ellipse">
            <a:avLst/>
          </a:prstGeom>
          <a:solidFill>
            <a:schemeClr val="tx2"/>
          </a:solidFill>
          <a:ln w="50800">
            <a:solidFill>
              <a:schemeClr val="bg2"/>
            </a:solidFill>
            <a:prstDash val="solid"/>
          </a:ln>
          <a:effectLst>
            <a:outerShdw sx="100000" sy="100000" kx="0" ky="0" algn="bl" rotWithShape="0" blurRad="101600" dist="25400" dir="5400000">
              <a:srgbClr val="1B2B24">
                <a:alpha val="14000"/>
              </a:srgbClr>
            </a:outerShdw>
          </a:effectLst>
        </p:spPr>
      </p:sp>
      <p:pic>
        <p:nvPicPr>
          <p:cNvPr id="30" name="Image 4" descr="icon">    </p:cNvPr>
          <p:cNvPicPr>
            <a:picLocks noChangeAspect="1"/>
          </p:cNvPicPr>
          <p:nvPr/>
        </p:nvPicPr>
        <p:blipFill>
          <a:blip r:embed="rId5"/>
          <a:stretch>
            <a:fillRect/>
          </a:stretch>
        </p:blipFill>
        <p:spPr>
          <a:xfrm>
            <a:off x="10256825" y="2697480"/>
            <a:ext cx="548640" cy="548640"/>
          </a:xfrm>
          <a:prstGeom prst="rect">
            <a:avLst/>
          </a:prstGeom>
        </p:spPr>
      </p:pic>
      <p:sp>
        <p:nvSpPr>
          <p:cNvPr id="31" name="Shape 24"/>
          <p:cNvSpPr/>
          <p:nvPr/>
        </p:nvSpPr>
        <p:spPr>
          <a:xfrm>
            <a:off x="9817913" y="2286000"/>
            <a:ext cx="384048" cy="384048"/>
          </a:xfrm>
          <a:prstGeom prst="ellipse">
            <a:avLst/>
          </a:prstGeom>
          <a:solidFill>
            <a:schemeClr val="accent3"/>
          </a:solidFill>
          <a:ln w="25400">
            <a:solidFill>
              <a:schemeClr val="bg2"/>
            </a:solidFill>
            <a:prstDash val="solid"/>
          </a:ln>
        </p:spPr>
      </p:sp>
      <p:sp>
        <p:nvSpPr>
          <p:cNvPr id="32" name="Text 25"/>
          <p:cNvSpPr txBox="1"/>
          <p:nvPr/>
        </p:nvSpPr>
        <p:spPr>
          <a:xfrm>
            <a:off x="9817913" y="2286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3" name="Text 26"/>
          <p:cNvSpPr txBox="1"/>
          <p:nvPr/>
        </p:nvSpPr>
        <p:spPr>
          <a:xfrm>
            <a:off x="9513418" y="3749040"/>
            <a:ext cx="2035454" cy="822960"/>
          </a:xfrm>
          <a:prstGeom prst="rect">
            <a:avLst/>
          </a:prstGeom>
          <a:noFill/>
          <a:ln/>
        </p:spPr>
        <p:txBody>
          <a:bodyPr wrap="square" lIns="0" tIns="0" rIns="0" bIns="0" rtlCol="0" anchor="t"/>
          <a:lstStyle/>
          <a:p>
            <a:pPr algn="ctr" indent="0" marL="0">
              <a:buNone/>
            </a:pPr>
            <a:r>
              <a:rPr lang="en-US" sz="1800" b="1" dirty="0">
                <a:solidFill>
                  <a:schemeClr val="tx2"/>
                </a:solidFill>
              </a:rPr>
              <a:t>Inspect the records behind the ranking</a:t>
            </a:r>
            <a:endParaRPr lang="en-US" sz="1800" dirty="0"/>
          </a:p>
        </p:txBody>
      </p:sp>
      <p:sp>
        <p:nvSpPr>
          <p:cNvPr id="34" name="Text 27"/>
          <p:cNvSpPr txBox="1"/>
          <p:nvPr/>
        </p:nvSpPr>
        <p:spPr>
          <a:xfrm>
            <a:off x="9513418" y="4572000"/>
            <a:ext cx="2035454" cy="640080"/>
          </a:xfrm>
          <a:prstGeom prst="rect">
            <a:avLst/>
          </a:prstGeom>
          <a:noFill/>
          <a:ln/>
        </p:spPr>
        <p:txBody>
          <a:bodyPr wrap="square" lIns="0" tIns="0" rIns="0" bIns="0" rtlCol="0" anchor="t"/>
          <a:lstStyle/>
          <a:p>
            <a:pPr algn="ctr" indent="0" marL="0">
              <a:buNone/>
            </a:pPr>
            <a:r>
              <a:rPr lang="en-US" sz="1400" dirty="0">
                <a:solidFill>
                  <a:schemeClr val="accent6"/>
                </a:solidFill>
              </a:rPr>
              <a:t>Full evidence stays visible</a:t>
            </a:r>
            <a:endParaRPr lang="en-US" sz="1400" dirty="0"/>
          </a:p>
        </p:txBody>
      </p:sp>
      <p:sp>
        <p:nvSpPr>
          <p:cNvPr id="35" name="Shape 28"/>
          <p:cNvSpPr/>
          <p:nvPr/>
        </p:nvSpPr>
        <p:spPr>
          <a:xfrm>
            <a:off x="548640" y="5440680"/>
            <a:ext cx="11091672" cy="731520"/>
          </a:xfrm>
          <a:prstGeom prst="roundRect">
            <a:avLst>
              <a:gd name="adj" fmla="val 15000"/>
            </a:avLst>
          </a:prstGeom>
          <a:solidFill>
            <a:schemeClr val="accent2">
              <a:alpha val="45000"/>
            </a:schemeClr>
          </a:solidFill>
          <a:ln w="12700">
            <a:solidFill>
              <a:schemeClr val="accent2"/>
            </a:solidFill>
            <a:prstDash val="solid"/>
          </a:ln>
        </p:spPr>
      </p:sp>
      <p:sp>
        <p:nvSpPr>
          <p:cNvPr id="36" name="Text 29"/>
          <p:cNvSpPr txBox="1"/>
          <p:nvPr/>
        </p:nvSpPr>
        <p:spPr>
          <a:xfrm>
            <a:off x="822960" y="5440680"/>
            <a:ext cx="10515600" cy="731520"/>
          </a:xfrm>
          <a:prstGeom prst="rect">
            <a:avLst/>
          </a:prstGeom>
          <a:noFill/>
          <a:ln/>
        </p:spPr>
        <p:txBody>
          <a:bodyPr wrap="square" lIns="0" tIns="0" rIns="0" bIns="0" rtlCol="0" anchor="ctr"/>
          <a:lstStyle/>
          <a:p>
            <a:pPr indent="0" marL="0">
              <a:buNone/>
            </a:pPr>
            <a:r>
              <a:rPr lang="en-US" sz="1800" b="1" dirty="0">
                <a:solidFill>
                  <a:schemeClr val="tx2"/>
                </a:solidFill>
              </a:rPr>
              <a:t>Deterministic and evidence-based: the current application makes no LLM calls.</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ARCHITECTURE</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From CSV to travel studio</a:t>
            </a:r>
            <a:endParaRPr lang="en-US" sz="3400" dirty="0"/>
          </a:p>
        </p:txBody>
      </p:sp>
      <p:sp>
        <p:nvSpPr>
          <p:cNvPr id="4" name="s1_csv"/>
          <p:cNvSpPr/>
          <p:nvPr/>
        </p:nvSpPr>
        <p:spPr>
          <a:xfrm>
            <a:off x="694944" y="1572768"/>
            <a:ext cx="1417320" cy="914400"/>
          </a:xfrm>
          <a:prstGeom prst="roundRect">
            <a:avLst>
              <a:gd name="adj" fmla="val 10000"/>
            </a:avLst>
          </a:prstGeom>
          <a:solidFill>
            <a:schemeClr val="accent2">
              <a:alpha val="4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CSV inputs</a:t>
            </a:r>
            <a:endParaRPr lang="en-US" sz="1200" dirty="0"/>
          </a:p>
          <a:p>
            <a:pPr algn="ctr" indent="0" marL="0">
              <a:buNone/>
            </a:pPr>
            <a:r>
              <a:rPr lang="en-US" sz="1100" dirty="0">
                <a:solidFill>
                  <a:schemeClr val="accent6"/>
                </a:solidFill>
              </a:rPr>
              <a:t>3 files</a:t>
            </a:r>
            <a:endParaRPr lang="en-US" sz="1200" dirty="0"/>
          </a:p>
        </p:txBody>
      </p:sp>
      <p:sp>
        <p:nvSpPr>
          <p:cNvPr id="5" name="s1_prep"/>
          <p:cNvSpPr/>
          <p:nvPr/>
        </p:nvSpPr>
        <p:spPr>
          <a:xfrm>
            <a:off x="2569464" y="1572768"/>
            <a:ext cx="1417320" cy="914400"/>
          </a:xfrm>
          <a:prstGeom prst="roundRect">
            <a:avLst>
              <a:gd name="adj" fmla="val 10000"/>
            </a:avLst>
          </a:prstGeom>
          <a:solidFill>
            <a:schemeClr val="accent2">
              <a:alpha val="4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Preprocessing &amp; validation</a:t>
            </a:r>
            <a:endParaRPr lang="en-US" sz="1200" dirty="0"/>
          </a:p>
        </p:txBody>
      </p:sp>
      <p:sp>
        <p:nvSpPr>
          <p:cNvPr id="6" name="s1_doc"/>
          <p:cNvSpPr/>
          <p:nvPr/>
        </p:nvSpPr>
        <p:spPr>
          <a:xfrm>
            <a:off x="4443984" y="1572768"/>
            <a:ext cx="1417320" cy="914400"/>
          </a:xfrm>
          <a:prstGeom prst="roundRect">
            <a:avLst>
              <a:gd name="adj" fmla="val 10000"/>
            </a:avLst>
          </a:prstGeom>
          <a:solidFill>
            <a:schemeClr val="accent2">
              <a:alpha val="4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One row = one retrieval document</a:t>
            </a:r>
            <a:endParaRPr lang="en-US" sz="1200" dirty="0"/>
          </a:p>
        </p:txBody>
      </p:sp>
      <p:sp>
        <p:nvSpPr>
          <p:cNvPr id="7" name="s1_emb"/>
          <p:cNvSpPr/>
          <p:nvPr/>
        </p:nvSpPr>
        <p:spPr>
          <a:xfrm>
            <a:off x="6318504" y="1572768"/>
            <a:ext cx="1417320" cy="914400"/>
          </a:xfrm>
          <a:prstGeom prst="roundRect">
            <a:avLst>
              <a:gd name="adj" fmla="val 10000"/>
            </a:avLst>
          </a:prstGeom>
          <a:solidFill>
            <a:schemeClr val="accent2">
              <a:alpha val="4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Embedding generation</a:t>
            </a:r>
            <a:endParaRPr lang="en-US" sz="1200" dirty="0"/>
          </a:p>
        </p:txBody>
      </p:sp>
      <p:sp>
        <p:nvSpPr>
          <p:cNvPr id="8" name="s1_chroma"/>
          <p:cNvSpPr/>
          <p:nvPr/>
        </p:nvSpPr>
        <p:spPr>
          <a:xfrm>
            <a:off x="8193024" y="1572768"/>
            <a:ext cx="1417320" cy="914400"/>
          </a:xfrm>
          <a:prstGeom prst="can">
            <a:avLst>
              <a:gd name="adj" fmla="val 10000"/>
            </a:avLst>
          </a:prstGeom>
          <a:solidFill>
            <a:schemeClr val="accent2">
              <a:alpha val="8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Persistent Chroma</a:t>
            </a:r>
            <a:endParaRPr lang="en-US" sz="1200" dirty="0"/>
          </a:p>
          <a:p>
            <a:pPr algn="ctr" indent="0" marL="0">
              <a:buNone/>
            </a:pPr>
            <a:r>
              <a:rPr lang="en-US" sz="1100" dirty="0">
                <a:solidFill>
                  <a:schemeClr val="accent6"/>
                </a:solidFill>
              </a:rPr>
              <a:t>vector store</a:t>
            </a:r>
            <a:endParaRPr lang="en-US" sz="1200" dirty="0"/>
          </a:p>
        </p:txBody>
      </p:sp>
      <p:sp>
        <p:nvSpPr>
          <p:cNvPr id="9" name="s1_bm25"/>
          <p:cNvSpPr/>
          <p:nvPr/>
        </p:nvSpPr>
        <p:spPr>
          <a:xfrm>
            <a:off x="4443984" y="2807208"/>
            <a:ext cx="1417320" cy="914400"/>
          </a:xfrm>
          <a:prstGeom prst="can">
            <a:avLst>
              <a:gd name="adj" fmla="val 10000"/>
            </a:avLst>
          </a:prstGeom>
          <a:solidFill>
            <a:schemeClr val="accent2">
              <a:alpha val="8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BM25 keyword index</a:t>
            </a:r>
            <a:endParaRPr lang="en-US" sz="1200" dirty="0"/>
          </a:p>
        </p:txBody>
      </p:sp>
      <p:sp>
        <p:nvSpPr>
          <p:cNvPr id="10" name="s1_a0"/>
          <p:cNvSpPr/>
          <p:nvPr/>
        </p:nvSpPr>
        <p:spPr>
          <a:xfrm>
            <a:off x="2112264" y="2029968"/>
            <a:ext cx="457200" cy="0"/>
          </a:xfrm>
          <a:prstGeom prst="line">
            <a:avLst/>
          </a:prstGeom>
          <a:noFill/>
          <a:ln w="25400">
            <a:solidFill>
              <a:schemeClr val="accent1"/>
            </a:solidFill>
            <a:prstDash val="solid"/>
            <a:tailEnd type="triangle"/>
          </a:ln>
        </p:spPr>
      </p:sp>
      <p:sp>
        <p:nvSpPr>
          <p:cNvPr id="11" name="s1_a1"/>
          <p:cNvSpPr/>
          <p:nvPr/>
        </p:nvSpPr>
        <p:spPr>
          <a:xfrm>
            <a:off x="3986784" y="2029968"/>
            <a:ext cx="457200" cy="0"/>
          </a:xfrm>
          <a:prstGeom prst="line">
            <a:avLst/>
          </a:prstGeom>
          <a:noFill/>
          <a:ln w="25400">
            <a:solidFill>
              <a:schemeClr val="accent1"/>
            </a:solidFill>
            <a:prstDash val="solid"/>
            <a:tailEnd type="triangle"/>
          </a:ln>
        </p:spPr>
      </p:sp>
      <p:sp>
        <p:nvSpPr>
          <p:cNvPr id="12" name="s1_a2"/>
          <p:cNvSpPr/>
          <p:nvPr/>
        </p:nvSpPr>
        <p:spPr>
          <a:xfrm>
            <a:off x="5861304" y="2029968"/>
            <a:ext cx="457200" cy="0"/>
          </a:xfrm>
          <a:prstGeom prst="line">
            <a:avLst/>
          </a:prstGeom>
          <a:noFill/>
          <a:ln w="25400">
            <a:solidFill>
              <a:schemeClr val="accent1"/>
            </a:solidFill>
            <a:prstDash val="solid"/>
            <a:tailEnd type="triangle"/>
          </a:ln>
        </p:spPr>
      </p:sp>
      <p:sp>
        <p:nvSpPr>
          <p:cNvPr id="13" name="s1_a3"/>
          <p:cNvSpPr/>
          <p:nvPr/>
        </p:nvSpPr>
        <p:spPr>
          <a:xfrm>
            <a:off x="7735824" y="2029968"/>
            <a:ext cx="457200" cy="0"/>
          </a:xfrm>
          <a:prstGeom prst="line">
            <a:avLst/>
          </a:prstGeom>
          <a:noFill/>
          <a:ln w="25400">
            <a:solidFill>
              <a:schemeClr val="accent1"/>
            </a:solidFill>
            <a:prstDash val="solid"/>
            <a:tailEnd type="triangle"/>
          </a:ln>
        </p:spPr>
      </p:sp>
      <p:sp>
        <p:nvSpPr>
          <p:cNvPr id="14" name="s1_a4"/>
          <p:cNvSpPr/>
          <p:nvPr/>
        </p:nvSpPr>
        <p:spPr>
          <a:xfrm>
            <a:off x="5152644" y="2487168"/>
            <a:ext cx="0" cy="320040"/>
          </a:xfrm>
          <a:prstGeom prst="line">
            <a:avLst/>
          </a:prstGeom>
          <a:noFill/>
          <a:ln w="25400">
            <a:solidFill>
              <a:schemeClr val="accent1"/>
            </a:solidFill>
            <a:prstDash val="solid"/>
            <a:tailEnd type="triangle"/>
          </a:ln>
        </p:spPr>
      </p:sp>
      <p:sp>
        <p:nvSpPr>
          <p:cNvPr id="15" name="s2_q"/>
          <p:cNvSpPr/>
          <p:nvPr/>
        </p:nvSpPr>
        <p:spPr>
          <a:xfrm>
            <a:off x="10067544" y="1572768"/>
            <a:ext cx="1417320" cy="914400"/>
          </a:xfrm>
          <a:prstGeom prst="roundRect">
            <a:avLst>
              <a:gd name="adj" fmla="val 10000"/>
            </a:avLst>
          </a:prstGeom>
          <a:solidFill>
            <a:schemeClr val="accent2">
              <a:alpha val="4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Query + filters</a:t>
            </a:r>
            <a:endParaRPr lang="en-US" sz="1200" dirty="0"/>
          </a:p>
        </p:txBody>
      </p:sp>
      <p:sp>
        <p:nvSpPr>
          <p:cNvPr id="16" name="s2_pref"/>
          <p:cNvSpPr/>
          <p:nvPr/>
        </p:nvSpPr>
        <p:spPr>
          <a:xfrm>
            <a:off x="10067544" y="2807208"/>
            <a:ext cx="1417320" cy="914400"/>
          </a:xfrm>
          <a:prstGeom prst="roundRect">
            <a:avLst>
              <a:gd name="adj" fmla="val 10000"/>
            </a:avLst>
          </a:prstGeom>
          <a:solidFill>
            <a:schemeClr val="accent2">
              <a:alpha val="4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Preference classifier</a:t>
            </a:r>
            <a:endParaRPr lang="en-US" sz="1200" dirty="0"/>
          </a:p>
        </p:txBody>
      </p:sp>
      <p:sp>
        <p:nvSpPr>
          <p:cNvPr id="17" name="s2_filt"/>
          <p:cNvSpPr/>
          <p:nvPr/>
        </p:nvSpPr>
        <p:spPr>
          <a:xfrm>
            <a:off x="8193024" y="2807208"/>
            <a:ext cx="1417320" cy="914400"/>
          </a:xfrm>
          <a:prstGeom prst="roundRect">
            <a:avLst>
              <a:gd name="adj" fmla="val 10000"/>
            </a:avLst>
          </a:prstGeom>
          <a:solidFill>
            <a:schemeClr val="accent2">
              <a:alpha val="4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Validated metadata filters</a:t>
            </a:r>
            <a:endParaRPr lang="en-US" sz="1200" dirty="0"/>
          </a:p>
        </p:txBody>
      </p:sp>
      <p:sp>
        <p:nvSpPr>
          <p:cNvPr id="18" name="s2_ret"/>
          <p:cNvSpPr/>
          <p:nvPr/>
        </p:nvSpPr>
        <p:spPr>
          <a:xfrm>
            <a:off x="6318504" y="2807208"/>
            <a:ext cx="1417320" cy="914400"/>
          </a:xfrm>
          <a:prstGeom prst="roundRect">
            <a:avLst>
              <a:gd name="adj" fmla="val 10000"/>
            </a:avLst>
          </a:prstGeom>
          <a:solidFill>
            <a:schemeClr val="accent2">
              <a:alpha val="95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Hybrid retrieval</a:t>
            </a:r>
            <a:endParaRPr lang="en-US" sz="1200" dirty="0"/>
          </a:p>
          <a:p>
            <a:pPr algn="ctr" indent="0" marL="0">
              <a:buNone/>
            </a:pPr>
            <a:r>
              <a:rPr lang="en-US" sz="1100" dirty="0">
                <a:solidFill>
                  <a:schemeClr val="accent6"/>
                </a:solidFill>
              </a:rPr>
              <a:t>BM25 + vector, RRF</a:t>
            </a:r>
            <a:endParaRPr lang="en-US" sz="1200" dirty="0"/>
          </a:p>
        </p:txBody>
      </p:sp>
      <p:sp>
        <p:nvSpPr>
          <p:cNvPr id="19" name="s2_a0"/>
          <p:cNvSpPr/>
          <p:nvPr/>
        </p:nvSpPr>
        <p:spPr>
          <a:xfrm>
            <a:off x="10776204" y="2487168"/>
            <a:ext cx="0" cy="320040"/>
          </a:xfrm>
          <a:prstGeom prst="line">
            <a:avLst/>
          </a:prstGeom>
          <a:noFill/>
          <a:ln w="25400">
            <a:solidFill>
              <a:schemeClr val="accent1"/>
            </a:solidFill>
            <a:prstDash val="solid"/>
            <a:tailEnd type="triangle"/>
          </a:ln>
        </p:spPr>
      </p:sp>
      <p:sp>
        <p:nvSpPr>
          <p:cNvPr id="20" name="s2_a1"/>
          <p:cNvSpPr/>
          <p:nvPr/>
        </p:nvSpPr>
        <p:spPr>
          <a:xfrm flipH="1">
            <a:off x="9610344" y="3264408"/>
            <a:ext cx="457200" cy="0"/>
          </a:xfrm>
          <a:prstGeom prst="line">
            <a:avLst/>
          </a:prstGeom>
          <a:noFill/>
          <a:ln w="25400">
            <a:solidFill>
              <a:schemeClr val="accent1"/>
            </a:solidFill>
            <a:prstDash val="solid"/>
            <a:tailEnd type="triangle"/>
          </a:ln>
        </p:spPr>
      </p:sp>
      <p:sp>
        <p:nvSpPr>
          <p:cNvPr id="21" name="s2_a2"/>
          <p:cNvSpPr/>
          <p:nvPr/>
        </p:nvSpPr>
        <p:spPr>
          <a:xfrm flipH="1">
            <a:off x="7735824" y="3264408"/>
            <a:ext cx="457200" cy="0"/>
          </a:xfrm>
          <a:prstGeom prst="line">
            <a:avLst/>
          </a:prstGeom>
          <a:noFill/>
          <a:ln w="25400">
            <a:solidFill>
              <a:schemeClr val="accent1"/>
            </a:solidFill>
            <a:prstDash val="solid"/>
            <a:tailEnd type="triangle"/>
          </a:ln>
        </p:spPr>
      </p:sp>
      <p:sp>
        <p:nvSpPr>
          <p:cNvPr id="22" name="s2_a3"/>
          <p:cNvSpPr/>
          <p:nvPr/>
        </p:nvSpPr>
        <p:spPr>
          <a:xfrm>
            <a:off x="5861304" y="3264408"/>
            <a:ext cx="457200" cy="0"/>
          </a:xfrm>
          <a:prstGeom prst="line">
            <a:avLst/>
          </a:prstGeom>
          <a:noFill/>
          <a:ln w="25400">
            <a:solidFill>
              <a:schemeClr val="accent1"/>
            </a:solidFill>
            <a:prstDash val="solid"/>
            <a:tailEnd type="triangle"/>
          </a:ln>
        </p:spPr>
      </p:sp>
      <p:sp>
        <p:nvSpPr>
          <p:cNvPr id="23" name="s2_a4"/>
          <p:cNvSpPr/>
          <p:nvPr/>
        </p:nvSpPr>
        <p:spPr>
          <a:xfrm>
            <a:off x="8901684" y="2487168"/>
            <a:ext cx="0" cy="160020"/>
          </a:xfrm>
          <a:prstGeom prst="line">
            <a:avLst/>
          </a:prstGeom>
          <a:noFill/>
          <a:ln w="25400">
            <a:solidFill>
              <a:schemeClr val="accent1"/>
            </a:solidFill>
            <a:prstDash val="solid"/>
          </a:ln>
        </p:spPr>
      </p:sp>
      <p:sp>
        <p:nvSpPr>
          <p:cNvPr id="24" name="s2_a5"/>
          <p:cNvSpPr/>
          <p:nvPr/>
        </p:nvSpPr>
        <p:spPr>
          <a:xfrm flipH="1">
            <a:off x="7027164" y="2647188"/>
            <a:ext cx="1874520" cy="0"/>
          </a:xfrm>
          <a:prstGeom prst="line">
            <a:avLst/>
          </a:prstGeom>
          <a:noFill/>
          <a:ln w="25400">
            <a:solidFill>
              <a:schemeClr val="accent1"/>
            </a:solidFill>
            <a:prstDash val="solid"/>
          </a:ln>
        </p:spPr>
      </p:sp>
      <p:sp>
        <p:nvSpPr>
          <p:cNvPr id="25" name="s2_a6"/>
          <p:cNvSpPr/>
          <p:nvPr/>
        </p:nvSpPr>
        <p:spPr>
          <a:xfrm>
            <a:off x="7027164" y="2647188"/>
            <a:ext cx="0" cy="160020"/>
          </a:xfrm>
          <a:prstGeom prst="line">
            <a:avLst/>
          </a:prstGeom>
          <a:noFill/>
          <a:ln w="25400">
            <a:solidFill>
              <a:schemeClr val="accent1"/>
            </a:solidFill>
            <a:prstDash val="solid"/>
            <a:tailEnd type="triangle"/>
          </a:ln>
        </p:spPr>
      </p:sp>
      <p:sp>
        <p:nvSpPr>
          <p:cNvPr id="26" name="s3_rag"/>
          <p:cNvSpPr/>
          <p:nvPr/>
        </p:nvSpPr>
        <p:spPr>
          <a:xfrm>
            <a:off x="6318504" y="4041648"/>
            <a:ext cx="1417320" cy="914400"/>
          </a:xfrm>
          <a:prstGeom prst="roundRect">
            <a:avLst>
              <a:gd name="adj" fmla="val 10000"/>
            </a:avLst>
          </a:prstGeom>
          <a:solidFill>
            <a:schemeClr val="accent2">
              <a:alpha val="95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RAG evidence handoff</a:t>
            </a:r>
            <a:endParaRPr lang="en-US" sz="1200" dirty="0"/>
          </a:p>
        </p:txBody>
      </p:sp>
      <p:sp>
        <p:nvSpPr>
          <p:cNvPr id="27" name="s3_rank"/>
          <p:cNvSpPr/>
          <p:nvPr/>
        </p:nvSpPr>
        <p:spPr>
          <a:xfrm>
            <a:off x="4443984" y="4041648"/>
            <a:ext cx="1417320" cy="914400"/>
          </a:xfrm>
          <a:prstGeom prst="roundRect">
            <a:avLst>
              <a:gd name="adj" fmla="val 10000"/>
            </a:avLst>
          </a:prstGeom>
          <a:solidFill>
            <a:schemeClr val="accent2">
              <a:alpha val="4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Deterministic ranking</a:t>
            </a:r>
            <a:endParaRPr lang="en-US" sz="1200" dirty="0"/>
          </a:p>
        </p:txBody>
      </p:sp>
      <p:sp>
        <p:nvSpPr>
          <p:cNvPr id="28" name="s3_feas"/>
          <p:cNvSpPr/>
          <p:nvPr/>
        </p:nvSpPr>
        <p:spPr>
          <a:xfrm>
            <a:off x="2569464" y="4041648"/>
            <a:ext cx="1417320" cy="914400"/>
          </a:xfrm>
          <a:prstGeom prst="roundRect">
            <a:avLst>
              <a:gd name="adj" fmla="val 10000"/>
            </a:avLst>
          </a:prstGeom>
          <a:solidFill>
            <a:schemeClr val="accent2">
              <a:alpha val="4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Feasibility / data-coverage check</a:t>
            </a:r>
            <a:endParaRPr lang="en-US" sz="1200" dirty="0"/>
          </a:p>
        </p:txBody>
      </p:sp>
      <p:sp>
        <p:nvSpPr>
          <p:cNvPr id="29" name="s3_api"/>
          <p:cNvSpPr/>
          <p:nvPr/>
        </p:nvSpPr>
        <p:spPr>
          <a:xfrm>
            <a:off x="694944" y="4041648"/>
            <a:ext cx="1417320" cy="914400"/>
          </a:xfrm>
          <a:prstGeom prst="roundRect">
            <a:avLst>
              <a:gd name="adj" fmla="val 10000"/>
            </a:avLst>
          </a:prstGeom>
          <a:solidFill>
            <a:schemeClr val="accent2">
              <a:alpha val="4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FastAPI</a:t>
            </a:r>
            <a:endParaRPr lang="en-US" sz="1200" dirty="0"/>
          </a:p>
          <a:p>
            <a:pPr algn="ctr" indent="0" marL="0">
              <a:buNone/>
            </a:pPr>
            <a:r>
              <a:rPr lang="en-US" sz="1100" dirty="0">
                <a:solidFill>
                  <a:schemeClr val="accent6"/>
                </a:solidFill>
              </a:rPr>
              <a:t>/api/v1</a:t>
            </a:r>
            <a:endParaRPr lang="en-US" sz="1200" dirty="0"/>
          </a:p>
        </p:txBody>
      </p:sp>
      <p:sp>
        <p:nvSpPr>
          <p:cNvPr id="30" name="s3_ui"/>
          <p:cNvSpPr/>
          <p:nvPr/>
        </p:nvSpPr>
        <p:spPr>
          <a:xfrm>
            <a:off x="694944" y="2807208"/>
            <a:ext cx="1417320" cy="914400"/>
          </a:xfrm>
          <a:prstGeom prst="roundRect">
            <a:avLst>
              <a:gd name="adj" fmla="val 10000"/>
            </a:avLst>
          </a:prstGeom>
          <a:solidFill>
            <a:schemeClr val="accent2">
              <a:alpha val="4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Streamlit UI</a:t>
            </a:r>
            <a:endParaRPr lang="en-US" sz="1200" dirty="0"/>
          </a:p>
        </p:txBody>
      </p:sp>
      <p:sp>
        <p:nvSpPr>
          <p:cNvPr id="31" name="s3_a0"/>
          <p:cNvSpPr/>
          <p:nvPr/>
        </p:nvSpPr>
        <p:spPr>
          <a:xfrm>
            <a:off x="7027164" y="3721608"/>
            <a:ext cx="0" cy="320040"/>
          </a:xfrm>
          <a:prstGeom prst="line">
            <a:avLst/>
          </a:prstGeom>
          <a:noFill/>
          <a:ln w="25400">
            <a:solidFill>
              <a:schemeClr val="accent1"/>
            </a:solidFill>
            <a:prstDash val="solid"/>
            <a:tailEnd type="triangle"/>
          </a:ln>
        </p:spPr>
      </p:sp>
      <p:sp>
        <p:nvSpPr>
          <p:cNvPr id="32" name="s3_a1"/>
          <p:cNvSpPr/>
          <p:nvPr/>
        </p:nvSpPr>
        <p:spPr>
          <a:xfrm flipH="1">
            <a:off x="5861304" y="4498848"/>
            <a:ext cx="457200" cy="0"/>
          </a:xfrm>
          <a:prstGeom prst="line">
            <a:avLst/>
          </a:prstGeom>
          <a:noFill/>
          <a:ln w="25400">
            <a:solidFill>
              <a:schemeClr val="accent1"/>
            </a:solidFill>
            <a:prstDash val="solid"/>
            <a:tailEnd type="triangle"/>
          </a:ln>
        </p:spPr>
      </p:sp>
      <p:sp>
        <p:nvSpPr>
          <p:cNvPr id="33" name="s3_a2"/>
          <p:cNvSpPr/>
          <p:nvPr/>
        </p:nvSpPr>
        <p:spPr>
          <a:xfrm flipH="1">
            <a:off x="3986784" y="4498848"/>
            <a:ext cx="457200" cy="0"/>
          </a:xfrm>
          <a:prstGeom prst="line">
            <a:avLst/>
          </a:prstGeom>
          <a:noFill/>
          <a:ln w="25400">
            <a:solidFill>
              <a:schemeClr val="accent1"/>
            </a:solidFill>
            <a:prstDash val="solid"/>
            <a:tailEnd type="triangle"/>
          </a:ln>
        </p:spPr>
      </p:sp>
      <p:sp>
        <p:nvSpPr>
          <p:cNvPr id="34" name="s3_a3"/>
          <p:cNvSpPr/>
          <p:nvPr/>
        </p:nvSpPr>
        <p:spPr>
          <a:xfrm flipH="1">
            <a:off x="2112264" y="4498848"/>
            <a:ext cx="457200" cy="0"/>
          </a:xfrm>
          <a:prstGeom prst="line">
            <a:avLst/>
          </a:prstGeom>
          <a:noFill/>
          <a:ln w="25400">
            <a:solidFill>
              <a:schemeClr val="accent1"/>
            </a:solidFill>
            <a:prstDash val="solid"/>
            <a:tailEnd type="triangle"/>
          </a:ln>
        </p:spPr>
      </p:sp>
      <p:sp>
        <p:nvSpPr>
          <p:cNvPr id="35" name="s3_a4"/>
          <p:cNvSpPr/>
          <p:nvPr/>
        </p:nvSpPr>
        <p:spPr>
          <a:xfrm flipV="1">
            <a:off x="1403604" y="3721608"/>
            <a:ext cx="0" cy="320040"/>
          </a:xfrm>
          <a:prstGeom prst="line">
            <a:avLst/>
          </a:prstGeom>
          <a:noFill/>
          <a:ln w="25400">
            <a:solidFill>
              <a:schemeClr val="accent1"/>
            </a:solidFill>
            <a:prstDash val="solid"/>
            <a:tailEnd type="triangle"/>
          </a:ln>
        </p:spPr>
      </p:sp>
      <p:sp>
        <p:nvSpPr>
          <p:cNvPr id="36" name="s4_fb"/>
          <p:cNvSpPr/>
          <p:nvPr/>
        </p:nvSpPr>
        <p:spPr>
          <a:xfrm>
            <a:off x="694944" y="5276088"/>
            <a:ext cx="1417320" cy="914400"/>
          </a:xfrm>
          <a:prstGeom prst="can">
            <a:avLst>
              <a:gd name="adj" fmla="val 10000"/>
            </a:avLst>
          </a:prstGeom>
          <a:solidFill>
            <a:schemeClr val="accent2">
              <a:alpha val="80000"/>
            </a:schemeClr>
          </a:solidFill>
          <a:ln w="19050">
            <a:solidFill>
              <a:schemeClr val="accent1"/>
            </a:solidFill>
            <a:prstDash val="solid"/>
          </a:ln>
        </p:spPr>
        <p:txBody>
          <a:bodyPr wrap="square" lIns="508" tIns="762" rIns="762" bIns="508" rtlCol="0" anchor="ctr"/>
          <a:lstStyle/>
          <a:p>
            <a:pPr algn="ctr" indent="0" marL="0">
              <a:buNone/>
            </a:pPr>
            <a:r>
              <a:rPr lang="en-US" sz="1200" b="1" dirty="0">
                <a:solidFill>
                  <a:schemeClr val="tx2"/>
                </a:solidFill>
              </a:rPr>
              <a:t>SQLite feedback</a:t>
            </a:r>
            <a:endParaRPr lang="en-US" sz="1200" dirty="0"/>
          </a:p>
          <a:p>
            <a:pPr algn="ctr" indent="0" marL="0">
              <a:buNone/>
            </a:pPr>
            <a:r>
              <a:rPr lang="en-US" sz="1100" dirty="0">
                <a:solidFill>
                  <a:schemeClr val="accent6"/>
                </a:solidFill>
              </a:rPr>
              <a:t>stored separately</a:t>
            </a:r>
            <a:endParaRPr lang="en-US" sz="1200" dirty="0"/>
          </a:p>
        </p:txBody>
      </p:sp>
      <p:sp>
        <p:nvSpPr>
          <p:cNvPr id="37" name="s4_rr"/>
          <p:cNvSpPr/>
          <p:nvPr/>
        </p:nvSpPr>
        <p:spPr>
          <a:xfrm>
            <a:off x="4443984" y="5276088"/>
            <a:ext cx="1417320" cy="914400"/>
          </a:xfrm>
          <a:prstGeom prst="roundRect">
            <a:avLst>
              <a:gd name="adj" fmla="val 10000"/>
            </a:avLst>
          </a:prstGeom>
          <a:solidFill>
            <a:schemeClr val="bg1"/>
          </a:solidFill>
          <a:ln w="22225">
            <a:solidFill>
              <a:schemeClr val="accent3"/>
            </a:solidFill>
            <a:prstDash val="dash"/>
          </a:ln>
        </p:spPr>
        <p:txBody>
          <a:bodyPr wrap="square" lIns="508" tIns="762" rIns="762" bIns="508" rtlCol="0" anchor="ctr"/>
          <a:lstStyle/>
          <a:p>
            <a:pPr algn="ctr" indent="0" marL="0">
              <a:buNone/>
            </a:pPr>
            <a:r>
              <a:rPr lang="en-US" sz="1200" b="1" dirty="0">
                <a:solidFill>
                  <a:schemeClr val="accent3"/>
                </a:solidFill>
              </a:rPr>
              <a:t>Feedback reranking</a:t>
            </a:r>
            <a:endParaRPr lang="en-US" sz="1200" dirty="0"/>
          </a:p>
          <a:p>
            <a:pPr algn="ctr" indent="0" marL="0">
              <a:buNone/>
            </a:pPr>
            <a:r>
              <a:rPr lang="en-US" sz="1100" dirty="0">
                <a:solidFill>
                  <a:schemeClr val="accent6"/>
                </a:solidFill>
              </a:rPr>
              <a:t>planned</a:t>
            </a:r>
            <a:endParaRPr lang="en-US" sz="1200" dirty="0"/>
          </a:p>
        </p:txBody>
      </p:sp>
      <p:sp>
        <p:nvSpPr>
          <p:cNvPr id="38" name="s4_llm"/>
          <p:cNvSpPr/>
          <p:nvPr/>
        </p:nvSpPr>
        <p:spPr>
          <a:xfrm>
            <a:off x="6318504" y="5276088"/>
            <a:ext cx="1417320" cy="914400"/>
          </a:xfrm>
          <a:prstGeom prst="roundRect">
            <a:avLst>
              <a:gd name="adj" fmla="val 10000"/>
            </a:avLst>
          </a:prstGeom>
          <a:solidFill>
            <a:schemeClr val="bg1"/>
          </a:solidFill>
          <a:ln w="22225">
            <a:solidFill>
              <a:schemeClr val="accent3"/>
            </a:solidFill>
            <a:prstDash val="dash"/>
          </a:ln>
        </p:spPr>
        <p:txBody>
          <a:bodyPr wrap="square" lIns="508" tIns="762" rIns="762" bIns="508" rtlCol="0" anchor="ctr"/>
          <a:lstStyle/>
          <a:p>
            <a:pPr algn="ctr" indent="0" marL="0">
              <a:buNone/>
            </a:pPr>
            <a:r>
              <a:rPr lang="en-US" sz="1200" b="1" dirty="0">
                <a:solidFill>
                  <a:schemeClr val="accent3"/>
                </a:solidFill>
              </a:rPr>
              <a:t>Optional LLM generation / judge</a:t>
            </a:r>
            <a:endParaRPr lang="en-US" sz="1200" dirty="0"/>
          </a:p>
          <a:p>
            <a:pPr algn="ctr" indent="0" marL="0">
              <a:buNone/>
            </a:pPr>
            <a:r>
              <a:rPr lang="en-US" sz="1100" dirty="0">
                <a:solidFill>
                  <a:schemeClr val="accent6"/>
                </a:solidFill>
              </a:rPr>
              <a:t>planned</a:t>
            </a:r>
            <a:endParaRPr lang="en-US" sz="1200" dirty="0"/>
          </a:p>
        </p:txBody>
      </p:sp>
      <p:sp>
        <p:nvSpPr>
          <p:cNvPr id="39" name="s4_a0"/>
          <p:cNvSpPr/>
          <p:nvPr/>
        </p:nvSpPr>
        <p:spPr>
          <a:xfrm>
            <a:off x="1403604" y="4956048"/>
            <a:ext cx="0" cy="320040"/>
          </a:xfrm>
          <a:prstGeom prst="line">
            <a:avLst/>
          </a:prstGeom>
          <a:noFill/>
          <a:ln w="25400">
            <a:solidFill>
              <a:schemeClr val="accent1"/>
            </a:solidFill>
            <a:prstDash val="solid"/>
            <a:tailEnd type="triangle"/>
          </a:ln>
        </p:spPr>
      </p:sp>
      <p:sp>
        <p:nvSpPr>
          <p:cNvPr id="40" name="s4_a1"/>
          <p:cNvSpPr/>
          <p:nvPr/>
        </p:nvSpPr>
        <p:spPr>
          <a:xfrm>
            <a:off x="2112264" y="5733288"/>
            <a:ext cx="2331720" cy="0"/>
          </a:xfrm>
          <a:prstGeom prst="line">
            <a:avLst/>
          </a:prstGeom>
          <a:noFill/>
          <a:ln w="25400">
            <a:solidFill>
              <a:schemeClr val="accent3"/>
            </a:solidFill>
            <a:prstDash val="dash"/>
            <a:tailEnd type="triangle"/>
          </a:ln>
        </p:spPr>
      </p:sp>
      <p:sp>
        <p:nvSpPr>
          <p:cNvPr id="41" name="s4_a2"/>
          <p:cNvSpPr/>
          <p:nvPr/>
        </p:nvSpPr>
        <p:spPr>
          <a:xfrm flipV="1">
            <a:off x="5152644" y="4956048"/>
            <a:ext cx="0" cy="320040"/>
          </a:xfrm>
          <a:prstGeom prst="line">
            <a:avLst/>
          </a:prstGeom>
          <a:noFill/>
          <a:ln w="25400">
            <a:solidFill>
              <a:schemeClr val="accent3"/>
            </a:solidFill>
            <a:prstDash val="dash"/>
            <a:tailEnd type="triangle"/>
          </a:ln>
        </p:spPr>
      </p:sp>
      <p:sp>
        <p:nvSpPr>
          <p:cNvPr id="42" name="s4_a3"/>
          <p:cNvSpPr/>
          <p:nvPr/>
        </p:nvSpPr>
        <p:spPr>
          <a:xfrm>
            <a:off x="7027164" y="4956048"/>
            <a:ext cx="0" cy="320040"/>
          </a:xfrm>
          <a:prstGeom prst="line">
            <a:avLst/>
          </a:prstGeom>
          <a:noFill/>
          <a:ln w="25400">
            <a:solidFill>
              <a:schemeClr val="accent3"/>
            </a:solidFill>
            <a:prstDash val="dash"/>
            <a:tailEnd type="triangle"/>
          </a:ln>
        </p:spPr>
      </p:sp>
      <p:sp>
        <p:nvSpPr>
          <p:cNvPr id="43" name="Shape 41"/>
          <p:cNvSpPr/>
          <p:nvPr/>
        </p:nvSpPr>
        <p:spPr>
          <a:xfrm>
            <a:off x="8193024" y="5276088"/>
            <a:ext cx="3291840" cy="914400"/>
          </a:xfrm>
          <a:prstGeom prst="roundRect">
            <a:avLst>
              <a:gd name="adj" fmla="val 12000"/>
            </a:avLst>
          </a:prstGeom>
          <a:solidFill>
            <a:schemeClr val="bg1"/>
          </a:solidFill>
          <a:ln w="15875">
            <a:solidFill>
              <a:schemeClr val="accent2"/>
            </a:solidFill>
            <a:prstDash val="solid"/>
          </a:ln>
        </p:spPr>
      </p:sp>
      <p:sp>
        <p:nvSpPr>
          <p:cNvPr id="44" name="Text 42"/>
          <p:cNvSpPr txBox="1"/>
          <p:nvPr/>
        </p:nvSpPr>
        <p:spPr>
          <a:xfrm>
            <a:off x="8375904" y="5349240"/>
            <a:ext cx="1828800" cy="228600"/>
          </a:xfrm>
          <a:prstGeom prst="rect">
            <a:avLst/>
          </a:prstGeom>
          <a:noFill/>
          <a:ln/>
        </p:spPr>
        <p:txBody>
          <a:bodyPr wrap="square" lIns="0" tIns="0" rIns="0" bIns="0" rtlCol="0" anchor="t"/>
          <a:lstStyle/>
          <a:p>
            <a:pPr indent="0" marL="0">
              <a:buNone/>
            </a:pPr>
            <a:r>
              <a:rPr lang="en-US" sz="1200" b="1" dirty="0">
                <a:solidFill>
                  <a:schemeClr val="tx2"/>
                </a:solidFill>
              </a:rPr>
              <a:t>Legend</a:t>
            </a:r>
            <a:endParaRPr lang="en-US" sz="1200" dirty="0"/>
          </a:p>
        </p:txBody>
      </p:sp>
      <p:sp>
        <p:nvSpPr>
          <p:cNvPr id="45" name="Text 43"/>
          <p:cNvSpPr/>
          <p:nvPr/>
        </p:nvSpPr>
        <p:spPr>
          <a:xfrm>
            <a:off x="8375904" y="5733288"/>
            <a:ext cx="1371600" cy="347472"/>
          </a:xfrm>
          <a:prstGeom prst="roundRect">
            <a:avLst>
              <a:gd name="adj" fmla="val 78947"/>
            </a:avLst>
          </a:prstGeom>
          <a:solidFill>
            <a:schemeClr val="accent2">
              <a:alpha val="40000"/>
            </a:schemeClr>
          </a:solidFill>
          <a:ln w="19050">
            <a:solidFill>
              <a:schemeClr val="accent1"/>
            </a:solidFill>
          </a:ln>
        </p:spPr>
        <p:txBody>
          <a:bodyPr wrap="square" lIns="0" tIns="1016" rIns="1016" bIns="0" rtlCol="0" anchor="ctr"/>
          <a:lstStyle/>
          <a:p>
            <a:pPr algn="ctr" indent="0" marL="0">
              <a:buNone/>
            </a:pPr>
            <a:r>
              <a:rPr lang="en-US" sz="1200" b="1" dirty="0">
                <a:solidFill>
                  <a:schemeClr val="tx2"/>
                </a:solidFill>
              </a:rPr>
              <a:t>Implemented</a:t>
            </a:r>
            <a:endParaRPr lang="en-US" sz="1200" dirty="0"/>
          </a:p>
        </p:txBody>
      </p:sp>
      <p:sp>
        <p:nvSpPr>
          <p:cNvPr id="46" name="Text 44"/>
          <p:cNvSpPr/>
          <p:nvPr/>
        </p:nvSpPr>
        <p:spPr>
          <a:xfrm>
            <a:off x="9976104" y="5733288"/>
            <a:ext cx="1280160" cy="347472"/>
          </a:xfrm>
          <a:prstGeom prst="roundRect">
            <a:avLst>
              <a:gd name="adj" fmla="val 78947"/>
            </a:avLst>
          </a:prstGeom>
          <a:solidFill>
            <a:schemeClr val="bg1"/>
          </a:solidFill>
          <a:ln w="22225">
            <a:solidFill>
              <a:schemeClr val="accent3"/>
            </a:solidFill>
            <a:prstDash val="dash"/>
          </a:ln>
        </p:spPr>
        <p:txBody>
          <a:bodyPr wrap="square" lIns="0" tIns="1016" rIns="1016" bIns="0" rtlCol="0" anchor="ctr"/>
          <a:lstStyle/>
          <a:p>
            <a:pPr algn="ctr" indent="0" marL="0">
              <a:buNone/>
            </a:pPr>
            <a:r>
              <a:rPr lang="en-US" sz="1200" b="1" dirty="0">
                <a:solidFill>
                  <a:schemeClr val="accent3"/>
                </a:solidFill>
              </a:rPr>
              <a:t>Planned</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par>
                                <p:cTn id="93" presetID="10" presetClass="entr" presetSubtype="0" fill="hold"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500"/>
                                        <p:tgtEl>
                                          <p:spTgt spid="32"/>
                                        </p:tgtEl>
                                      </p:cBhvr>
                                    </p:animEffect>
                                  </p:childTnLst>
                                </p:cTn>
                              </p:par>
                              <p:par>
                                <p:cTn id="96" presetID="10" presetClass="entr" presetSubtype="0" fill="hold"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par>
                                <p:cTn id="102" presetID="10" presetClass="entr" presetSubtype="0" fill="hold"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500"/>
                                        <p:tgtEl>
                                          <p:spTgt spid="35"/>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par>
                                <p:cTn id="116" presetID="10" presetClass="entr" presetSubtype="0" fill="hold"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500"/>
                                        <p:tgtEl>
                                          <p:spTgt spid="39"/>
                                        </p:tgtEl>
                                      </p:cBhvr>
                                    </p:animEffect>
                                  </p:childTnLst>
                                </p:cTn>
                              </p:par>
                              <p:par>
                                <p:cTn id="119" presetID="10" presetClass="entr" presetSubtype="0" fill="hold"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500"/>
                                        <p:tgtEl>
                                          <p:spTgt spid="40"/>
                                        </p:tgtEl>
                                      </p:cBhvr>
                                    </p:animEffect>
                                  </p:childTnLst>
                                </p:cTn>
                              </p:par>
                              <p:par>
                                <p:cTn id="122" presetID="10" presetClass="entr" presetSubtype="0" fill="hold"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500"/>
                                        <p:tgtEl>
                                          <p:spTgt spid="41"/>
                                        </p:tgtEl>
                                      </p:cBhvr>
                                    </p:animEffect>
                                  </p:childTnLst>
                                </p:cTn>
                              </p:par>
                              <p:par>
                                <p:cTn id="125" presetID="10" presetClass="entr" presetSubtype="0" fill="hold" nodeType="with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HYBRID RETRIEVAL</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Meaning plus exact terms</a:t>
            </a:r>
            <a:endParaRPr lang="en-US" sz="3400" dirty="0"/>
          </a:p>
        </p:txBody>
      </p:sp>
      <p:sp>
        <p:nvSpPr>
          <p:cNvPr id="4" name="Text 2"/>
          <p:cNvSpPr txBox="1"/>
          <p:nvPr/>
        </p:nvSpPr>
        <p:spPr>
          <a:xfrm>
            <a:off x="548640" y="1481328"/>
            <a:ext cx="822960" cy="329184"/>
          </a:xfrm>
          <a:prstGeom prst="rect">
            <a:avLst/>
          </a:prstGeom>
          <a:noFill/>
          <a:ln/>
        </p:spPr>
        <p:txBody>
          <a:bodyPr wrap="square" lIns="0" tIns="0" rIns="0" bIns="0" rtlCol="0" anchor="ctr"/>
          <a:lstStyle/>
          <a:p>
            <a:pPr indent="0" marL="0">
              <a:buNone/>
            </a:pPr>
            <a:r>
              <a:rPr lang="en-US" sz="1400" b="1" dirty="0">
                <a:solidFill>
                  <a:schemeClr val="accent6"/>
                </a:solidFill>
              </a:rPr>
              <a:t>Filters</a:t>
            </a:r>
            <a:endParaRPr lang="en-US" sz="1400" dirty="0"/>
          </a:p>
        </p:txBody>
      </p:sp>
      <p:sp>
        <p:nvSpPr>
          <p:cNvPr id="5" name="Text 3"/>
          <p:cNvSpPr/>
          <p:nvPr/>
        </p:nvSpPr>
        <p:spPr>
          <a:xfrm>
            <a:off x="1371600" y="1481328"/>
            <a:ext cx="1645920" cy="329184"/>
          </a:xfrm>
          <a:prstGeom prst="roundRect">
            <a:avLst>
              <a:gd name="adj" fmla="val 83333"/>
            </a:avLst>
          </a:prstGeom>
          <a:solidFill>
            <a:schemeClr val="accent5"/>
          </a:solidFill>
          <a:ln/>
        </p:spPr>
        <p:txBody>
          <a:bodyPr wrap="square" lIns="0" tIns="1016" rIns="1016" bIns="0" rtlCol="0" anchor="ctr"/>
          <a:lstStyle/>
          <a:p>
            <a:pPr algn="ctr" indent="0" marL="0">
              <a:buNone/>
            </a:pPr>
            <a:r>
              <a:rPr lang="en-US" sz="1300" b="1" dirty="0">
                <a:solidFill>
                  <a:schemeClr val="tx2"/>
                </a:solidFill>
              </a:rPr>
              <a:t>Destination</a:t>
            </a:r>
            <a:endParaRPr lang="en-US" sz="1300" dirty="0"/>
          </a:p>
        </p:txBody>
      </p:sp>
      <p:sp>
        <p:nvSpPr>
          <p:cNvPr id="6" name="Text 4"/>
          <p:cNvSpPr/>
          <p:nvPr/>
        </p:nvSpPr>
        <p:spPr>
          <a:xfrm>
            <a:off x="3154680" y="1481328"/>
            <a:ext cx="1645920" cy="329184"/>
          </a:xfrm>
          <a:prstGeom prst="roundRect">
            <a:avLst>
              <a:gd name="adj" fmla="val 83333"/>
            </a:avLst>
          </a:prstGeom>
          <a:solidFill>
            <a:schemeClr val="accent5"/>
          </a:solidFill>
          <a:ln/>
        </p:spPr>
        <p:txBody>
          <a:bodyPr wrap="square" lIns="0" tIns="1016" rIns="1016" bIns="0" rtlCol="0" anchor="ctr"/>
          <a:lstStyle/>
          <a:p>
            <a:pPr algn="ctr" indent="0" marL="0">
              <a:buNone/>
            </a:pPr>
            <a:r>
              <a:rPr lang="en-US" sz="1300" b="1" dirty="0">
                <a:solidFill>
                  <a:schemeClr val="tx2"/>
                </a:solidFill>
              </a:rPr>
              <a:t>Travel type</a:t>
            </a:r>
            <a:endParaRPr lang="en-US" sz="1300" dirty="0"/>
          </a:p>
        </p:txBody>
      </p:sp>
      <p:sp>
        <p:nvSpPr>
          <p:cNvPr id="7" name="Text 5"/>
          <p:cNvSpPr/>
          <p:nvPr/>
        </p:nvSpPr>
        <p:spPr>
          <a:xfrm>
            <a:off x="4937760" y="1481328"/>
            <a:ext cx="1645920" cy="329184"/>
          </a:xfrm>
          <a:prstGeom prst="roundRect">
            <a:avLst>
              <a:gd name="adj" fmla="val 83333"/>
            </a:avLst>
          </a:prstGeom>
          <a:solidFill>
            <a:schemeClr val="accent5"/>
          </a:solidFill>
          <a:ln/>
        </p:spPr>
        <p:txBody>
          <a:bodyPr wrap="square" lIns="0" tIns="1016" rIns="1016" bIns="0" rtlCol="0" anchor="ctr"/>
          <a:lstStyle/>
          <a:p>
            <a:pPr algn="ctr" indent="0" marL="0">
              <a:buNone/>
            </a:pPr>
            <a:r>
              <a:rPr lang="en-US" sz="1300" b="1" dirty="0">
                <a:solidFill>
                  <a:schemeClr val="tx2"/>
                </a:solidFill>
              </a:rPr>
              <a:t>Rating range</a:t>
            </a:r>
            <a:endParaRPr lang="en-US" sz="1300" dirty="0"/>
          </a:p>
        </p:txBody>
      </p:sp>
      <p:sp>
        <p:nvSpPr>
          <p:cNvPr id="8" name="Shape 6"/>
          <p:cNvSpPr/>
          <p:nvPr/>
        </p:nvSpPr>
        <p:spPr>
          <a:xfrm>
            <a:off x="548640" y="2011680"/>
            <a:ext cx="3291840" cy="1920240"/>
          </a:xfrm>
          <a:prstGeom prst="roundRect">
            <a:avLst>
              <a:gd name="adj" fmla="val 5714"/>
            </a:avLst>
          </a:prstGeom>
          <a:solidFill>
            <a:schemeClr val="bg1"/>
          </a:solidFill>
          <a:ln w="19050">
            <a:solidFill>
              <a:schemeClr val="accent1"/>
            </a:solidFill>
            <a:prstDash val="solid"/>
          </a:ln>
          <a:effectLst>
            <a:outerShdw sx="100000" sy="100000" kx="0" ky="0" algn="bl" rotWithShape="0" blurRad="101600" dist="25400" dir="5400000">
              <a:srgbClr val="1B2B24">
                <a:alpha val="14000"/>
              </a:srgbClr>
            </a:outerShdw>
          </a:effectLst>
        </p:spPr>
      </p:sp>
      <p:sp>
        <p:nvSpPr>
          <p:cNvPr id="9" name="Text 7"/>
          <p:cNvSpPr txBox="1"/>
          <p:nvPr/>
        </p:nvSpPr>
        <p:spPr>
          <a:xfrm>
            <a:off x="731520" y="2103120"/>
            <a:ext cx="2926080" cy="320040"/>
          </a:xfrm>
          <a:prstGeom prst="rect">
            <a:avLst/>
          </a:prstGeom>
          <a:noFill/>
          <a:ln/>
        </p:spPr>
        <p:txBody>
          <a:bodyPr wrap="square" lIns="0" tIns="0" rIns="0" bIns="0" rtlCol="0" anchor="t"/>
          <a:lstStyle/>
          <a:p>
            <a:pPr indent="0" marL="0">
              <a:buNone/>
            </a:pPr>
            <a:r>
              <a:rPr lang="en-US" sz="1500" b="1" dirty="0">
                <a:solidFill>
                  <a:schemeClr val="tx2"/>
                </a:solidFill>
              </a:rPr>
              <a:t>BM25 keyword ranking</a:t>
            </a:r>
            <a:endParaRPr lang="en-US" sz="1500" dirty="0"/>
          </a:p>
        </p:txBody>
      </p:sp>
      <p:sp>
        <p:nvSpPr>
          <p:cNvPr id="10" name="Text 8"/>
          <p:cNvSpPr txBox="1"/>
          <p:nvPr/>
        </p:nvSpPr>
        <p:spPr>
          <a:xfrm>
            <a:off x="731520" y="2395728"/>
            <a:ext cx="2926080" cy="256032"/>
          </a:xfrm>
          <a:prstGeom prst="rect">
            <a:avLst/>
          </a:prstGeom>
          <a:noFill/>
          <a:ln/>
        </p:spPr>
        <p:txBody>
          <a:bodyPr wrap="square" lIns="0" tIns="0" rIns="0" bIns="0" rtlCol="0" anchor="t"/>
          <a:lstStyle/>
          <a:p>
            <a:pPr indent="0" marL="0">
              <a:buNone/>
            </a:pPr>
            <a:r>
              <a:rPr lang="en-US" sz="1200" dirty="0">
                <a:solidFill>
                  <a:schemeClr val="accent6"/>
                </a:solidFill>
              </a:rPr>
              <a:t>Finds useful keyword matches</a:t>
            </a:r>
            <a:endParaRPr lang="en-US" sz="1200" dirty="0"/>
          </a:p>
        </p:txBody>
      </p:sp>
      <p:sp>
        <p:nvSpPr>
          <p:cNvPr id="11" name="Shape 9"/>
          <p:cNvSpPr/>
          <p:nvPr/>
        </p:nvSpPr>
        <p:spPr>
          <a:xfrm>
            <a:off x="731520" y="2724912"/>
            <a:ext cx="237744" cy="237744"/>
          </a:xfrm>
          <a:prstGeom prst="ellipse">
            <a:avLst/>
          </a:prstGeom>
          <a:solidFill>
            <a:schemeClr val="accent1"/>
          </a:solidFill>
          <a:ln w="12700">
            <a:solidFill>
              <a:schemeClr val="accent1"/>
            </a:solidFill>
            <a:prstDash val="solid"/>
          </a:ln>
        </p:spPr>
      </p:sp>
      <p:sp>
        <p:nvSpPr>
          <p:cNvPr id="12" name="Text 10"/>
          <p:cNvSpPr txBox="1"/>
          <p:nvPr/>
        </p:nvSpPr>
        <p:spPr>
          <a:xfrm>
            <a:off x="731520" y="2724912"/>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3" name="Text 11"/>
          <p:cNvSpPr txBox="1"/>
          <p:nvPr/>
        </p:nvSpPr>
        <p:spPr>
          <a:xfrm>
            <a:off x="1115568" y="2724912"/>
            <a:ext cx="2468880" cy="237744"/>
          </a:xfrm>
          <a:prstGeom prst="rect">
            <a:avLst/>
          </a:prstGeom>
          <a:noFill/>
          <a:ln/>
        </p:spPr>
        <p:txBody>
          <a:bodyPr wrap="square" lIns="0" tIns="0" rIns="0" bIns="0" rtlCol="0" anchor="ctr"/>
          <a:lstStyle/>
          <a:p>
            <a:pPr indent="0" marL="0">
              <a:buNone/>
            </a:pPr>
            <a:r>
              <a:rPr lang="en-US" sz="1400" dirty="0">
                <a:solidFill>
                  <a:schemeClr val="tx1"/>
                </a:solidFill>
              </a:rPr>
              <a:t>Record A</a:t>
            </a:r>
            <a:endParaRPr lang="en-US" sz="1400" dirty="0"/>
          </a:p>
        </p:txBody>
      </p:sp>
      <p:sp>
        <p:nvSpPr>
          <p:cNvPr id="14" name="Shape 12"/>
          <p:cNvSpPr/>
          <p:nvPr/>
        </p:nvSpPr>
        <p:spPr>
          <a:xfrm>
            <a:off x="731520" y="3008376"/>
            <a:ext cx="237744" cy="237744"/>
          </a:xfrm>
          <a:prstGeom prst="ellipse">
            <a:avLst/>
          </a:prstGeom>
          <a:solidFill>
            <a:schemeClr val="accent1"/>
          </a:solidFill>
          <a:ln w="12700">
            <a:solidFill>
              <a:schemeClr val="accent1"/>
            </a:solidFill>
            <a:prstDash val="solid"/>
          </a:ln>
        </p:spPr>
      </p:sp>
      <p:sp>
        <p:nvSpPr>
          <p:cNvPr id="15" name="Text 13"/>
          <p:cNvSpPr txBox="1"/>
          <p:nvPr/>
        </p:nvSpPr>
        <p:spPr>
          <a:xfrm>
            <a:off x="731520" y="3008376"/>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Text 14"/>
          <p:cNvSpPr txBox="1"/>
          <p:nvPr/>
        </p:nvSpPr>
        <p:spPr>
          <a:xfrm>
            <a:off x="1115568" y="3008376"/>
            <a:ext cx="2468880" cy="237744"/>
          </a:xfrm>
          <a:prstGeom prst="rect">
            <a:avLst/>
          </a:prstGeom>
          <a:noFill/>
          <a:ln/>
        </p:spPr>
        <p:txBody>
          <a:bodyPr wrap="square" lIns="0" tIns="0" rIns="0" bIns="0" rtlCol="0" anchor="ctr"/>
          <a:lstStyle/>
          <a:p>
            <a:pPr indent="0" marL="0">
              <a:buNone/>
            </a:pPr>
            <a:r>
              <a:rPr lang="en-US" sz="1400" dirty="0">
                <a:solidFill>
                  <a:schemeClr val="tx1"/>
                </a:solidFill>
              </a:rPr>
              <a:t>Record C</a:t>
            </a:r>
            <a:endParaRPr lang="en-US" sz="1400" dirty="0"/>
          </a:p>
        </p:txBody>
      </p:sp>
      <p:sp>
        <p:nvSpPr>
          <p:cNvPr id="17" name="Shape 15"/>
          <p:cNvSpPr/>
          <p:nvPr/>
        </p:nvSpPr>
        <p:spPr>
          <a:xfrm>
            <a:off x="731520" y="3291840"/>
            <a:ext cx="237744" cy="237744"/>
          </a:xfrm>
          <a:prstGeom prst="ellipse">
            <a:avLst/>
          </a:prstGeom>
          <a:solidFill>
            <a:schemeClr val="accent1"/>
          </a:solidFill>
          <a:ln w="12700">
            <a:solidFill>
              <a:schemeClr val="accent1"/>
            </a:solidFill>
            <a:prstDash val="solid"/>
          </a:ln>
        </p:spPr>
      </p:sp>
      <p:sp>
        <p:nvSpPr>
          <p:cNvPr id="18" name="Text 16"/>
          <p:cNvSpPr txBox="1"/>
          <p:nvPr/>
        </p:nvSpPr>
        <p:spPr>
          <a:xfrm>
            <a:off x="731520" y="3291840"/>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9" name="Text 17"/>
          <p:cNvSpPr txBox="1"/>
          <p:nvPr/>
        </p:nvSpPr>
        <p:spPr>
          <a:xfrm>
            <a:off x="1115568" y="3291840"/>
            <a:ext cx="2468880" cy="237744"/>
          </a:xfrm>
          <a:prstGeom prst="rect">
            <a:avLst/>
          </a:prstGeom>
          <a:noFill/>
          <a:ln/>
        </p:spPr>
        <p:txBody>
          <a:bodyPr wrap="square" lIns="0" tIns="0" rIns="0" bIns="0" rtlCol="0" anchor="ctr"/>
          <a:lstStyle/>
          <a:p>
            <a:pPr indent="0" marL="0">
              <a:buNone/>
            </a:pPr>
            <a:r>
              <a:rPr lang="en-US" sz="1400" dirty="0">
                <a:solidFill>
                  <a:schemeClr val="tx1"/>
                </a:solidFill>
              </a:rPr>
              <a:t>Record B</a:t>
            </a:r>
            <a:endParaRPr lang="en-US" sz="1400" dirty="0"/>
          </a:p>
        </p:txBody>
      </p:sp>
      <p:sp>
        <p:nvSpPr>
          <p:cNvPr id="20" name="Shape 18"/>
          <p:cNvSpPr/>
          <p:nvPr/>
        </p:nvSpPr>
        <p:spPr>
          <a:xfrm>
            <a:off x="731520" y="3575304"/>
            <a:ext cx="237744" cy="237744"/>
          </a:xfrm>
          <a:prstGeom prst="ellipse">
            <a:avLst/>
          </a:prstGeom>
          <a:solidFill>
            <a:schemeClr val="accent1"/>
          </a:solidFill>
          <a:ln w="12700">
            <a:solidFill>
              <a:schemeClr val="accent1"/>
            </a:solidFill>
            <a:prstDash val="solid"/>
          </a:ln>
        </p:spPr>
      </p:sp>
      <p:sp>
        <p:nvSpPr>
          <p:cNvPr id="21" name="Text 19"/>
          <p:cNvSpPr txBox="1"/>
          <p:nvPr/>
        </p:nvSpPr>
        <p:spPr>
          <a:xfrm>
            <a:off x="731520" y="3575304"/>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2" name="Text 20"/>
          <p:cNvSpPr txBox="1"/>
          <p:nvPr/>
        </p:nvSpPr>
        <p:spPr>
          <a:xfrm>
            <a:off x="1115568" y="3575304"/>
            <a:ext cx="2468880" cy="237744"/>
          </a:xfrm>
          <a:prstGeom prst="rect">
            <a:avLst/>
          </a:prstGeom>
          <a:noFill/>
          <a:ln/>
        </p:spPr>
        <p:txBody>
          <a:bodyPr wrap="square" lIns="0" tIns="0" rIns="0" bIns="0" rtlCol="0" anchor="ctr"/>
          <a:lstStyle/>
          <a:p>
            <a:pPr indent="0" marL="0">
              <a:buNone/>
            </a:pPr>
            <a:r>
              <a:rPr lang="en-US" sz="1400" dirty="0">
                <a:solidFill>
                  <a:schemeClr val="tx1"/>
                </a:solidFill>
              </a:rPr>
              <a:t>Record D</a:t>
            </a:r>
            <a:endParaRPr lang="en-US" sz="1400" dirty="0"/>
          </a:p>
        </p:txBody>
      </p:sp>
      <p:sp>
        <p:nvSpPr>
          <p:cNvPr id="23" name="Shape 21"/>
          <p:cNvSpPr/>
          <p:nvPr/>
        </p:nvSpPr>
        <p:spPr>
          <a:xfrm>
            <a:off x="548640" y="4114800"/>
            <a:ext cx="3291840" cy="1920240"/>
          </a:xfrm>
          <a:prstGeom prst="roundRect">
            <a:avLst>
              <a:gd name="adj" fmla="val 5714"/>
            </a:avLst>
          </a:prstGeom>
          <a:solidFill>
            <a:schemeClr val="bg1"/>
          </a:solidFill>
          <a:ln w="19050">
            <a:solidFill>
              <a:schemeClr val="accent4"/>
            </a:solidFill>
            <a:prstDash val="solid"/>
          </a:ln>
          <a:effectLst>
            <a:outerShdw sx="100000" sy="100000" kx="0" ky="0" algn="bl" rotWithShape="0" blurRad="101600" dist="25400" dir="5400000">
              <a:srgbClr val="1B2B24">
                <a:alpha val="14000"/>
              </a:srgbClr>
            </a:outerShdw>
          </a:effectLst>
        </p:spPr>
      </p:sp>
      <p:sp>
        <p:nvSpPr>
          <p:cNvPr id="24" name="Text 22"/>
          <p:cNvSpPr txBox="1"/>
          <p:nvPr/>
        </p:nvSpPr>
        <p:spPr>
          <a:xfrm>
            <a:off x="731520" y="4206240"/>
            <a:ext cx="2926080" cy="320040"/>
          </a:xfrm>
          <a:prstGeom prst="rect">
            <a:avLst/>
          </a:prstGeom>
          <a:noFill/>
          <a:ln/>
        </p:spPr>
        <p:txBody>
          <a:bodyPr wrap="square" lIns="0" tIns="0" rIns="0" bIns="0" rtlCol="0" anchor="t"/>
          <a:lstStyle/>
          <a:p>
            <a:pPr indent="0" marL="0">
              <a:buNone/>
            </a:pPr>
            <a:r>
              <a:rPr lang="en-US" sz="1500" b="1" dirty="0">
                <a:solidFill>
                  <a:schemeClr val="tx2"/>
                </a:solidFill>
              </a:rPr>
              <a:t>Vector similarity ranking</a:t>
            </a:r>
            <a:endParaRPr lang="en-US" sz="1500" dirty="0"/>
          </a:p>
        </p:txBody>
      </p:sp>
      <p:sp>
        <p:nvSpPr>
          <p:cNvPr id="25" name="Text 23"/>
          <p:cNvSpPr txBox="1"/>
          <p:nvPr/>
        </p:nvSpPr>
        <p:spPr>
          <a:xfrm>
            <a:off x="731520" y="4498848"/>
            <a:ext cx="2926080" cy="256032"/>
          </a:xfrm>
          <a:prstGeom prst="rect">
            <a:avLst/>
          </a:prstGeom>
          <a:noFill/>
          <a:ln/>
        </p:spPr>
        <p:txBody>
          <a:bodyPr wrap="square" lIns="0" tIns="0" rIns="0" bIns="0" rtlCol="0" anchor="t"/>
          <a:lstStyle/>
          <a:p>
            <a:pPr indent="0" marL="0">
              <a:buNone/>
            </a:pPr>
            <a:r>
              <a:rPr lang="en-US" sz="1200" dirty="0">
                <a:solidFill>
                  <a:schemeClr val="accent6"/>
                </a:solidFill>
              </a:rPr>
              <a:t>Finds semantically related records</a:t>
            </a:r>
            <a:endParaRPr lang="en-US" sz="1200" dirty="0"/>
          </a:p>
        </p:txBody>
      </p:sp>
      <p:sp>
        <p:nvSpPr>
          <p:cNvPr id="26" name="Shape 24"/>
          <p:cNvSpPr/>
          <p:nvPr/>
        </p:nvSpPr>
        <p:spPr>
          <a:xfrm>
            <a:off x="731520" y="4828032"/>
            <a:ext cx="237744" cy="237744"/>
          </a:xfrm>
          <a:prstGeom prst="ellipse">
            <a:avLst/>
          </a:prstGeom>
          <a:solidFill>
            <a:schemeClr val="accent4"/>
          </a:solidFill>
          <a:ln w="12700">
            <a:solidFill>
              <a:schemeClr val="accent4"/>
            </a:solidFill>
            <a:prstDash val="solid"/>
          </a:ln>
        </p:spPr>
      </p:sp>
      <p:sp>
        <p:nvSpPr>
          <p:cNvPr id="27" name="Text 25"/>
          <p:cNvSpPr txBox="1"/>
          <p:nvPr/>
        </p:nvSpPr>
        <p:spPr>
          <a:xfrm>
            <a:off x="731520" y="4828032"/>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8" name="Text 26"/>
          <p:cNvSpPr txBox="1"/>
          <p:nvPr/>
        </p:nvSpPr>
        <p:spPr>
          <a:xfrm>
            <a:off x="1115568" y="4828032"/>
            <a:ext cx="2468880" cy="237744"/>
          </a:xfrm>
          <a:prstGeom prst="rect">
            <a:avLst/>
          </a:prstGeom>
          <a:noFill/>
          <a:ln/>
        </p:spPr>
        <p:txBody>
          <a:bodyPr wrap="square" lIns="0" tIns="0" rIns="0" bIns="0" rtlCol="0" anchor="ctr"/>
          <a:lstStyle/>
          <a:p>
            <a:pPr indent="0" marL="0">
              <a:buNone/>
            </a:pPr>
            <a:r>
              <a:rPr lang="en-US" sz="1400" dirty="0">
                <a:solidFill>
                  <a:schemeClr val="tx1"/>
                </a:solidFill>
              </a:rPr>
              <a:t>Record B</a:t>
            </a:r>
            <a:endParaRPr lang="en-US" sz="1400" dirty="0"/>
          </a:p>
        </p:txBody>
      </p:sp>
      <p:sp>
        <p:nvSpPr>
          <p:cNvPr id="29" name="Shape 27"/>
          <p:cNvSpPr/>
          <p:nvPr/>
        </p:nvSpPr>
        <p:spPr>
          <a:xfrm>
            <a:off x="731520" y="5111496"/>
            <a:ext cx="237744" cy="237744"/>
          </a:xfrm>
          <a:prstGeom prst="ellipse">
            <a:avLst/>
          </a:prstGeom>
          <a:solidFill>
            <a:schemeClr val="accent4"/>
          </a:solidFill>
          <a:ln w="12700">
            <a:solidFill>
              <a:schemeClr val="accent4"/>
            </a:solidFill>
            <a:prstDash val="solid"/>
          </a:ln>
        </p:spPr>
      </p:sp>
      <p:sp>
        <p:nvSpPr>
          <p:cNvPr id="30" name="Text 28"/>
          <p:cNvSpPr txBox="1"/>
          <p:nvPr/>
        </p:nvSpPr>
        <p:spPr>
          <a:xfrm>
            <a:off x="731520" y="5111496"/>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31" name="Text 29"/>
          <p:cNvSpPr txBox="1"/>
          <p:nvPr/>
        </p:nvSpPr>
        <p:spPr>
          <a:xfrm>
            <a:off x="1115568" y="5111496"/>
            <a:ext cx="2468880" cy="237744"/>
          </a:xfrm>
          <a:prstGeom prst="rect">
            <a:avLst/>
          </a:prstGeom>
          <a:noFill/>
          <a:ln/>
        </p:spPr>
        <p:txBody>
          <a:bodyPr wrap="square" lIns="0" tIns="0" rIns="0" bIns="0" rtlCol="0" anchor="ctr"/>
          <a:lstStyle/>
          <a:p>
            <a:pPr indent="0" marL="0">
              <a:buNone/>
            </a:pPr>
            <a:r>
              <a:rPr lang="en-US" sz="1400" dirty="0">
                <a:solidFill>
                  <a:schemeClr val="tx1"/>
                </a:solidFill>
              </a:rPr>
              <a:t>Record A</a:t>
            </a:r>
            <a:endParaRPr lang="en-US" sz="1400" dirty="0"/>
          </a:p>
        </p:txBody>
      </p:sp>
      <p:sp>
        <p:nvSpPr>
          <p:cNvPr id="32" name="Shape 30"/>
          <p:cNvSpPr/>
          <p:nvPr/>
        </p:nvSpPr>
        <p:spPr>
          <a:xfrm>
            <a:off x="731520" y="5394960"/>
            <a:ext cx="237744" cy="237744"/>
          </a:xfrm>
          <a:prstGeom prst="ellipse">
            <a:avLst/>
          </a:prstGeom>
          <a:solidFill>
            <a:schemeClr val="accent4"/>
          </a:solidFill>
          <a:ln w="12700">
            <a:solidFill>
              <a:schemeClr val="accent4"/>
            </a:solidFill>
            <a:prstDash val="solid"/>
          </a:ln>
        </p:spPr>
      </p:sp>
      <p:sp>
        <p:nvSpPr>
          <p:cNvPr id="33" name="Text 31"/>
          <p:cNvSpPr txBox="1"/>
          <p:nvPr/>
        </p:nvSpPr>
        <p:spPr>
          <a:xfrm>
            <a:off x="731520" y="5394960"/>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34" name="Text 32"/>
          <p:cNvSpPr txBox="1"/>
          <p:nvPr/>
        </p:nvSpPr>
        <p:spPr>
          <a:xfrm>
            <a:off x="1115568" y="5394960"/>
            <a:ext cx="2468880" cy="237744"/>
          </a:xfrm>
          <a:prstGeom prst="rect">
            <a:avLst/>
          </a:prstGeom>
          <a:noFill/>
          <a:ln/>
        </p:spPr>
        <p:txBody>
          <a:bodyPr wrap="square" lIns="0" tIns="0" rIns="0" bIns="0" rtlCol="0" anchor="ctr"/>
          <a:lstStyle/>
          <a:p>
            <a:pPr indent="0" marL="0">
              <a:buNone/>
            </a:pPr>
            <a:r>
              <a:rPr lang="en-US" sz="1400" dirty="0">
                <a:solidFill>
                  <a:schemeClr val="tx1"/>
                </a:solidFill>
              </a:rPr>
              <a:t>Record D</a:t>
            </a:r>
            <a:endParaRPr lang="en-US" sz="1400" dirty="0"/>
          </a:p>
        </p:txBody>
      </p:sp>
      <p:sp>
        <p:nvSpPr>
          <p:cNvPr id="35" name="Shape 33"/>
          <p:cNvSpPr/>
          <p:nvPr/>
        </p:nvSpPr>
        <p:spPr>
          <a:xfrm>
            <a:off x="731520" y="5678424"/>
            <a:ext cx="237744" cy="237744"/>
          </a:xfrm>
          <a:prstGeom prst="ellipse">
            <a:avLst/>
          </a:prstGeom>
          <a:solidFill>
            <a:schemeClr val="accent4"/>
          </a:solidFill>
          <a:ln w="12700">
            <a:solidFill>
              <a:schemeClr val="accent4"/>
            </a:solidFill>
            <a:prstDash val="solid"/>
          </a:ln>
        </p:spPr>
      </p:sp>
      <p:sp>
        <p:nvSpPr>
          <p:cNvPr id="36" name="Text 34"/>
          <p:cNvSpPr txBox="1"/>
          <p:nvPr/>
        </p:nvSpPr>
        <p:spPr>
          <a:xfrm>
            <a:off x="731520" y="5678424"/>
            <a:ext cx="237744" cy="237744"/>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37" name="Text 35"/>
          <p:cNvSpPr txBox="1"/>
          <p:nvPr/>
        </p:nvSpPr>
        <p:spPr>
          <a:xfrm>
            <a:off x="1115568" y="5678424"/>
            <a:ext cx="2468880" cy="237744"/>
          </a:xfrm>
          <a:prstGeom prst="rect">
            <a:avLst/>
          </a:prstGeom>
          <a:noFill/>
          <a:ln/>
        </p:spPr>
        <p:txBody>
          <a:bodyPr wrap="square" lIns="0" tIns="0" rIns="0" bIns="0" rtlCol="0" anchor="ctr"/>
          <a:lstStyle/>
          <a:p>
            <a:pPr indent="0" marL="0">
              <a:buNone/>
            </a:pPr>
            <a:r>
              <a:rPr lang="en-US" sz="1400" dirty="0">
                <a:solidFill>
                  <a:schemeClr val="tx1"/>
                </a:solidFill>
              </a:rPr>
              <a:t>Record C</a:t>
            </a:r>
            <a:endParaRPr lang="en-US" sz="1400" dirty="0"/>
          </a:p>
        </p:txBody>
      </p:sp>
      <p:sp>
        <p:nvSpPr>
          <p:cNvPr id="38" name="Shape 36"/>
          <p:cNvSpPr/>
          <p:nvPr/>
        </p:nvSpPr>
        <p:spPr>
          <a:xfrm>
            <a:off x="4572000" y="3246120"/>
            <a:ext cx="2468880" cy="1828800"/>
          </a:xfrm>
          <a:prstGeom prst="roundRect">
            <a:avLst>
              <a:gd name="adj" fmla="val 6000"/>
            </a:avLst>
          </a:prstGeom>
          <a:solidFill>
            <a:schemeClr val="tx2"/>
          </a:solidFill>
          <a:ln w="12700">
            <a:solidFill>
              <a:schemeClr val="tx2"/>
            </a:solidFill>
            <a:prstDash val="solid"/>
          </a:ln>
          <a:effectLst>
            <a:outerShdw sx="100000" sy="100000" kx="0" ky="0" algn="bl" rotWithShape="0" blurRad="101600" dist="25400" dir="5400000">
              <a:srgbClr val="1B2B24">
                <a:alpha val="14000"/>
              </a:srgbClr>
            </a:outerShdw>
          </a:effectLst>
        </p:spPr>
      </p:sp>
      <p:sp>
        <p:nvSpPr>
          <p:cNvPr id="39" name="Text 37"/>
          <p:cNvSpPr txBox="1"/>
          <p:nvPr/>
        </p:nvSpPr>
        <p:spPr>
          <a:xfrm>
            <a:off x="4709160" y="3383280"/>
            <a:ext cx="2194560" cy="1554480"/>
          </a:xfrm>
          <a:prstGeom prst="rect">
            <a:avLst/>
          </a:prstGeom>
          <a:noFill/>
          <a:ln/>
        </p:spPr>
        <p:txBody>
          <a:bodyPr wrap="square" lIns="0" tIns="0" rIns="0" bIns="0" rtlCol="0" anchor="ctr"/>
          <a:lstStyle/>
          <a:p>
            <a:pPr algn="ctr" indent="0" marL="0">
              <a:buNone/>
            </a:pPr>
            <a:r>
              <a:rPr lang="en-US" sz="1700" b="1" dirty="0">
                <a:solidFill>
                  <a:schemeClr val="bg2"/>
                </a:solidFill>
              </a:rPr>
              <a:t>Reciprocal Rank Fusion</a:t>
            </a:r>
            <a:endParaRPr lang="en-US" sz="1600" dirty="0"/>
          </a:p>
          <a:p>
            <a:pPr algn="ctr" indent="0" marL="0">
              <a:buNone/>
            </a:pPr>
            <a:r>
              <a:rPr lang="en-US" sz="1500" dirty="0">
                <a:solidFill>
                  <a:schemeClr val="accent2"/>
                </a:solidFill>
              </a:rPr>
              <a:t>constant 60</a:t>
            </a:r>
            <a:endParaRPr lang="en-US" sz="1600" dirty="0"/>
          </a:p>
          <a:p>
            <a:pPr algn="ctr" indent="0" marL="0">
              <a:buNone/>
            </a:pPr>
            <a:r>
              <a:rPr lang="en-US" sz="1400" dirty="0">
                <a:solidFill>
                  <a:schemeClr val="bg2"/>
                </a:solidFill>
              </a:rPr>
              <a:t>score = Σ 1 / (60 + rank)</a:t>
            </a:r>
            <a:endParaRPr lang="en-US" sz="1600" dirty="0"/>
          </a:p>
        </p:txBody>
      </p:sp>
      <p:sp>
        <p:nvSpPr>
          <p:cNvPr id="40" name="Shape 38"/>
          <p:cNvSpPr/>
          <p:nvPr/>
        </p:nvSpPr>
        <p:spPr>
          <a:xfrm>
            <a:off x="3840480" y="3017520"/>
            <a:ext cx="731520" cy="822960"/>
          </a:xfrm>
          <a:prstGeom prst="line">
            <a:avLst/>
          </a:prstGeom>
          <a:noFill/>
          <a:ln w="31750">
            <a:solidFill>
              <a:schemeClr val="accent1"/>
            </a:solidFill>
            <a:prstDash val="solid"/>
            <a:tailEnd type="triangle"/>
          </a:ln>
        </p:spPr>
      </p:sp>
      <p:sp>
        <p:nvSpPr>
          <p:cNvPr id="41" name="Shape 39"/>
          <p:cNvSpPr/>
          <p:nvPr/>
        </p:nvSpPr>
        <p:spPr>
          <a:xfrm flipV="1">
            <a:off x="3840480" y="4480560"/>
            <a:ext cx="731520" cy="640080"/>
          </a:xfrm>
          <a:prstGeom prst="line">
            <a:avLst/>
          </a:prstGeom>
          <a:noFill/>
          <a:ln w="31750">
            <a:solidFill>
              <a:schemeClr val="accent4"/>
            </a:solidFill>
            <a:prstDash val="solid"/>
            <a:tailEnd type="triangle"/>
          </a:ln>
        </p:spPr>
      </p:sp>
      <p:sp>
        <p:nvSpPr>
          <p:cNvPr id="42" name="Shape 40"/>
          <p:cNvSpPr/>
          <p:nvPr/>
        </p:nvSpPr>
        <p:spPr>
          <a:xfrm>
            <a:off x="7040880" y="4160520"/>
            <a:ext cx="731520" cy="0"/>
          </a:xfrm>
          <a:prstGeom prst="line">
            <a:avLst/>
          </a:prstGeom>
          <a:noFill/>
          <a:ln w="31750">
            <a:solidFill>
              <a:schemeClr val="tx2"/>
            </a:solidFill>
            <a:prstDash val="solid"/>
            <a:tailEnd type="triangle"/>
          </a:ln>
        </p:spPr>
      </p:sp>
      <p:sp>
        <p:nvSpPr>
          <p:cNvPr id="43" name="Shape 41"/>
          <p:cNvSpPr/>
          <p:nvPr/>
        </p:nvSpPr>
        <p:spPr>
          <a:xfrm>
            <a:off x="7772400" y="3154680"/>
            <a:ext cx="3867912" cy="2057400"/>
          </a:xfrm>
          <a:prstGeom prst="roundRect">
            <a:avLst>
              <a:gd name="adj" fmla="val 5333"/>
            </a:avLst>
          </a:prstGeom>
          <a:solidFill>
            <a:schemeClr val="bg1"/>
          </a:solidFill>
          <a:ln w="25400">
            <a:solidFill>
              <a:schemeClr val="accent3"/>
            </a:solidFill>
            <a:prstDash val="solid"/>
          </a:ln>
          <a:effectLst>
            <a:outerShdw sx="100000" sy="100000" kx="0" ky="0" algn="bl" rotWithShape="0" blurRad="101600" dist="25400" dir="5400000">
              <a:srgbClr val="1B2B24">
                <a:alpha val="14000"/>
              </a:srgbClr>
            </a:outerShdw>
          </a:effectLst>
        </p:spPr>
      </p:sp>
      <p:sp>
        <p:nvSpPr>
          <p:cNvPr id="44" name="Text 42"/>
          <p:cNvSpPr txBox="1"/>
          <p:nvPr/>
        </p:nvSpPr>
        <p:spPr>
          <a:xfrm>
            <a:off x="7955280" y="3246120"/>
            <a:ext cx="3474720" cy="320040"/>
          </a:xfrm>
          <a:prstGeom prst="rect">
            <a:avLst/>
          </a:prstGeom>
          <a:noFill/>
          <a:ln/>
        </p:spPr>
        <p:txBody>
          <a:bodyPr wrap="square" lIns="0" tIns="0" rIns="0" bIns="0" rtlCol="0" anchor="t"/>
          <a:lstStyle/>
          <a:p>
            <a:pPr indent="0" marL="0">
              <a:buNone/>
            </a:pPr>
            <a:r>
              <a:rPr lang="en-US" sz="1500" b="1" dirty="0">
                <a:solidFill>
                  <a:schemeClr val="tx2"/>
                </a:solidFill>
              </a:rPr>
              <a:t>Fused evidence ranking</a:t>
            </a:r>
            <a:endParaRPr lang="en-US" sz="1500" dirty="0"/>
          </a:p>
        </p:txBody>
      </p:sp>
      <p:sp>
        <p:nvSpPr>
          <p:cNvPr id="45" name="Text 43"/>
          <p:cNvSpPr txBox="1"/>
          <p:nvPr/>
        </p:nvSpPr>
        <p:spPr>
          <a:xfrm>
            <a:off x="7955280" y="3547872"/>
            <a:ext cx="3474720" cy="256032"/>
          </a:xfrm>
          <a:prstGeom prst="rect">
            <a:avLst/>
          </a:prstGeom>
          <a:noFill/>
          <a:ln/>
        </p:spPr>
        <p:txBody>
          <a:bodyPr wrap="square" lIns="0" tIns="0" rIns="0" bIns="0" rtlCol="0" anchor="t"/>
          <a:lstStyle/>
          <a:p>
            <a:pPr indent="0" marL="0">
              <a:buNone/>
            </a:pPr>
            <a:r>
              <a:rPr lang="en-US" sz="1200" dirty="0">
                <a:solidFill>
                  <a:schemeClr val="accent6"/>
                </a:solidFill>
              </a:rPr>
              <a:t>Combined list of ranked records</a:t>
            </a:r>
            <a:endParaRPr lang="en-US" sz="1200" dirty="0"/>
          </a:p>
        </p:txBody>
      </p:sp>
      <p:sp>
        <p:nvSpPr>
          <p:cNvPr id="46" name="Shape 44"/>
          <p:cNvSpPr/>
          <p:nvPr/>
        </p:nvSpPr>
        <p:spPr>
          <a:xfrm>
            <a:off x="7955280" y="3886200"/>
            <a:ext cx="256032" cy="256032"/>
          </a:xfrm>
          <a:prstGeom prst="ellipse">
            <a:avLst/>
          </a:prstGeom>
          <a:solidFill>
            <a:schemeClr val="accent3"/>
          </a:solidFill>
          <a:ln w="12700">
            <a:solidFill>
              <a:schemeClr val="accent3"/>
            </a:solidFill>
            <a:prstDash val="solid"/>
          </a:ln>
        </p:spPr>
      </p:sp>
      <p:sp>
        <p:nvSpPr>
          <p:cNvPr id="47" name="Text 45"/>
          <p:cNvSpPr txBox="1"/>
          <p:nvPr/>
        </p:nvSpPr>
        <p:spPr>
          <a:xfrm>
            <a:off x="7955280" y="3886200"/>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8" name="Text 46"/>
          <p:cNvSpPr txBox="1"/>
          <p:nvPr/>
        </p:nvSpPr>
        <p:spPr>
          <a:xfrm>
            <a:off x="8339328" y="3886200"/>
            <a:ext cx="3108960" cy="256032"/>
          </a:xfrm>
          <a:prstGeom prst="rect">
            <a:avLst/>
          </a:prstGeom>
          <a:noFill/>
          <a:ln/>
        </p:spPr>
        <p:txBody>
          <a:bodyPr wrap="square" lIns="0" tIns="0" rIns="0" bIns="0" rtlCol="0" anchor="ctr"/>
          <a:lstStyle/>
          <a:p>
            <a:pPr indent="0" marL="0">
              <a:buNone/>
            </a:pPr>
            <a:r>
              <a:rPr lang="en-US" sz="1400" dirty="0">
                <a:solidFill>
                  <a:schemeClr val="tx1"/>
                </a:solidFill>
              </a:rPr>
              <a:t>Record A</a:t>
            </a:r>
            <a:endParaRPr lang="en-US" sz="1400" dirty="0"/>
          </a:p>
        </p:txBody>
      </p:sp>
      <p:sp>
        <p:nvSpPr>
          <p:cNvPr id="49" name="Shape 47"/>
          <p:cNvSpPr/>
          <p:nvPr/>
        </p:nvSpPr>
        <p:spPr>
          <a:xfrm>
            <a:off x="7955280" y="4197096"/>
            <a:ext cx="256032" cy="256032"/>
          </a:xfrm>
          <a:prstGeom prst="ellipse">
            <a:avLst/>
          </a:prstGeom>
          <a:solidFill>
            <a:schemeClr val="accent3"/>
          </a:solidFill>
          <a:ln w="12700">
            <a:solidFill>
              <a:schemeClr val="accent3"/>
            </a:solidFill>
            <a:prstDash val="solid"/>
          </a:ln>
        </p:spPr>
      </p:sp>
      <p:sp>
        <p:nvSpPr>
          <p:cNvPr id="50" name="Text 48"/>
          <p:cNvSpPr txBox="1"/>
          <p:nvPr/>
        </p:nvSpPr>
        <p:spPr>
          <a:xfrm>
            <a:off x="7955280" y="4197096"/>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51" name="Text 49"/>
          <p:cNvSpPr txBox="1"/>
          <p:nvPr/>
        </p:nvSpPr>
        <p:spPr>
          <a:xfrm>
            <a:off x="8339328" y="4197096"/>
            <a:ext cx="3108960" cy="256032"/>
          </a:xfrm>
          <a:prstGeom prst="rect">
            <a:avLst/>
          </a:prstGeom>
          <a:noFill/>
          <a:ln/>
        </p:spPr>
        <p:txBody>
          <a:bodyPr wrap="square" lIns="0" tIns="0" rIns="0" bIns="0" rtlCol="0" anchor="ctr"/>
          <a:lstStyle/>
          <a:p>
            <a:pPr indent="0" marL="0">
              <a:buNone/>
            </a:pPr>
            <a:r>
              <a:rPr lang="en-US" sz="1400" dirty="0">
                <a:solidFill>
                  <a:schemeClr val="tx1"/>
                </a:solidFill>
              </a:rPr>
              <a:t>Record B</a:t>
            </a:r>
            <a:endParaRPr lang="en-US" sz="1400" dirty="0"/>
          </a:p>
        </p:txBody>
      </p:sp>
      <p:sp>
        <p:nvSpPr>
          <p:cNvPr id="52" name="Shape 50"/>
          <p:cNvSpPr/>
          <p:nvPr/>
        </p:nvSpPr>
        <p:spPr>
          <a:xfrm>
            <a:off x="7955280" y="4507992"/>
            <a:ext cx="256032" cy="256032"/>
          </a:xfrm>
          <a:prstGeom prst="ellipse">
            <a:avLst/>
          </a:prstGeom>
          <a:solidFill>
            <a:schemeClr val="accent3"/>
          </a:solidFill>
          <a:ln w="12700">
            <a:solidFill>
              <a:schemeClr val="accent3"/>
            </a:solidFill>
            <a:prstDash val="solid"/>
          </a:ln>
        </p:spPr>
      </p:sp>
      <p:sp>
        <p:nvSpPr>
          <p:cNvPr id="53" name="Text 51"/>
          <p:cNvSpPr txBox="1"/>
          <p:nvPr/>
        </p:nvSpPr>
        <p:spPr>
          <a:xfrm>
            <a:off x="7955280" y="4507992"/>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54" name="Text 52"/>
          <p:cNvSpPr txBox="1"/>
          <p:nvPr/>
        </p:nvSpPr>
        <p:spPr>
          <a:xfrm>
            <a:off x="8339328" y="4507992"/>
            <a:ext cx="3108960" cy="256032"/>
          </a:xfrm>
          <a:prstGeom prst="rect">
            <a:avLst/>
          </a:prstGeom>
          <a:noFill/>
          <a:ln/>
        </p:spPr>
        <p:txBody>
          <a:bodyPr wrap="square" lIns="0" tIns="0" rIns="0" bIns="0" rtlCol="0" anchor="ctr"/>
          <a:lstStyle/>
          <a:p>
            <a:pPr indent="0" marL="0">
              <a:buNone/>
            </a:pPr>
            <a:r>
              <a:rPr lang="en-US" sz="1400" dirty="0">
                <a:solidFill>
                  <a:schemeClr val="tx1"/>
                </a:solidFill>
              </a:rPr>
              <a:t>Record C</a:t>
            </a:r>
            <a:endParaRPr lang="en-US" sz="1400" dirty="0"/>
          </a:p>
        </p:txBody>
      </p:sp>
      <p:sp>
        <p:nvSpPr>
          <p:cNvPr id="55" name="Shape 53"/>
          <p:cNvSpPr/>
          <p:nvPr/>
        </p:nvSpPr>
        <p:spPr>
          <a:xfrm>
            <a:off x="7955280" y="4818888"/>
            <a:ext cx="256032" cy="256032"/>
          </a:xfrm>
          <a:prstGeom prst="ellipse">
            <a:avLst/>
          </a:prstGeom>
          <a:solidFill>
            <a:schemeClr val="accent3"/>
          </a:solidFill>
          <a:ln w="12700">
            <a:solidFill>
              <a:schemeClr val="accent3"/>
            </a:solidFill>
            <a:prstDash val="solid"/>
          </a:ln>
        </p:spPr>
      </p:sp>
      <p:sp>
        <p:nvSpPr>
          <p:cNvPr id="56" name="Text 54"/>
          <p:cNvSpPr txBox="1"/>
          <p:nvPr/>
        </p:nvSpPr>
        <p:spPr>
          <a:xfrm>
            <a:off x="7955280" y="4818888"/>
            <a:ext cx="256032" cy="256032"/>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57" name="Text 55"/>
          <p:cNvSpPr txBox="1"/>
          <p:nvPr/>
        </p:nvSpPr>
        <p:spPr>
          <a:xfrm>
            <a:off x="8339328" y="4818888"/>
            <a:ext cx="3108960" cy="256032"/>
          </a:xfrm>
          <a:prstGeom prst="rect">
            <a:avLst/>
          </a:prstGeom>
          <a:noFill/>
          <a:ln/>
        </p:spPr>
        <p:txBody>
          <a:bodyPr wrap="square" lIns="0" tIns="0" rIns="0" bIns="0" rtlCol="0" anchor="ctr"/>
          <a:lstStyle/>
          <a:p>
            <a:pPr indent="0" marL="0">
              <a:buNone/>
            </a:pPr>
            <a:r>
              <a:rPr lang="en-US" sz="1400" dirty="0">
                <a:solidFill>
                  <a:schemeClr val="tx1"/>
                </a:solidFill>
              </a:rPr>
              <a:t>Record D</a:t>
            </a:r>
            <a:endParaRPr lang="en-US" sz="1400" dirty="0"/>
          </a:p>
        </p:txBody>
      </p:sp>
      <p:sp>
        <p:nvSpPr>
          <p:cNvPr id="58" name="Shape 56"/>
          <p:cNvSpPr/>
          <p:nvPr/>
        </p:nvSpPr>
        <p:spPr>
          <a:xfrm>
            <a:off x="7772400" y="5440680"/>
            <a:ext cx="3867912" cy="868680"/>
          </a:xfrm>
          <a:prstGeom prst="roundRect">
            <a:avLst>
              <a:gd name="adj" fmla="val 12632"/>
            </a:avLst>
          </a:prstGeom>
          <a:solidFill>
            <a:schemeClr val="accent5">
              <a:alpha val="80000"/>
            </a:schemeClr>
          </a:solidFill>
          <a:ln w="15875">
            <a:solidFill>
              <a:schemeClr val="accent3"/>
            </a:solidFill>
            <a:prstDash val="dash"/>
          </a:ln>
        </p:spPr>
      </p:sp>
      <p:sp>
        <p:nvSpPr>
          <p:cNvPr id="59" name="Text 57"/>
          <p:cNvSpPr txBox="1"/>
          <p:nvPr/>
        </p:nvSpPr>
        <p:spPr>
          <a:xfrm>
            <a:off x="7955280" y="5504688"/>
            <a:ext cx="3566160" cy="749808"/>
          </a:xfrm>
          <a:prstGeom prst="rect">
            <a:avLst/>
          </a:prstGeom>
          <a:noFill/>
          <a:ln/>
        </p:spPr>
        <p:txBody>
          <a:bodyPr wrap="square" lIns="0" tIns="0" rIns="0" bIns="0" rtlCol="0" anchor="ctr"/>
          <a:lstStyle/>
          <a:p>
            <a:pPr indent="0" marL="0">
              <a:buNone/>
            </a:pPr>
            <a:r>
              <a:rPr lang="en-US" sz="1400" b="1" dirty="0">
                <a:solidFill>
                  <a:schemeClr val="tx2"/>
                </a:solidFill>
              </a:rPr>
              <a:t>Demo runtime: TF-IDF + Chroma</a:t>
            </a:r>
            <a:endParaRPr lang="en-US" sz="1600" dirty="0"/>
          </a:p>
          <a:p>
            <a:pPr indent="0" marL="0">
              <a:buNone/>
            </a:pPr>
            <a:r>
              <a:rPr lang="en-US" sz="1400" dirty="0">
                <a:solidFill>
                  <a:schemeClr val="tx1"/>
                </a:solidFill>
              </a:rPr>
              <a:t>Default embedding option: MiniLM</a:t>
            </a:r>
            <a:endParaRPr lang="en-US" sz="1600" dirty="0"/>
          </a:p>
        </p:txBody>
      </p:sp>
      <p:sp>
        <p:nvSpPr>
          <p:cNvPr id="60" name="Text 58"/>
          <p:cNvSpPr txBox="1"/>
          <p:nvPr/>
        </p:nvSpPr>
        <p:spPr>
          <a:xfrm>
            <a:off x="548640" y="6108192"/>
            <a:ext cx="6858000" cy="228600"/>
          </a:xfrm>
          <a:prstGeom prst="rect">
            <a:avLst/>
          </a:prstGeom>
          <a:noFill/>
          <a:ln/>
        </p:spPr>
        <p:txBody>
          <a:bodyPr wrap="square" lIns="0" tIns="0" rIns="0" bIns="0" rtlCol="0" anchor="t"/>
          <a:lstStyle/>
          <a:p>
            <a:pPr indent="0" marL="0">
              <a:buNone/>
            </a:pPr>
            <a:r>
              <a:rPr lang="en-US" sz="1200" i="1" dirty="0">
                <a:solidFill>
                  <a:schemeClr val="accent6"/>
                </a:solidFill>
              </a:rPr>
              <a:t>Record names and ranks are illustrative, not real results.</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PLANNING WORKFLOW</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Small, explainable roles</a:t>
            </a:r>
            <a:endParaRPr lang="en-US" sz="3400" dirty="0"/>
          </a:p>
        </p:txBody>
      </p:sp>
      <p:sp>
        <p:nvSpPr>
          <p:cNvPr id="4" name="Shape 2"/>
          <p:cNvSpPr/>
          <p:nvPr/>
        </p:nvSpPr>
        <p:spPr>
          <a:xfrm>
            <a:off x="548640" y="1691640"/>
            <a:ext cx="2331720" cy="3200400"/>
          </a:xfrm>
          <a:prstGeom prst="roundRect">
            <a:avLst>
              <a:gd name="adj" fmla="val 4706"/>
            </a:avLst>
          </a:prstGeom>
          <a:solidFill>
            <a:schemeClr val="bg1"/>
          </a:solidFill>
          <a:ln w="19050">
            <a:solidFill>
              <a:schemeClr val="accent2"/>
            </a:solidFill>
            <a:prstDash val="solid"/>
          </a:ln>
          <a:effectLst>
            <a:outerShdw sx="100000" sy="100000" kx="0" ky="0" algn="bl" rotWithShape="0" blurRad="101600" dist="25400" dir="5400000">
              <a:srgbClr val="1B2B24">
                <a:alpha val="14000"/>
              </a:srgbClr>
            </a:outerShdw>
          </a:effectLst>
        </p:spPr>
      </p:sp>
      <p:sp>
        <p:nvSpPr>
          <p:cNvPr id="5" name="Shape 3"/>
          <p:cNvSpPr/>
          <p:nvPr/>
        </p:nvSpPr>
        <p:spPr>
          <a:xfrm>
            <a:off x="777240" y="1874520"/>
            <a:ext cx="685800" cy="685800"/>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948690" y="2045970"/>
            <a:ext cx="342900" cy="342900"/>
          </a:xfrm>
          <a:prstGeom prst="rect">
            <a:avLst/>
          </a:prstGeom>
        </p:spPr>
      </p:pic>
      <p:sp>
        <p:nvSpPr>
          <p:cNvPr id="7" name="Text 4"/>
          <p:cNvSpPr txBox="1"/>
          <p:nvPr/>
        </p:nvSpPr>
        <p:spPr>
          <a:xfrm>
            <a:off x="2240280" y="1874520"/>
            <a:ext cx="457200" cy="457200"/>
          </a:xfrm>
          <a:prstGeom prst="rect">
            <a:avLst/>
          </a:prstGeom>
          <a:noFill/>
          <a:ln/>
        </p:spPr>
        <p:txBody>
          <a:bodyPr wrap="square" lIns="0" tIns="0" rIns="0" bIns="0" rtlCol="0" anchor="t"/>
          <a:lstStyle/>
          <a:p>
            <a:pPr algn="r" indent="0" marL="0">
              <a:buNone/>
            </a:pPr>
            <a:r>
              <a:rPr lang="en-US" sz="3000" b="1" dirty="0">
                <a:solidFill>
                  <a:schemeClr val="accent2"/>
                </a:solidFill>
                <a:latin typeface="+mj-lt" pitchFamily="34" charset="0"/>
                <a:ea typeface="+mj-lt" pitchFamily="34" charset="-122"/>
                <a:cs typeface="+mj-lt" pitchFamily="34" charset="-120"/>
              </a:rPr>
              <a:t>1</a:t>
            </a:r>
            <a:endParaRPr lang="en-US" sz="3000" dirty="0"/>
          </a:p>
        </p:txBody>
      </p:sp>
      <p:sp>
        <p:nvSpPr>
          <p:cNvPr id="8" name="Text 5"/>
          <p:cNvSpPr txBox="1"/>
          <p:nvPr/>
        </p:nvSpPr>
        <p:spPr>
          <a:xfrm>
            <a:off x="777240" y="2697480"/>
            <a:ext cx="1874520" cy="640080"/>
          </a:xfrm>
          <a:prstGeom prst="rect">
            <a:avLst/>
          </a:prstGeom>
          <a:noFill/>
          <a:ln/>
        </p:spPr>
        <p:txBody>
          <a:bodyPr wrap="square" lIns="0" tIns="0" rIns="0" bIns="0" rtlCol="0" anchor="t"/>
          <a:lstStyle/>
          <a:p>
            <a:pPr indent="0" marL="0">
              <a:buNone/>
            </a:pPr>
            <a:r>
              <a:rPr lang="en-US" sz="1800" b="1" dirty="0">
                <a:solidFill>
                  <a:schemeClr val="tx2"/>
                </a:solidFill>
              </a:rPr>
              <a:t>Preference classifier</a:t>
            </a:r>
            <a:endParaRPr lang="en-US" sz="1800" dirty="0"/>
          </a:p>
        </p:txBody>
      </p:sp>
      <p:sp>
        <p:nvSpPr>
          <p:cNvPr id="9" name="Text 6"/>
          <p:cNvSpPr txBox="1"/>
          <p:nvPr/>
        </p:nvSpPr>
        <p:spPr>
          <a:xfrm>
            <a:off x="777240" y="3337560"/>
            <a:ext cx="1874520" cy="960120"/>
          </a:xfrm>
          <a:prstGeom prst="rect">
            <a:avLst/>
          </a:prstGeom>
          <a:noFill/>
          <a:ln/>
        </p:spPr>
        <p:txBody>
          <a:bodyPr wrap="square" lIns="0" tIns="0" rIns="0" bIns="0" rtlCol="0" anchor="t"/>
          <a:lstStyle/>
          <a:p>
            <a:pPr indent="0" marL="0">
              <a:buNone/>
            </a:pPr>
            <a:r>
              <a:rPr lang="en-US" sz="1400" dirty="0">
                <a:solidFill>
                  <a:schemeClr val="tx1"/>
                </a:solidFill>
              </a:rPr>
              <a:t>Interests, destination, traveler type, duration, budget cues</a:t>
            </a:r>
            <a:endParaRPr lang="en-US" sz="1400" dirty="0"/>
          </a:p>
        </p:txBody>
      </p:sp>
      <p:sp>
        <p:nvSpPr>
          <p:cNvPr id="10" name="Text 7"/>
          <p:cNvSpPr txBox="1"/>
          <p:nvPr/>
        </p:nvSpPr>
        <p:spPr>
          <a:xfrm>
            <a:off x="777240" y="4343400"/>
            <a:ext cx="1874520" cy="457200"/>
          </a:xfrm>
          <a:prstGeom prst="rect">
            <a:avLst/>
          </a:prstGeom>
          <a:noFill/>
          <a:ln/>
        </p:spPr>
        <p:txBody>
          <a:bodyPr wrap="square" lIns="0" tIns="0" rIns="0" bIns="0" rtlCol="0" anchor="b"/>
          <a:lstStyle/>
          <a:p>
            <a:pPr indent="0" marL="0">
              <a:buNone/>
            </a:pPr>
            <a:r>
              <a:rPr lang="en-US" sz="1300" b="1" dirty="0">
                <a:solidFill>
                  <a:schemeClr val="accent3"/>
                </a:solidFill>
              </a:rPr>
              <a:t>Hands off: preferences</a:t>
            </a:r>
            <a:endParaRPr lang="en-US" sz="1300" dirty="0"/>
          </a:p>
        </p:txBody>
      </p:sp>
      <p:sp>
        <p:nvSpPr>
          <p:cNvPr id="11" name="Shape 8"/>
          <p:cNvSpPr/>
          <p:nvPr/>
        </p:nvSpPr>
        <p:spPr>
          <a:xfrm>
            <a:off x="2926080" y="3291840"/>
            <a:ext cx="493776" cy="0"/>
          </a:xfrm>
          <a:prstGeom prst="line">
            <a:avLst/>
          </a:prstGeom>
          <a:noFill/>
          <a:ln w="38100">
            <a:solidFill>
              <a:schemeClr val="accent3"/>
            </a:solidFill>
            <a:prstDash val="solid"/>
            <a:tailEnd type="triangle"/>
          </a:ln>
        </p:spPr>
      </p:sp>
      <p:sp>
        <p:nvSpPr>
          <p:cNvPr id="12" name="Shape 9"/>
          <p:cNvSpPr/>
          <p:nvPr/>
        </p:nvSpPr>
        <p:spPr>
          <a:xfrm>
            <a:off x="3465576" y="1691640"/>
            <a:ext cx="2331720" cy="3200400"/>
          </a:xfrm>
          <a:prstGeom prst="roundRect">
            <a:avLst>
              <a:gd name="adj" fmla="val 4706"/>
            </a:avLst>
          </a:prstGeom>
          <a:solidFill>
            <a:schemeClr val="bg1"/>
          </a:solidFill>
          <a:ln w="19050">
            <a:solidFill>
              <a:schemeClr val="accent2"/>
            </a:solidFill>
            <a:prstDash val="solid"/>
          </a:ln>
          <a:effectLst>
            <a:outerShdw sx="100000" sy="100000" kx="0" ky="0" algn="bl" rotWithShape="0" blurRad="101600" dist="25400" dir="5400000">
              <a:srgbClr val="1B2B24">
                <a:alpha val="14000"/>
              </a:srgbClr>
            </a:outerShdw>
          </a:effectLst>
        </p:spPr>
      </p:sp>
      <p:sp>
        <p:nvSpPr>
          <p:cNvPr id="13" name="Shape 10"/>
          <p:cNvSpPr/>
          <p:nvPr/>
        </p:nvSpPr>
        <p:spPr>
          <a:xfrm>
            <a:off x="3694176" y="1874520"/>
            <a:ext cx="685800" cy="685800"/>
          </a:xfrm>
          <a:prstGeom prst="ellipse">
            <a:avLst/>
          </a:prstGeom>
          <a:solidFill>
            <a:schemeClr val="accent1"/>
          </a:solidFill>
          <a:ln w="12700">
            <a:solidFill>
              <a:schemeClr val="accent1"/>
            </a:solidFill>
            <a:prstDash val="solid"/>
          </a:ln>
        </p:spPr>
      </p:sp>
      <p:pic>
        <p:nvPicPr>
          <p:cNvPr id="14" name="Image 1" descr="icon">    </p:cNvPr>
          <p:cNvPicPr>
            <a:picLocks noChangeAspect="1"/>
          </p:cNvPicPr>
          <p:nvPr/>
        </p:nvPicPr>
        <p:blipFill>
          <a:blip r:embed="rId2"/>
          <a:stretch>
            <a:fillRect/>
          </a:stretch>
        </p:blipFill>
        <p:spPr>
          <a:xfrm>
            <a:off x="3865626" y="2045970"/>
            <a:ext cx="342900" cy="342900"/>
          </a:xfrm>
          <a:prstGeom prst="rect">
            <a:avLst/>
          </a:prstGeom>
        </p:spPr>
      </p:pic>
      <p:sp>
        <p:nvSpPr>
          <p:cNvPr id="15" name="Text 11"/>
          <p:cNvSpPr txBox="1"/>
          <p:nvPr/>
        </p:nvSpPr>
        <p:spPr>
          <a:xfrm>
            <a:off x="5157216" y="1874520"/>
            <a:ext cx="457200" cy="457200"/>
          </a:xfrm>
          <a:prstGeom prst="rect">
            <a:avLst/>
          </a:prstGeom>
          <a:noFill/>
          <a:ln/>
        </p:spPr>
        <p:txBody>
          <a:bodyPr wrap="square" lIns="0" tIns="0" rIns="0" bIns="0" rtlCol="0" anchor="t"/>
          <a:lstStyle/>
          <a:p>
            <a:pPr algn="r" indent="0" marL="0">
              <a:buNone/>
            </a:pPr>
            <a:r>
              <a:rPr lang="en-US" sz="3000" b="1" dirty="0">
                <a:solidFill>
                  <a:schemeClr val="accent2"/>
                </a:solidFill>
                <a:latin typeface="+mj-lt" pitchFamily="34" charset="0"/>
                <a:ea typeface="+mj-lt" pitchFamily="34" charset="-122"/>
                <a:cs typeface="+mj-lt" pitchFamily="34" charset="-120"/>
              </a:rPr>
              <a:t>2</a:t>
            </a:r>
            <a:endParaRPr lang="en-US" sz="3000" dirty="0"/>
          </a:p>
        </p:txBody>
      </p:sp>
      <p:sp>
        <p:nvSpPr>
          <p:cNvPr id="16" name="Text 12"/>
          <p:cNvSpPr txBox="1"/>
          <p:nvPr/>
        </p:nvSpPr>
        <p:spPr>
          <a:xfrm>
            <a:off x="3694176" y="2697480"/>
            <a:ext cx="1874520" cy="640080"/>
          </a:xfrm>
          <a:prstGeom prst="rect">
            <a:avLst/>
          </a:prstGeom>
          <a:noFill/>
          <a:ln/>
        </p:spPr>
        <p:txBody>
          <a:bodyPr wrap="square" lIns="0" tIns="0" rIns="0" bIns="0" rtlCol="0" anchor="t"/>
          <a:lstStyle/>
          <a:p>
            <a:pPr indent="0" marL="0">
              <a:buNone/>
            </a:pPr>
            <a:r>
              <a:rPr lang="en-US" sz="1800" b="1" dirty="0">
                <a:solidFill>
                  <a:schemeClr val="tx2"/>
                </a:solidFill>
              </a:rPr>
              <a:t>Retriever</a:t>
            </a:r>
            <a:endParaRPr lang="en-US" sz="1800" dirty="0"/>
          </a:p>
        </p:txBody>
      </p:sp>
      <p:sp>
        <p:nvSpPr>
          <p:cNvPr id="17" name="Text 13"/>
          <p:cNvSpPr txBox="1"/>
          <p:nvPr/>
        </p:nvSpPr>
        <p:spPr>
          <a:xfrm>
            <a:off x="3694176" y="3337560"/>
            <a:ext cx="1874520" cy="960120"/>
          </a:xfrm>
          <a:prstGeom prst="rect">
            <a:avLst/>
          </a:prstGeom>
          <a:noFill/>
          <a:ln/>
        </p:spPr>
        <p:txBody>
          <a:bodyPr wrap="square" lIns="0" tIns="0" rIns="0" bIns="0" rtlCol="0" anchor="t"/>
          <a:lstStyle/>
          <a:p>
            <a:pPr indent="0" marL="0">
              <a:buNone/>
            </a:pPr>
            <a:r>
              <a:rPr lang="en-US" sz="1400" dirty="0">
                <a:solidFill>
                  <a:schemeClr val="tx1"/>
                </a:solidFill>
              </a:rPr>
              <a:t>Hybrid search plus filters</a:t>
            </a:r>
            <a:endParaRPr lang="en-US" sz="1400" dirty="0"/>
          </a:p>
        </p:txBody>
      </p:sp>
      <p:sp>
        <p:nvSpPr>
          <p:cNvPr id="18" name="Text 14"/>
          <p:cNvSpPr txBox="1"/>
          <p:nvPr/>
        </p:nvSpPr>
        <p:spPr>
          <a:xfrm>
            <a:off x="3694176" y="4343400"/>
            <a:ext cx="1874520" cy="457200"/>
          </a:xfrm>
          <a:prstGeom prst="rect">
            <a:avLst/>
          </a:prstGeom>
          <a:noFill/>
          <a:ln/>
        </p:spPr>
        <p:txBody>
          <a:bodyPr wrap="square" lIns="0" tIns="0" rIns="0" bIns="0" rtlCol="0" anchor="b"/>
          <a:lstStyle/>
          <a:p>
            <a:pPr indent="0" marL="0">
              <a:buNone/>
            </a:pPr>
            <a:r>
              <a:rPr lang="en-US" sz="1300" b="1" dirty="0">
                <a:solidFill>
                  <a:schemeClr val="accent3"/>
                </a:solidFill>
              </a:rPr>
              <a:t>Hands off: evidence records</a:t>
            </a:r>
            <a:endParaRPr lang="en-US" sz="1300" dirty="0"/>
          </a:p>
        </p:txBody>
      </p:sp>
      <p:sp>
        <p:nvSpPr>
          <p:cNvPr id="19" name="Shape 15"/>
          <p:cNvSpPr/>
          <p:nvPr/>
        </p:nvSpPr>
        <p:spPr>
          <a:xfrm>
            <a:off x="5843016" y="3291840"/>
            <a:ext cx="493776" cy="0"/>
          </a:xfrm>
          <a:prstGeom prst="line">
            <a:avLst/>
          </a:prstGeom>
          <a:noFill/>
          <a:ln w="38100">
            <a:solidFill>
              <a:schemeClr val="accent3"/>
            </a:solidFill>
            <a:prstDash val="solid"/>
            <a:tailEnd type="triangle"/>
          </a:ln>
        </p:spPr>
      </p:sp>
      <p:sp>
        <p:nvSpPr>
          <p:cNvPr id="20" name="Shape 16"/>
          <p:cNvSpPr/>
          <p:nvPr/>
        </p:nvSpPr>
        <p:spPr>
          <a:xfrm>
            <a:off x="6382512" y="1691640"/>
            <a:ext cx="2331720" cy="3200400"/>
          </a:xfrm>
          <a:prstGeom prst="roundRect">
            <a:avLst>
              <a:gd name="adj" fmla="val 4706"/>
            </a:avLst>
          </a:prstGeom>
          <a:solidFill>
            <a:schemeClr val="bg1"/>
          </a:solidFill>
          <a:ln w="19050">
            <a:solidFill>
              <a:schemeClr val="accent2"/>
            </a:solidFill>
            <a:prstDash val="solid"/>
          </a:ln>
          <a:effectLst>
            <a:outerShdw sx="100000" sy="100000" kx="0" ky="0" algn="bl" rotWithShape="0" blurRad="101600" dist="25400" dir="5400000">
              <a:srgbClr val="1B2B24">
                <a:alpha val="14000"/>
              </a:srgbClr>
            </a:outerShdw>
          </a:effectLst>
        </p:spPr>
      </p:sp>
      <p:sp>
        <p:nvSpPr>
          <p:cNvPr id="21" name="Shape 17"/>
          <p:cNvSpPr/>
          <p:nvPr/>
        </p:nvSpPr>
        <p:spPr>
          <a:xfrm>
            <a:off x="6611112" y="1874520"/>
            <a:ext cx="685800" cy="685800"/>
          </a:xfrm>
          <a:prstGeom prst="ellipse">
            <a:avLst/>
          </a:prstGeom>
          <a:solidFill>
            <a:schemeClr val="accent1"/>
          </a:solidFill>
          <a:ln w="12700">
            <a:solidFill>
              <a:schemeClr val="accent1"/>
            </a:solidFill>
            <a:prstDash val="solid"/>
          </a:ln>
        </p:spPr>
      </p:sp>
      <p:pic>
        <p:nvPicPr>
          <p:cNvPr id="22" name="Image 2" descr="icon">    </p:cNvPr>
          <p:cNvPicPr>
            <a:picLocks noChangeAspect="1"/>
          </p:cNvPicPr>
          <p:nvPr/>
        </p:nvPicPr>
        <p:blipFill>
          <a:blip r:embed="rId3"/>
          <a:stretch>
            <a:fillRect/>
          </a:stretch>
        </p:blipFill>
        <p:spPr>
          <a:xfrm>
            <a:off x="6782562" y="2045970"/>
            <a:ext cx="342900" cy="342900"/>
          </a:xfrm>
          <a:prstGeom prst="rect">
            <a:avLst/>
          </a:prstGeom>
        </p:spPr>
      </p:pic>
      <p:sp>
        <p:nvSpPr>
          <p:cNvPr id="23" name="Text 18"/>
          <p:cNvSpPr txBox="1"/>
          <p:nvPr/>
        </p:nvSpPr>
        <p:spPr>
          <a:xfrm>
            <a:off x="8074152" y="1874520"/>
            <a:ext cx="457200" cy="457200"/>
          </a:xfrm>
          <a:prstGeom prst="rect">
            <a:avLst/>
          </a:prstGeom>
          <a:noFill/>
          <a:ln/>
        </p:spPr>
        <p:txBody>
          <a:bodyPr wrap="square" lIns="0" tIns="0" rIns="0" bIns="0" rtlCol="0" anchor="t"/>
          <a:lstStyle/>
          <a:p>
            <a:pPr algn="r" indent="0" marL="0">
              <a:buNone/>
            </a:pPr>
            <a:r>
              <a:rPr lang="en-US" sz="3000" b="1" dirty="0">
                <a:solidFill>
                  <a:schemeClr val="accent2"/>
                </a:solidFill>
                <a:latin typeface="+mj-lt" pitchFamily="34" charset="0"/>
                <a:ea typeface="+mj-lt" pitchFamily="34" charset="-122"/>
                <a:cs typeface="+mj-lt" pitchFamily="34" charset="-120"/>
              </a:rPr>
              <a:t>3</a:t>
            </a:r>
            <a:endParaRPr lang="en-US" sz="3000" dirty="0"/>
          </a:p>
        </p:txBody>
      </p:sp>
      <p:sp>
        <p:nvSpPr>
          <p:cNvPr id="24" name="Text 19"/>
          <p:cNvSpPr txBox="1"/>
          <p:nvPr/>
        </p:nvSpPr>
        <p:spPr>
          <a:xfrm>
            <a:off x="6611112" y="2697480"/>
            <a:ext cx="1874520" cy="640080"/>
          </a:xfrm>
          <a:prstGeom prst="rect">
            <a:avLst/>
          </a:prstGeom>
          <a:noFill/>
          <a:ln/>
        </p:spPr>
        <p:txBody>
          <a:bodyPr wrap="square" lIns="0" tIns="0" rIns="0" bIns="0" rtlCol="0" anchor="t"/>
          <a:lstStyle/>
          <a:p>
            <a:pPr indent="0" marL="0">
              <a:buNone/>
            </a:pPr>
            <a:r>
              <a:rPr lang="en-US" sz="1800" b="1" dirty="0">
                <a:solidFill>
                  <a:schemeClr val="tx2"/>
                </a:solidFill>
              </a:rPr>
              <a:t>Recommendation ranker</a:t>
            </a:r>
            <a:endParaRPr lang="en-US" sz="1800" dirty="0"/>
          </a:p>
        </p:txBody>
      </p:sp>
      <p:sp>
        <p:nvSpPr>
          <p:cNvPr id="25" name="Text 20"/>
          <p:cNvSpPr txBox="1"/>
          <p:nvPr/>
        </p:nvSpPr>
        <p:spPr>
          <a:xfrm>
            <a:off x="6611112" y="3337560"/>
            <a:ext cx="1874520" cy="960120"/>
          </a:xfrm>
          <a:prstGeom prst="rect">
            <a:avLst/>
          </a:prstGeom>
          <a:noFill/>
          <a:ln/>
        </p:spPr>
        <p:txBody>
          <a:bodyPr wrap="square" lIns="0" tIns="0" rIns="0" bIns="0" rtlCol="0" anchor="t"/>
          <a:lstStyle/>
          <a:p>
            <a:pPr indent="0" marL="0">
              <a:buNone/>
            </a:pPr>
            <a:r>
              <a:rPr lang="en-US" sz="1400" dirty="0">
                <a:solidFill>
                  <a:schemeClr val="tx1"/>
                </a:solidFill>
              </a:rPr>
              <a:t>Destination and activity summaries</a:t>
            </a:r>
            <a:endParaRPr lang="en-US" sz="1400" dirty="0"/>
          </a:p>
        </p:txBody>
      </p:sp>
      <p:sp>
        <p:nvSpPr>
          <p:cNvPr id="26" name="Text 21"/>
          <p:cNvSpPr txBox="1"/>
          <p:nvPr/>
        </p:nvSpPr>
        <p:spPr>
          <a:xfrm>
            <a:off x="6611112" y="4343400"/>
            <a:ext cx="1874520" cy="457200"/>
          </a:xfrm>
          <a:prstGeom prst="rect">
            <a:avLst/>
          </a:prstGeom>
          <a:noFill/>
          <a:ln/>
        </p:spPr>
        <p:txBody>
          <a:bodyPr wrap="square" lIns="0" tIns="0" rIns="0" bIns="0" rtlCol="0" anchor="b"/>
          <a:lstStyle/>
          <a:p>
            <a:pPr indent="0" marL="0">
              <a:buNone/>
            </a:pPr>
            <a:r>
              <a:rPr lang="en-US" sz="1300" b="1" dirty="0">
                <a:solidFill>
                  <a:schemeClr val="accent3"/>
                </a:solidFill>
              </a:rPr>
              <a:t>Hands off: ranked summaries</a:t>
            </a:r>
            <a:endParaRPr lang="en-US" sz="1300" dirty="0"/>
          </a:p>
        </p:txBody>
      </p:sp>
      <p:sp>
        <p:nvSpPr>
          <p:cNvPr id="27" name="Shape 22"/>
          <p:cNvSpPr/>
          <p:nvPr/>
        </p:nvSpPr>
        <p:spPr>
          <a:xfrm>
            <a:off x="8759952" y="3291840"/>
            <a:ext cx="493776" cy="0"/>
          </a:xfrm>
          <a:prstGeom prst="line">
            <a:avLst/>
          </a:prstGeom>
          <a:noFill/>
          <a:ln w="38100">
            <a:solidFill>
              <a:schemeClr val="accent3"/>
            </a:solidFill>
            <a:prstDash val="solid"/>
            <a:tailEnd type="triangle"/>
          </a:ln>
        </p:spPr>
      </p:sp>
      <p:sp>
        <p:nvSpPr>
          <p:cNvPr id="28" name="Shape 23"/>
          <p:cNvSpPr/>
          <p:nvPr/>
        </p:nvSpPr>
        <p:spPr>
          <a:xfrm>
            <a:off x="9299448" y="1691640"/>
            <a:ext cx="2331720" cy="3200400"/>
          </a:xfrm>
          <a:prstGeom prst="roundRect">
            <a:avLst>
              <a:gd name="adj" fmla="val 4706"/>
            </a:avLst>
          </a:prstGeom>
          <a:solidFill>
            <a:schemeClr val="bg1"/>
          </a:solidFill>
          <a:ln w="19050">
            <a:solidFill>
              <a:schemeClr val="accent2"/>
            </a:solidFill>
            <a:prstDash val="solid"/>
          </a:ln>
          <a:effectLst>
            <a:outerShdw sx="100000" sy="100000" kx="0" ky="0" algn="bl" rotWithShape="0" blurRad="101600" dist="25400" dir="5400000">
              <a:srgbClr val="1B2B24">
                <a:alpha val="14000"/>
              </a:srgbClr>
            </a:outerShdw>
          </a:effectLst>
        </p:spPr>
      </p:sp>
      <p:sp>
        <p:nvSpPr>
          <p:cNvPr id="29" name="Shape 24"/>
          <p:cNvSpPr/>
          <p:nvPr/>
        </p:nvSpPr>
        <p:spPr>
          <a:xfrm>
            <a:off x="9528048" y="1874520"/>
            <a:ext cx="685800" cy="685800"/>
          </a:xfrm>
          <a:prstGeom prst="ellipse">
            <a:avLst/>
          </a:prstGeom>
          <a:solidFill>
            <a:schemeClr val="accent1"/>
          </a:solidFill>
          <a:ln w="12700">
            <a:solidFill>
              <a:schemeClr val="accent1"/>
            </a:solidFill>
            <a:prstDash val="solid"/>
          </a:ln>
        </p:spPr>
      </p:sp>
      <p:pic>
        <p:nvPicPr>
          <p:cNvPr id="30" name="Image 3" descr="icon">    </p:cNvPr>
          <p:cNvPicPr>
            <a:picLocks noChangeAspect="1"/>
          </p:cNvPicPr>
          <p:nvPr/>
        </p:nvPicPr>
        <p:blipFill>
          <a:blip r:embed="rId4"/>
          <a:stretch>
            <a:fillRect/>
          </a:stretch>
        </p:blipFill>
        <p:spPr>
          <a:xfrm>
            <a:off x="9699498" y="2045970"/>
            <a:ext cx="342900" cy="342900"/>
          </a:xfrm>
          <a:prstGeom prst="rect">
            <a:avLst/>
          </a:prstGeom>
        </p:spPr>
      </p:pic>
      <p:sp>
        <p:nvSpPr>
          <p:cNvPr id="31" name="Text 25"/>
          <p:cNvSpPr txBox="1"/>
          <p:nvPr/>
        </p:nvSpPr>
        <p:spPr>
          <a:xfrm>
            <a:off x="10991088" y="1874520"/>
            <a:ext cx="457200" cy="457200"/>
          </a:xfrm>
          <a:prstGeom prst="rect">
            <a:avLst/>
          </a:prstGeom>
          <a:noFill/>
          <a:ln/>
        </p:spPr>
        <p:txBody>
          <a:bodyPr wrap="square" lIns="0" tIns="0" rIns="0" bIns="0" rtlCol="0" anchor="t"/>
          <a:lstStyle/>
          <a:p>
            <a:pPr algn="r" indent="0" marL="0">
              <a:buNone/>
            </a:pPr>
            <a:r>
              <a:rPr lang="en-US" sz="3000" b="1" dirty="0">
                <a:solidFill>
                  <a:schemeClr val="accent2"/>
                </a:solidFill>
                <a:latin typeface="+mj-lt" pitchFamily="34" charset="0"/>
                <a:ea typeface="+mj-lt" pitchFamily="34" charset="-122"/>
                <a:cs typeface="+mj-lt" pitchFamily="34" charset="-120"/>
              </a:rPr>
              <a:t>4</a:t>
            </a:r>
            <a:endParaRPr lang="en-US" sz="3000" dirty="0"/>
          </a:p>
        </p:txBody>
      </p:sp>
      <p:sp>
        <p:nvSpPr>
          <p:cNvPr id="32" name="Text 26"/>
          <p:cNvSpPr txBox="1"/>
          <p:nvPr/>
        </p:nvSpPr>
        <p:spPr>
          <a:xfrm>
            <a:off x="9528048" y="2697480"/>
            <a:ext cx="1874520" cy="640080"/>
          </a:xfrm>
          <a:prstGeom prst="rect">
            <a:avLst/>
          </a:prstGeom>
          <a:noFill/>
          <a:ln/>
        </p:spPr>
        <p:txBody>
          <a:bodyPr wrap="square" lIns="0" tIns="0" rIns="0" bIns="0" rtlCol="0" anchor="t"/>
          <a:lstStyle/>
          <a:p>
            <a:pPr indent="0" marL="0">
              <a:buNone/>
            </a:pPr>
            <a:r>
              <a:rPr lang="en-US" sz="1800" b="1" dirty="0">
                <a:solidFill>
                  <a:schemeClr val="tx2"/>
                </a:solidFill>
              </a:rPr>
              <a:t>Feasibility validator</a:t>
            </a:r>
            <a:endParaRPr lang="en-US" sz="1800" dirty="0"/>
          </a:p>
        </p:txBody>
      </p:sp>
      <p:sp>
        <p:nvSpPr>
          <p:cNvPr id="33" name="Text 27"/>
          <p:cNvSpPr txBox="1"/>
          <p:nvPr/>
        </p:nvSpPr>
        <p:spPr>
          <a:xfrm>
            <a:off x="9528048" y="3337560"/>
            <a:ext cx="1874520" cy="960120"/>
          </a:xfrm>
          <a:prstGeom prst="rect">
            <a:avLst/>
          </a:prstGeom>
          <a:noFill/>
          <a:ln/>
        </p:spPr>
        <p:txBody>
          <a:bodyPr wrap="square" lIns="0" tIns="0" rIns="0" bIns="0" rtlCol="0" anchor="t"/>
          <a:lstStyle/>
          <a:p>
            <a:pPr indent="0" marL="0">
              <a:buNone/>
            </a:pPr>
            <a:r>
              <a:rPr lang="en-US" sz="1400" dirty="0">
                <a:solidFill>
                  <a:schemeClr val="tx1"/>
                </a:solidFill>
              </a:rPr>
              <a:t>Checks what the dataset can and cannot support</a:t>
            </a:r>
            <a:endParaRPr lang="en-US" sz="1400" dirty="0"/>
          </a:p>
        </p:txBody>
      </p:sp>
      <p:sp>
        <p:nvSpPr>
          <p:cNvPr id="34" name="Text 28"/>
          <p:cNvSpPr txBox="1"/>
          <p:nvPr/>
        </p:nvSpPr>
        <p:spPr>
          <a:xfrm>
            <a:off x="9528048" y="4343400"/>
            <a:ext cx="1874520" cy="457200"/>
          </a:xfrm>
          <a:prstGeom prst="rect">
            <a:avLst/>
          </a:prstGeom>
          <a:noFill/>
          <a:ln/>
        </p:spPr>
        <p:txBody>
          <a:bodyPr wrap="square" lIns="0" tIns="0" rIns="0" bIns="0" rtlCol="0" anchor="b"/>
          <a:lstStyle/>
          <a:p>
            <a:pPr indent="0" marL="0">
              <a:buNone/>
            </a:pPr>
            <a:r>
              <a:rPr lang="en-US" sz="1300" b="1" dirty="0">
                <a:solidFill>
                  <a:schemeClr val="accent3"/>
                </a:solidFill>
              </a:rPr>
              <a:t>Hands off: data-coverage result</a:t>
            </a:r>
            <a:endParaRPr lang="en-US" sz="1300" dirty="0"/>
          </a:p>
        </p:txBody>
      </p:sp>
      <p:sp>
        <p:nvSpPr>
          <p:cNvPr id="35" name="Text 29"/>
          <p:cNvSpPr/>
          <p:nvPr/>
        </p:nvSpPr>
        <p:spPr>
          <a:xfrm>
            <a:off x="548640" y="5257800"/>
            <a:ext cx="1691640" cy="411480"/>
          </a:xfrm>
          <a:prstGeom prst="roundRect">
            <a:avLst>
              <a:gd name="adj" fmla="val 66667"/>
            </a:avLst>
          </a:prstGeom>
          <a:solidFill>
            <a:schemeClr val="accent2">
              <a:alpha val="55000"/>
            </a:schemeClr>
          </a:solidFill>
          <a:ln/>
        </p:spPr>
        <p:txBody>
          <a:bodyPr wrap="square" lIns="0" tIns="1016" rIns="1016" bIns="0" rtlCol="0" anchor="ctr"/>
          <a:lstStyle/>
          <a:p>
            <a:pPr algn="ctr" indent="0" marL="0">
              <a:buNone/>
            </a:pPr>
            <a:r>
              <a:rPr lang="en-US" sz="1400" b="1" dirty="0">
                <a:solidFill>
                  <a:schemeClr val="tx2"/>
                </a:solidFill>
              </a:rPr>
              <a:t>Deterministic</a:t>
            </a:r>
            <a:endParaRPr lang="en-US" sz="1400" dirty="0"/>
          </a:p>
        </p:txBody>
      </p:sp>
      <p:sp>
        <p:nvSpPr>
          <p:cNvPr id="36" name="Text 30"/>
          <p:cNvSpPr/>
          <p:nvPr/>
        </p:nvSpPr>
        <p:spPr>
          <a:xfrm>
            <a:off x="2423160" y="5257800"/>
            <a:ext cx="1645920" cy="411480"/>
          </a:xfrm>
          <a:prstGeom prst="roundRect">
            <a:avLst>
              <a:gd name="adj" fmla="val 66667"/>
            </a:avLst>
          </a:prstGeom>
          <a:solidFill>
            <a:schemeClr val="accent2">
              <a:alpha val="55000"/>
            </a:schemeClr>
          </a:solidFill>
          <a:ln/>
        </p:spPr>
        <p:txBody>
          <a:bodyPr wrap="square" lIns="0" tIns="1016" rIns="1016" bIns="0" rtlCol="0" anchor="ctr"/>
          <a:lstStyle/>
          <a:p>
            <a:pPr algn="ctr" indent="0" marL="0">
              <a:buNone/>
            </a:pPr>
            <a:r>
              <a:rPr lang="en-US" sz="1400" b="1" dirty="0">
                <a:solidFill>
                  <a:schemeClr val="tx2"/>
                </a:solidFill>
              </a:rPr>
              <a:t>In-process</a:t>
            </a:r>
            <a:endParaRPr lang="en-US" sz="1400" dirty="0"/>
          </a:p>
        </p:txBody>
      </p:sp>
      <p:sp>
        <p:nvSpPr>
          <p:cNvPr id="37" name="Text 31"/>
          <p:cNvSpPr/>
          <p:nvPr/>
        </p:nvSpPr>
        <p:spPr>
          <a:xfrm>
            <a:off x="4206240" y="5257800"/>
            <a:ext cx="1645920" cy="411480"/>
          </a:xfrm>
          <a:prstGeom prst="roundRect">
            <a:avLst>
              <a:gd name="adj" fmla="val 66667"/>
            </a:avLst>
          </a:prstGeom>
          <a:solidFill>
            <a:schemeClr val="accent2">
              <a:alpha val="55000"/>
            </a:schemeClr>
          </a:solidFill>
          <a:ln/>
        </p:spPr>
        <p:txBody>
          <a:bodyPr wrap="square" lIns="0" tIns="1016" rIns="1016" bIns="0" rtlCol="0" anchor="ctr"/>
          <a:lstStyle/>
          <a:p>
            <a:pPr algn="ctr" indent="0" marL="0">
              <a:buNone/>
            </a:pPr>
            <a:r>
              <a:rPr lang="en-US" sz="1400" b="1" dirty="0">
                <a:solidFill>
                  <a:schemeClr val="tx2"/>
                </a:solidFill>
              </a:rPr>
              <a:t>No LLM calls</a:t>
            </a:r>
            <a:endParaRPr lang="en-US" sz="1400" dirty="0"/>
          </a:p>
        </p:txBody>
      </p:sp>
      <p:sp>
        <p:nvSpPr>
          <p:cNvPr id="38" name="Text 32"/>
          <p:cNvSpPr/>
          <p:nvPr/>
        </p:nvSpPr>
        <p:spPr>
          <a:xfrm>
            <a:off x="5989320" y="5257800"/>
            <a:ext cx="3291840" cy="411480"/>
          </a:xfrm>
          <a:prstGeom prst="roundRect">
            <a:avLst>
              <a:gd name="adj" fmla="val 66667"/>
            </a:avLst>
          </a:prstGeom>
          <a:solidFill>
            <a:schemeClr val="accent2">
              <a:alpha val="55000"/>
            </a:schemeClr>
          </a:solidFill>
          <a:ln/>
        </p:spPr>
        <p:txBody>
          <a:bodyPr wrap="square" lIns="0" tIns="1016" rIns="1016" bIns="0" rtlCol="0" anchor="ctr"/>
          <a:lstStyle/>
          <a:p>
            <a:pPr algn="ctr" indent="0" marL="0">
              <a:buNone/>
            </a:pPr>
            <a:r>
              <a:rPr lang="en-US" sz="1400" b="1" dirty="0">
                <a:solidFill>
                  <a:schemeClr val="tx2"/>
                </a:solidFill>
              </a:rPr>
              <a:t>Not autonomous or distributed agents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IMPLEMENTED</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Features and API</a:t>
            </a:r>
            <a:endParaRPr lang="en-US" sz="3400" dirty="0"/>
          </a:p>
        </p:txBody>
      </p:sp>
      <p:sp>
        <p:nvSpPr>
          <p:cNvPr id="4" name="Shape 2"/>
          <p:cNvSpPr/>
          <p:nvPr/>
        </p:nvSpPr>
        <p:spPr>
          <a:xfrm>
            <a:off x="548640" y="2240280"/>
            <a:ext cx="548640" cy="54864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685800" y="2377440"/>
            <a:ext cx="274320" cy="274320"/>
          </a:xfrm>
          <a:prstGeom prst="rect">
            <a:avLst/>
          </a:prstGeom>
        </p:spPr>
      </p:pic>
      <p:sp>
        <p:nvSpPr>
          <p:cNvPr id="6" name="Text 3"/>
          <p:cNvSpPr txBox="1"/>
          <p:nvPr/>
        </p:nvSpPr>
        <p:spPr>
          <a:xfrm>
            <a:off x="1280160" y="2240280"/>
            <a:ext cx="4023360" cy="548640"/>
          </a:xfrm>
          <a:prstGeom prst="rect">
            <a:avLst/>
          </a:prstGeom>
          <a:noFill/>
          <a:ln/>
        </p:spPr>
        <p:txBody>
          <a:bodyPr wrap="square" lIns="0" tIns="0" rIns="0" bIns="0" rtlCol="0" anchor="ctr"/>
          <a:lstStyle/>
          <a:p>
            <a:pPr indent="0" marL="0">
              <a:buNone/>
            </a:pPr>
            <a:r>
              <a:rPr lang="en-US" sz="1700" b="1" dirty="0">
                <a:solidFill>
                  <a:schemeClr val="tx2"/>
                </a:solidFill>
              </a:rPr>
              <a:t>Hybrid experience search</a:t>
            </a:r>
            <a:endParaRPr lang="en-US" sz="1700" dirty="0"/>
          </a:p>
        </p:txBody>
      </p:sp>
      <p:sp>
        <p:nvSpPr>
          <p:cNvPr id="7" name="Shape 4"/>
          <p:cNvSpPr/>
          <p:nvPr/>
        </p:nvSpPr>
        <p:spPr>
          <a:xfrm>
            <a:off x="548640" y="3063240"/>
            <a:ext cx="548640" cy="548640"/>
          </a:xfrm>
          <a:prstGeom prst="ellipse">
            <a:avLst/>
          </a:prstGeom>
          <a:solidFill>
            <a:schemeClr val="accent1"/>
          </a:solidFill>
          <a:ln w="12700">
            <a:solidFill>
              <a:schemeClr val="accent1"/>
            </a:solidFill>
            <a:prstDash val="solid"/>
          </a:ln>
        </p:spPr>
      </p:sp>
      <p:pic>
        <p:nvPicPr>
          <p:cNvPr id="8" name="Image 1" descr="icon">    </p:cNvPr>
          <p:cNvPicPr>
            <a:picLocks noChangeAspect="1"/>
          </p:cNvPicPr>
          <p:nvPr/>
        </p:nvPicPr>
        <p:blipFill>
          <a:blip r:embed="rId2"/>
          <a:stretch>
            <a:fillRect/>
          </a:stretch>
        </p:blipFill>
        <p:spPr>
          <a:xfrm>
            <a:off x="685800" y="3200400"/>
            <a:ext cx="274320" cy="274320"/>
          </a:xfrm>
          <a:prstGeom prst="rect">
            <a:avLst/>
          </a:prstGeom>
        </p:spPr>
      </p:pic>
      <p:sp>
        <p:nvSpPr>
          <p:cNvPr id="9" name="Text 5"/>
          <p:cNvSpPr txBox="1"/>
          <p:nvPr/>
        </p:nvSpPr>
        <p:spPr>
          <a:xfrm>
            <a:off x="1280160" y="3063240"/>
            <a:ext cx="4023360" cy="548640"/>
          </a:xfrm>
          <a:prstGeom prst="rect">
            <a:avLst/>
          </a:prstGeom>
          <a:noFill/>
          <a:ln/>
        </p:spPr>
        <p:txBody>
          <a:bodyPr wrap="square" lIns="0" tIns="0" rIns="0" bIns="0" rtlCol="0" anchor="ctr"/>
          <a:lstStyle/>
          <a:p>
            <a:pPr indent="0" marL="0">
              <a:buNone/>
            </a:pPr>
            <a:r>
              <a:rPr lang="en-US" sz="1700" b="1" dirty="0">
                <a:solidFill>
                  <a:schemeClr val="tx2"/>
                </a:solidFill>
              </a:rPr>
              <a:t>Preference extraction and metadata filters</a:t>
            </a:r>
            <a:endParaRPr lang="en-US" sz="1700" dirty="0"/>
          </a:p>
        </p:txBody>
      </p:sp>
      <p:sp>
        <p:nvSpPr>
          <p:cNvPr id="10" name="Shape 6"/>
          <p:cNvSpPr/>
          <p:nvPr/>
        </p:nvSpPr>
        <p:spPr>
          <a:xfrm>
            <a:off x="548640" y="3886200"/>
            <a:ext cx="548640" cy="548640"/>
          </a:xfrm>
          <a:prstGeom prst="ellipse">
            <a:avLst/>
          </a:prstGeom>
          <a:solidFill>
            <a:schemeClr val="accent1"/>
          </a:solidFill>
          <a:ln w="12700">
            <a:solidFill>
              <a:schemeClr val="accent1"/>
            </a:solidFill>
            <a:prstDash val="solid"/>
          </a:ln>
        </p:spPr>
      </p:sp>
      <p:pic>
        <p:nvPicPr>
          <p:cNvPr id="11" name="Image 2" descr="icon">    </p:cNvPr>
          <p:cNvPicPr>
            <a:picLocks noChangeAspect="1"/>
          </p:cNvPicPr>
          <p:nvPr/>
        </p:nvPicPr>
        <p:blipFill>
          <a:blip r:embed="rId3"/>
          <a:stretch>
            <a:fillRect/>
          </a:stretch>
        </p:blipFill>
        <p:spPr>
          <a:xfrm>
            <a:off x="685800" y="4023360"/>
            <a:ext cx="274320" cy="274320"/>
          </a:xfrm>
          <a:prstGeom prst="rect">
            <a:avLst/>
          </a:prstGeom>
        </p:spPr>
      </p:pic>
      <p:sp>
        <p:nvSpPr>
          <p:cNvPr id="12" name="Text 7"/>
          <p:cNvSpPr txBox="1"/>
          <p:nvPr/>
        </p:nvSpPr>
        <p:spPr>
          <a:xfrm>
            <a:off x="1280160" y="3886200"/>
            <a:ext cx="4023360" cy="548640"/>
          </a:xfrm>
          <a:prstGeom prst="rect">
            <a:avLst/>
          </a:prstGeom>
          <a:noFill/>
          <a:ln/>
        </p:spPr>
        <p:txBody>
          <a:bodyPr wrap="square" lIns="0" tIns="0" rIns="0" bIns="0" rtlCol="0" anchor="ctr"/>
          <a:lstStyle/>
          <a:p>
            <a:pPr indent="0" marL="0">
              <a:buNone/>
            </a:pPr>
            <a:r>
              <a:rPr lang="en-US" sz="1700" b="1" dirty="0">
                <a:solidFill>
                  <a:schemeClr val="tx2"/>
                </a:solidFill>
              </a:rPr>
              <a:t>Ranked destination and activity summaries</a:t>
            </a:r>
            <a:endParaRPr lang="en-US" sz="1700" dirty="0"/>
          </a:p>
        </p:txBody>
      </p:sp>
      <p:sp>
        <p:nvSpPr>
          <p:cNvPr id="13" name="Shape 8"/>
          <p:cNvSpPr/>
          <p:nvPr/>
        </p:nvSpPr>
        <p:spPr>
          <a:xfrm>
            <a:off x="548640" y="4709160"/>
            <a:ext cx="548640" cy="548640"/>
          </a:xfrm>
          <a:prstGeom prst="ellipse">
            <a:avLst/>
          </a:prstGeom>
          <a:solidFill>
            <a:schemeClr val="accent1"/>
          </a:solidFill>
          <a:ln w="12700">
            <a:solidFill>
              <a:schemeClr val="accent1"/>
            </a:solidFill>
            <a:prstDash val="solid"/>
          </a:ln>
        </p:spPr>
      </p:sp>
      <p:pic>
        <p:nvPicPr>
          <p:cNvPr id="14" name="Image 3" descr="icon">    </p:cNvPr>
          <p:cNvPicPr>
            <a:picLocks noChangeAspect="1"/>
          </p:cNvPicPr>
          <p:nvPr/>
        </p:nvPicPr>
        <p:blipFill>
          <a:blip r:embed="rId4"/>
          <a:stretch>
            <a:fillRect/>
          </a:stretch>
        </p:blipFill>
        <p:spPr>
          <a:xfrm>
            <a:off x="685800" y="4846320"/>
            <a:ext cx="274320" cy="274320"/>
          </a:xfrm>
          <a:prstGeom prst="rect">
            <a:avLst/>
          </a:prstGeom>
        </p:spPr>
      </p:pic>
      <p:sp>
        <p:nvSpPr>
          <p:cNvPr id="15" name="Text 9"/>
          <p:cNvSpPr txBox="1"/>
          <p:nvPr/>
        </p:nvSpPr>
        <p:spPr>
          <a:xfrm>
            <a:off x="1280160" y="4709160"/>
            <a:ext cx="4023360" cy="548640"/>
          </a:xfrm>
          <a:prstGeom prst="rect">
            <a:avLst/>
          </a:prstGeom>
          <a:noFill/>
          <a:ln/>
        </p:spPr>
        <p:txBody>
          <a:bodyPr wrap="square" lIns="0" tIns="0" rIns="0" bIns="0" rtlCol="0" anchor="ctr"/>
          <a:lstStyle/>
          <a:p>
            <a:pPr indent="0" marL="0">
              <a:buNone/>
            </a:pPr>
            <a:r>
              <a:rPr lang="en-US" sz="1700" b="1" dirty="0">
                <a:solidFill>
                  <a:schemeClr val="tx2"/>
                </a:solidFill>
              </a:rPr>
              <a:t>Itinerary data-coverage response</a:t>
            </a:r>
            <a:endParaRPr lang="en-US" sz="1700" dirty="0"/>
          </a:p>
        </p:txBody>
      </p:sp>
      <p:sp>
        <p:nvSpPr>
          <p:cNvPr id="16" name="Shape 10"/>
          <p:cNvSpPr/>
          <p:nvPr/>
        </p:nvSpPr>
        <p:spPr>
          <a:xfrm>
            <a:off x="548640" y="5532120"/>
            <a:ext cx="548640" cy="548640"/>
          </a:xfrm>
          <a:prstGeom prst="ellipse">
            <a:avLst/>
          </a:prstGeom>
          <a:solidFill>
            <a:schemeClr val="accent1"/>
          </a:solidFill>
          <a:ln w="12700">
            <a:solidFill>
              <a:schemeClr val="accent1"/>
            </a:solidFill>
            <a:prstDash val="solid"/>
          </a:ln>
        </p:spPr>
      </p:sp>
      <p:pic>
        <p:nvPicPr>
          <p:cNvPr id="17" name="Image 4" descr="icon">    </p:cNvPr>
          <p:cNvPicPr>
            <a:picLocks noChangeAspect="1"/>
          </p:cNvPicPr>
          <p:nvPr/>
        </p:nvPicPr>
        <p:blipFill>
          <a:blip r:embed="rId5"/>
          <a:stretch>
            <a:fillRect/>
          </a:stretch>
        </p:blipFill>
        <p:spPr>
          <a:xfrm>
            <a:off x="685800" y="5669280"/>
            <a:ext cx="274320" cy="274320"/>
          </a:xfrm>
          <a:prstGeom prst="rect">
            <a:avLst/>
          </a:prstGeom>
        </p:spPr>
      </p:pic>
      <p:sp>
        <p:nvSpPr>
          <p:cNvPr id="18" name="Text 11"/>
          <p:cNvSpPr txBox="1"/>
          <p:nvPr/>
        </p:nvSpPr>
        <p:spPr>
          <a:xfrm>
            <a:off x="1280160" y="5532120"/>
            <a:ext cx="4023360" cy="548640"/>
          </a:xfrm>
          <a:prstGeom prst="rect">
            <a:avLst/>
          </a:prstGeom>
          <a:noFill/>
          <a:ln/>
        </p:spPr>
        <p:txBody>
          <a:bodyPr wrap="square" lIns="0" tIns="0" rIns="0" bIns="0" rtlCol="0" anchor="t"/>
          <a:lstStyle/>
          <a:p>
            <a:pPr indent="0" marL="0">
              <a:buNone/>
            </a:pPr>
            <a:r>
              <a:rPr lang="en-US" sz="1700" b="1" dirty="0">
                <a:solidFill>
                  <a:schemeClr val="tx2"/>
                </a:solidFill>
              </a:rPr>
              <a:t>Feedback capture in SQLite</a:t>
            </a:r>
            <a:endParaRPr lang="en-US" sz="1700" dirty="0"/>
          </a:p>
        </p:txBody>
      </p:sp>
      <p:sp>
        <p:nvSpPr>
          <p:cNvPr id="19" name="Text 12"/>
          <p:cNvSpPr txBox="1"/>
          <p:nvPr/>
        </p:nvSpPr>
        <p:spPr>
          <a:xfrm>
            <a:off x="1280160" y="5806440"/>
            <a:ext cx="4023360" cy="274320"/>
          </a:xfrm>
          <a:prstGeom prst="rect">
            <a:avLst/>
          </a:prstGeom>
          <a:noFill/>
          <a:ln/>
        </p:spPr>
        <p:txBody>
          <a:bodyPr wrap="square" lIns="0" tIns="0" rIns="0" bIns="0" rtlCol="0" anchor="t"/>
          <a:lstStyle/>
          <a:p>
            <a:pPr indent="0" marL="0">
              <a:buNone/>
            </a:pPr>
            <a:r>
              <a:rPr lang="en-US" sz="1200" i="1" dirty="0">
                <a:solidFill>
                  <a:schemeClr val="accent6"/>
                </a:solidFill>
              </a:rPr>
              <a:t>Stored only; no retraining or reranking</a:t>
            </a:r>
            <a:endParaRPr lang="en-US" sz="1200" dirty="0"/>
          </a:p>
        </p:txBody>
      </p:sp>
      <p:sp>
        <p:nvSpPr>
          <p:cNvPr id="20" name="Shape 13"/>
          <p:cNvSpPr/>
          <p:nvPr/>
        </p:nvSpPr>
        <p:spPr>
          <a:xfrm>
            <a:off x="6766560" y="1463040"/>
            <a:ext cx="4873752" cy="457200"/>
          </a:xfrm>
          <a:prstGeom prst="roundRect">
            <a:avLst>
              <a:gd name="adj" fmla="val 24000"/>
            </a:avLst>
          </a:prstGeom>
          <a:solidFill>
            <a:schemeClr val="bg1"/>
          </a:solidFill>
          <a:ln w="22225">
            <a:solidFill>
              <a:schemeClr val="accent4"/>
            </a:solidFill>
            <a:prstDash val="solid"/>
          </a:ln>
          <a:effectLst>
            <a:outerShdw sx="100000" sy="100000" kx="0" ky="0" algn="bl" rotWithShape="0" blurRad="101600" dist="25400" dir="5400000">
              <a:srgbClr val="1B2B24">
                <a:alpha val="14000"/>
              </a:srgbClr>
            </a:outerShdw>
          </a:effectLst>
        </p:spPr>
      </p:sp>
      <p:sp>
        <p:nvSpPr>
          <p:cNvPr id="21" name="Text 14"/>
          <p:cNvSpPr txBox="1"/>
          <p:nvPr/>
        </p:nvSpPr>
        <p:spPr>
          <a:xfrm>
            <a:off x="6949440" y="1463040"/>
            <a:ext cx="4572000" cy="457200"/>
          </a:xfrm>
          <a:prstGeom prst="rect">
            <a:avLst/>
          </a:prstGeom>
          <a:noFill/>
          <a:ln/>
        </p:spPr>
        <p:txBody>
          <a:bodyPr wrap="square" lIns="0" tIns="0" rIns="0" bIns="0" rtlCol="0" anchor="ctr"/>
          <a:lstStyle/>
          <a:p>
            <a:pPr indent="0" marL="0">
              <a:buNone/>
            </a:pPr>
            <a:r>
              <a:rPr lang="en-US" sz="1400" b="1" dirty="0">
                <a:solidFill>
                  <a:schemeClr val="accent4"/>
                </a:solidFill>
                <a:latin typeface="Courier New" pitchFamily="34" charset="0"/>
                <a:ea typeface="Courier New" pitchFamily="34" charset="-122"/>
                <a:cs typeface="Courier New" pitchFamily="34" charset="-120"/>
              </a:rPr>
              <a:t>GET  </a:t>
            </a:r>
            <a:pPr indent="0" marL="0">
              <a:buNone/>
            </a:pPr>
            <a:r>
              <a:rPr lang="en-US" sz="1400" dirty="0">
                <a:solidFill>
                  <a:schemeClr val="tx1"/>
                </a:solidFill>
                <a:latin typeface="Courier New" pitchFamily="34" charset="0"/>
                <a:ea typeface="Courier New" pitchFamily="34" charset="-122"/>
                <a:cs typeface="Courier New" pitchFamily="34" charset="-120"/>
              </a:rPr>
              <a:t>/health</a:t>
            </a:r>
            <a:endParaRPr lang="en-US" sz="1400" dirty="0"/>
          </a:p>
        </p:txBody>
      </p:sp>
      <p:sp>
        <p:nvSpPr>
          <p:cNvPr id="22" name="Text 15"/>
          <p:cNvSpPr txBox="1"/>
          <p:nvPr/>
        </p:nvSpPr>
        <p:spPr>
          <a:xfrm>
            <a:off x="8595360" y="1463040"/>
            <a:ext cx="2926080" cy="457200"/>
          </a:xfrm>
          <a:prstGeom prst="rect">
            <a:avLst/>
          </a:prstGeom>
          <a:noFill/>
          <a:ln/>
        </p:spPr>
        <p:txBody>
          <a:bodyPr wrap="square" lIns="0" tIns="0" rIns="0" bIns="0" rtlCol="0" anchor="ctr"/>
          <a:lstStyle/>
          <a:p>
            <a:pPr algn="r" indent="0" marL="0">
              <a:buNone/>
            </a:pPr>
            <a:r>
              <a:rPr lang="en-US" sz="1200" i="1" dirty="0">
                <a:solidFill>
                  <a:schemeClr val="accent6"/>
                </a:solidFill>
              </a:rPr>
              <a:t>service readiness</a:t>
            </a:r>
            <a:endParaRPr lang="en-US" sz="1200" dirty="0"/>
          </a:p>
        </p:txBody>
      </p:sp>
      <p:sp>
        <p:nvSpPr>
          <p:cNvPr id="23" name="Shape 16"/>
          <p:cNvSpPr/>
          <p:nvPr/>
        </p:nvSpPr>
        <p:spPr>
          <a:xfrm>
            <a:off x="6766560" y="2240280"/>
            <a:ext cx="4873752" cy="548640"/>
          </a:xfrm>
          <a:prstGeom prst="roundRect">
            <a:avLst>
              <a:gd name="adj" fmla="val 20000"/>
            </a:avLst>
          </a:prstGeom>
          <a:solidFill>
            <a:schemeClr val="bg1"/>
          </a:solidFill>
          <a:ln w="22225">
            <a:solidFill>
              <a:schemeClr val="accent1"/>
            </a:solidFill>
            <a:prstDash val="solid"/>
          </a:ln>
          <a:effectLst>
            <a:outerShdw sx="100000" sy="100000" kx="0" ky="0" algn="bl" rotWithShape="0" blurRad="101600" dist="25400" dir="5400000">
              <a:srgbClr val="1B2B24">
                <a:alpha val="14000"/>
              </a:srgbClr>
            </a:outerShdw>
          </a:effectLst>
        </p:spPr>
      </p:sp>
      <p:sp>
        <p:nvSpPr>
          <p:cNvPr id="24" name="Text 17"/>
          <p:cNvSpPr txBox="1"/>
          <p:nvPr/>
        </p:nvSpPr>
        <p:spPr>
          <a:xfrm>
            <a:off x="6949440" y="2240280"/>
            <a:ext cx="457200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POST  </a:t>
            </a:r>
            <a:pPr indent="0" marL="0">
              <a:buNone/>
            </a:pPr>
            <a:r>
              <a:rPr lang="en-US" sz="1400" dirty="0">
                <a:solidFill>
                  <a:schemeClr val="tx1"/>
                </a:solidFill>
                <a:latin typeface="Courier New" pitchFamily="34" charset="0"/>
                <a:ea typeface="Courier New" pitchFamily="34" charset="-122"/>
                <a:cs typeface="Courier New" pitchFamily="34" charset="-120"/>
              </a:rPr>
              <a:t>/api/v1/search</a:t>
            </a:r>
            <a:endParaRPr lang="en-US" sz="1400" dirty="0"/>
          </a:p>
        </p:txBody>
      </p:sp>
      <p:sp>
        <p:nvSpPr>
          <p:cNvPr id="25" name="Shape 18"/>
          <p:cNvSpPr/>
          <p:nvPr/>
        </p:nvSpPr>
        <p:spPr>
          <a:xfrm>
            <a:off x="6766560" y="3063240"/>
            <a:ext cx="4873752" cy="1463040"/>
          </a:xfrm>
          <a:prstGeom prst="roundRect">
            <a:avLst>
              <a:gd name="adj" fmla="val 7500"/>
            </a:avLst>
          </a:prstGeom>
          <a:solidFill>
            <a:schemeClr val="bg1"/>
          </a:solidFill>
          <a:ln w="22225">
            <a:solidFill>
              <a:schemeClr val="accent1"/>
            </a:solidFill>
            <a:prstDash val="solid"/>
          </a:ln>
          <a:effectLst>
            <a:outerShdw sx="100000" sy="100000" kx="0" ky="0" algn="bl" rotWithShape="0" blurRad="101600" dist="25400" dir="5400000">
              <a:srgbClr val="1B2B24">
                <a:alpha val="14000"/>
              </a:srgbClr>
            </a:outerShdw>
          </a:effectLst>
        </p:spPr>
      </p:sp>
      <p:sp>
        <p:nvSpPr>
          <p:cNvPr id="26" name="Text 19"/>
          <p:cNvSpPr txBox="1"/>
          <p:nvPr/>
        </p:nvSpPr>
        <p:spPr>
          <a:xfrm>
            <a:off x="6949440" y="3063240"/>
            <a:ext cx="4572000" cy="1463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POST  </a:t>
            </a:r>
            <a:pPr indent="0" marL="0">
              <a:buNone/>
            </a:pPr>
            <a:r>
              <a:rPr lang="en-US" sz="1400" dirty="0">
                <a:solidFill>
                  <a:schemeClr val="tx1"/>
                </a:solidFill>
                <a:latin typeface="Courier New" pitchFamily="34" charset="0"/>
                <a:ea typeface="Courier New" pitchFamily="34" charset="-122"/>
                <a:cs typeface="Courier New" pitchFamily="34" charset="-120"/>
              </a:rPr>
              <a:t>/api/v1/recommendations</a:t>
            </a:r>
            <a:endParaRPr lang="en-US" sz="1400" dirty="0"/>
          </a:p>
        </p:txBody>
      </p:sp>
      <p:sp>
        <p:nvSpPr>
          <p:cNvPr id="27" name="Shape 20"/>
          <p:cNvSpPr/>
          <p:nvPr/>
        </p:nvSpPr>
        <p:spPr>
          <a:xfrm>
            <a:off x="6766560" y="4709160"/>
            <a:ext cx="4873752" cy="548640"/>
          </a:xfrm>
          <a:prstGeom prst="roundRect">
            <a:avLst>
              <a:gd name="adj" fmla="val 20000"/>
            </a:avLst>
          </a:prstGeom>
          <a:solidFill>
            <a:schemeClr val="bg1"/>
          </a:solidFill>
          <a:ln w="22225">
            <a:solidFill>
              <a:schemeClr val="accent1"/>
            </a:solidFill>
            <a:prstDash val="solid"/>
          </a:ln>
          <a:effectLst>
            <a:outerShdw sx="100000" sy="100000" kx="0" ky="0" algn="bl" rotWithShape="0" blurRad="101600" dist="25400" dir="5400000">
              <a:srgbClr val="1B2B24">
                <a:alpha val="14000"/>
              </a:srgbClr>
            </a:outerShdw>
          </a:effectLst>
        </p:spPr>
      </p:sp>
      <p:sp>
        <p:nvSpPr>
          <p:cNvPr id="28" name="Text 21"/>
          <p:cNvSpPr txBox="1"/>
          <p:nvPr/>
        </p:nvSpPr>
        <p:spPr>
          <a:xfrm>
            <a:off x="6949440" y="4709160"/>
            <a:ext cx="457200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POST  </a:t>
            </a:r>
            <a:pPr indent="0" marL="0">
              <a:buNone/>
            </a:pPr>
            <a:r>
              <a:rPr lang="en-US" sz="1400" dirty="0">
                <a:solidFill>
                  <a:schemeClr val="tx1"/>
                </a:solidFill>
                <a:latin typeface="Courier New" pitchFamily="34" charset="0"/>
                <a:ea typeface="Courier New" pitchFamily="34" charset="-122"/>
                <a:cs typeface="Courier New" pitchFamily="34" charset="-120"/>
              </a:rPr>
              <a:t>/api/v1/itinerary/feasibility</a:t>
            </a:r>
            <a:endParaRPr lang="en-US" sz="1400" dirty="0"/>
          </a:p>
        </p:txBody>
      </p:sp>
      <p:sp>
        <p:nvSpPr>
          <p:cNvPr id="29" name="Shape 22"/>
          <p:cNvSpPr/>
          <p:nvPr/>
        </p:nvSpPr>
        <p:spPr>
          <a:xfrm>
            <a:off x="6766560" y="5532120"/>
            <a:ext cx="4873752" cy="548640"/>
          </a:xfrm>
          <a:prstGeom prst="roundRect">
            <a:avLst>
              <a:gd name="adj" fmla="val 20000"/>
            </a:avLst>
          </a:prstGeom>
          <a:solidFill>
            <a:schemeClr val="bg1"/>
          </a:solidFill>
          <a:ln w="22225">
            <a:solidFill>
              <a:schemeClr val="accent3"/>
            </a:solidFill>
            <a:prstDash val="solid"/>
          </a:ln>
          <a:effectLst>
            <a:outerShdw sx="100000" sy="100000" kx="0" ky="0" algn="bl" rotWithShape="0" blurRad="101600" dist="25400" dir="5400000">
              <a:srgbClr val="1B2B24">
                <a:alpha val="14000"/>
              </a:srgbClr>
            </a:outerShdw>
          </a:effectLst>
        </p:spPr>
      </p:sp>
      <p:sp>
        <p:nvSpPr>
          <p:cNvPr id="30" name="Text 23"/>
          <p:cNvSpPr txBox="1"/>
          <p:nvPr/>
        </p:nvSpPr>
        <p:spPr>
          <a:xfrm>
            <a:off x="6949440" y="5532120"/>
            <a:ext cx="4572000" cy="548640"/>
          </a:xfrm>
          <a:prstGeom prst="rect">
            <a:avLst/>
          </a:prstGeom>
          <a:noFill/>
          <a:ln/>
        </p:spPr>
        <p:txBody>
          <a:bodyPr wrap="square" lIns="0" tIns="0" rIns="0" bIns="0" rtlCol="0" anchor="ct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POST  </a:t>
            </a:r>
            <a:pPr indent="0" marL="0">
              <a:buNone/>
            </a:pPr>
            <a:r>
              <a:rPr lang="en-US" sz="1400" dirty="0">
                <a:solidFill>
                  <a:schemeClr val="tx1"/>
                </a:solidFill>
                <a:latin typeface="Courier New" pitchFamily="34" charset="0"/>
                <a:ea typeface="Courier New" pitchFamily="34" charset="-122"/>
                <a:cs typeface="Courier New" pitchFamily="34" charset="-120"/>
              </a:rPr>
              <a:t>/api/v1/feedback</a:t>
            </a:r>
            <a:endParaRPr lang="en-US" sz="1400" dirty="0"/>
          </a:p>
        </p:txBody>
      </p:sp>
      <p:sp>
        <p:nvSpPr>
          <p:cNvPr id="31" name="Shape 24"/>
          <p:cNvSpPr/>
          <p:nvPr/>
        </p:nvSpPr>
        <p:spPr>
          <a:xfrm>
            <a:off x="5394960" y="2514600"/>
            <a:ext cx="1371600" cy="0"/>
          </a:xfrm>
          <a:prstGeom prst="line">
            <a:avLst/>
          </a:prstGeom>
          <a:noFill/>
          <a:ln w="25400">
            <a:solidFill>
              <a:schemeClr val="accent4"/>
            </a:solidFill>
            <a:prstDash val="dash"/>
            <a:tailEnd type="triangle"/>
          </a:ln>
        </p:spPr>
      </p:sp>
      <p:sp>
        <p:nvSpPr>
          <p:cNvPr id="32" name="Shape 25"/>
          <p:cNvSpPr/>
          <p:nvPr/>
        </p:nvSpPr>
        <p:spPr>
          <a:xfrm>
            <a:off x="5394960" y="3337560"/>
            <a:ext cx="1371600" cy="0"/>
          </a:xfrm>
          <a:prstGeom prst="line">
            <a:avLst/>
          </a:prstGeom>
          <a:noFill/>
          <a:ln w="25400">
            <a:solidFill>
              <a:schemeClr val="accent4"/>
            </a:solidFill>
            <a:prstDash val="dash"/>
            <a:tailEnd type="triangle"/>
          </a:ln>
        </p:spPr>
      </p:sp>
      <p:sp>
        <p:nvSpPr>
          <p:cNvPr id="33" name="Shape 26"/>
          <p:cNvSpPr/>
          <p:nvPr/>
        </p:nvSpPr>
        <p:spPr>
          <a:xfrm>
            <a:off x="5394960" y="4160520"/>
            <a:ext cx="1371600" cy="0"/>
          </a:xfrm>
          <a:prstGeom prst="line">
            <a:avLst/>
          </a:prstGeom>
          <a:noFill/>
          <a:ln w="25400">
            <a:solidFill>
              <a:schemeClr val="accent4"/>
            </a:solidFill>
            <a:prstDash val="dash"/>
            <a:tailEnd type="triangle"/>
          </a:ln>
        </p:spPr>
      </p:sp>
      <p:sp>
        <p:nvSpPr>
          <p:cNvPr id="34" name="Shape 27"/>
          <p:cNvSpPr/>
          <p:nvPr/>
        </p:nvSpPr>
        <p:spPr>
          <a:xfrm>
            <a:off x="5394960" y="4983480"/>
            <a:ext cx="1371600" cy="0"/>
          </a:xfrm>
          <a:prstGeom prst="line">
            <a:avLst/>
          </a:prstGeom>
          <a:noFill/>
          <a:ln w="25400">
            <a:solidFill>
              <a:schemeClr val="accent4"/>
            </a:solidFill>
            <a:prstDash val="dash"/>
            <a:tailEnd type="triangle"/>
          </a:ln>
        </p:spPr>
      </p:sp>
      <p:sp>
        <p:nvSpPr>
          <p:cNvPr id="35" name="Shape 28"/>
          <p:cNvSpPr/>
          <p:nvPr/>
        </p:nvSpPr>
        <p:spPr>
          <a:xfrm>
            <a:off x="5394960" y="5806440"/>
            <a:ext cx="1371600" cy="0"/>
          </a:xfrm>
          <a:prstGeom prst="line">
            <a:avLst/>
          </a:prstGeom>
          <a:noFill/>
          <a:ln w="25400">
            <a:solidFill>
              <a:schemeClr val="accent4"/>
            </a:solidFill>
            <a:prstDash val="dash"/>
            <a:tailEnd type="triangle"/>
          </a:ln>
        </p:spPr>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THE EXPERIENCE</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Wayfarer Travel Studio</a:t>
            </a:r>
            <a:endParaRPr lang="en-US" sz="3400" dirty="0"/>
          </a:p>
        </p:txBody>
      </p:sp>
      <p:sp>
        <p:nvSpPr>
          <p:cNvPr id="4" name="Shape 2"/>
          <p:cNvSpPr/>
          <p:nvPr/>
        </p:nvSpPr>
        <p:spPr>
          <a:xfrm>
            <a:off x="548640" y="1783080"/>
            <a:ext cx="201168" cy="201168"/>
          </a:xfrm>
          <a:prstGeom prst="ellipse">
            <a:avLst/>
          </a:prstGeom>
          <a:solidFill>
            <a:schemeClr val="accent3"/>
          </a:solidFill>
          <a:ln w="12700">
            <a:solidFill>
              <a:schemeClr val="accent3"/>
            </a:solidFill>
            <a:prstDash val="solid"/>
          </a:ln>
        </p:spPr>
      </p:sp>
      <p:sp>
        <p:nvSpPr>
          <p:cNvPr id="5" name="Text 3"/>
          <p:cNvSpPr txBox="1"/>
          <p:nvPr/>
        </p:nvSpPr>
        <p:spPr>
          <a:xfrm>
            <a:off x="960120" y="1664208"/>
            <a:ext cx="3749040" cy="731520"/>
          </a:xfrm>
          <a:prstGeom prst="rect">
            <a:avLst/>
          </a:prstGeom>
          <a:noFill/>
          <a:ln/>
        </p:spPr>
        <p:txBody>
          <a:bodyPr wrap="square" lIns="0" tIns="0" rIns="0" bIns="0" rtlCol="0" anchor="t"/>
          <a:lstStyle/>
          <a:p>
            <a:pPr indent="0" marL="0">
              <a:buNone/>
            </a:pPr>
            <a:r>
              <a:rPr lang="en-US" sz="1700" dirty="0">
                <a:solidFill>
                  <a:schemeClr val="tx1"/>
                </a:solidFill>
              </a:rPr>
              <a:t>Natural-language trip query</a:t>
            </a:r>
            <a:endParaRPr lang="en-US" sz="1700" dirty="0"/>
          </a:p>
        </p:txBody>
      </p:sp>
      <p:sp>
        <p:nvSpPr>
          <p:cNvPr id="6" name="Shape 4"/>
          <p:cNvSpPr/>
          <p:nvPr/>
        </p:nvSpPr>
        <p:spPr>
          <a:xfrm>
            <a:off x="548640" y="2651760"/>
            <a:ext cx="201168" cy="201168"/>
          </a:xfrm>
          <a:prstGeom prst="ellipse">
            <a:avLst/>
          </a:prstGeom>
          <a:solidFill>
            <a:schemeClr val="accent3"/>
          </a:solidFill>
          <a:ln w="12700">
            <a:solidFill>
              <a:schemeClr val="accent3"/>
            </a:solidFill>
            <a:prstDash val="solid"/>
          </a:ln>
        </p:spPr>
      </p:sp>
      <p:sp>
        <p:nvSpPr>
          <p:cNvPr id="7" name="Text 5"/>
          <p:cNvSpPr txBox="1"/>
          <p:nvPr/>
        </p:nvSpPr>
        <p:spPr>
          <a:xfrm>
            <a:off x="960120" y="2532888"/>
            <a:ext cx="3749040" cy="731520"/>
          </a:xfrm>
          <a:prstGeom prst="rect">
            <a:avLst/>
          </a:prstGeom>
          <a:noFill/>
          <a:ln/>
        </p:spPr>
        <p:txBody>
          <a:bodyPr wrap="square" lIns="0" tIns="0" rIns="0" bIns="0" rtlCol="0" anchor="t"/>
          <a:lstStyle/>
          <a:p>
            <a:pPr indent="0" marL="0">
              <a:buNone/>
            </a:pPr>
            <a:r>
              <a:rPr lang="en-US" sz="1700" dirty="0">
                <a:solidFill>
                  <a:schemeClr val="tx1"/>
                </a:solidFill>
              </a:rPr>
              <a:t>Destination, travel-party, and rating filters</a:t>
            </a:r>
            <a:endParaRPr lang="en-US" sz="1700" dirty="0"/>
          </a:p>
        </p:txBody>
      </p:sp>
      <p:sp>
        <p:nvSpPr>
          <p:cNvPr id="8" name="Shape 6"/>
          <p:cNvSpPr/>
          <p:nvPr/>
        </p:nvSpPr>
        <p:spPr>
          <a:xfrm>
            <a:off x="548640" y="3520440"/>
            <a:ext cx="201168" cy="201168"/>
          </a:xfrm>
          <a:prstGeom prst="ellipse">
            <a:avLst/>
          </a:prstGeom>
          <a:solidFill>
            <a:schemeClr val="accent3"/>
          </a:solidFill>
          <a:ln w="12700">
            <a:solidFill>
              <a:schemeClr val="accent3"/>
            </a:solidFill>
            <a:prstDash val="solid"/>
          </a:ln>
        </p:spPr>
      </p:sp>
      <p:sp>
        <p:nvSpPr>
          <p:cNvPr id="9" name="Text 7"/>
          <p:cNvSpPr txBox="1"/>
          <p:nvPr/>
        </p:nvSpPr>
        <p:spPr>
          <a:xfrm>
            <a:off x="960120" y="3401568"/>
            <a:ext cx="3749040" cy="731520"/>
          </a:xfrm>
          <a:prstGeom prst="rect">
            <a:avLst/>
          </a:prstGeom>
          <a:noFill/>
          <a:ln/>
        </p:spPr>
        <p:txBody>
          <a:bodyPr wrap="square" lIns="0" tIns="0" rIns="0" bIns="0" rtlCol="0" anchor="t"/>
          <a:lstStyle/>
          <a:p>
            <a:pPr indent="0" marL="0">
              <a:buNone/>
            </a:pPr>
            <a:r>
              <a:rPr lang="en-US" sz="1700" dirty="0">
                <a:solidFill>
                  <a:schemeClr val="tx1"/>
                </a:solidFill>
              </a:rPr>
              <a:t>Ranked destination and activity results</a:t>
            </a:r>
            <a:endParaRPr lang="en-US" sz="1700" dirty="0"/>
          </a:p>
        </p:txBody>
      </p:sp>
      <p:sp>
        <p:nvSpPr>
          <p:cNvPr id="10" name="Shape 8"/>
          <p:cNvSpPr/>
          <p:nvPr/>
        </p:nvSpPr>
        <p:spPr>
          <a:xfrm>
            <a:off x="548640" y="4389120"/>
            <a:ext cx="201168" cy="201168"/>
          </a:xfrm>
          <a:prstGeom prst="ellipse">
            <a:avLst/>
          </a:prstGeom>
          <a:solidFill>
            <a:schemeClr val="accent3"/>
          </a:solidFill>
          <a:ln w="12700">
            <a:solidFill>
              <a:schemeClr val="accent3"/>
            </a:solidFill>
            <a:prstDash val="solid"/>
          </a:ln>
        </p:spPr>
      </p:sp>
      <p:sp>
        <p:nvSpPr>
          <p:cNvPr id="11" name="Text 9"/>
          <p:cNvSpPr txBox="1"/>
          <p:nvPr/>
        </p:nvSpPr>
        <p:spPr>
          <a:xfrm>
            <a:off x="960120" y="4270248"/>
            <a:ext cx="3749040" cy="731520"/>
          </a:xfrm>
          <a:prstGeom prst="rect">
            <a:avLst/>
          </a:prstGeom>
          <a:noFill/>
          <a:ln/>
        </p:spPr>
        <p:txBody>
          <a:bodyPr wrap="square" lIns="0" tIns="0" rIns="0" bIns="0" rtlCol="0" anchor="t"/>
          <a:lstStyle/>
          <a:p>
            <a:pPr indent="0" marL="0">
              <a:buNone/>
            </a:pPr>
            <a:r>
              <a:rPr lang="en-US" sz="1700" dirty="0">
                <a:solidFill>
                  <a:schemeClr val="tx1"/>
                </a:solidFill>
              </a:rPr>
              <a:t>Expandable retrieved experience evidence</a:t>
            </a:r>
            <a:endParaRPr lang="en-US" sz="1700" dirty="0"/>
          </a:p>
        </p:txBody>
      </p:sp>
      <p:sp>
        <p:nvSpPr>
          <p:cNvPr id="12" name="Shape 10"/>
          <p:cNvSpPr/>
          <p:nvPr/>
        </p:nvSpPr>
        <p:spPr>
          <a:xfrm>
            <a:off x="548640" y="5257800"/>
            <a:ext cx="201168" cy="201168"/>
          </a:xfrm>
          <a:prstGeom prst="ellipse">
            <a:avLst/>
          </a:prstGeom>
          <a:solidFill>
            <a:schemeClr val="accent3"/>
          </a:solidFill>
          <a:ln w="12700">
            <a:solidFill>
              <a:schemeClr val="accent3"/>
            </a:solidFill>
            <a:prstDash val="solid"/>
          </a:ln>
        </p:spPr>
      </p:sp>
      <p:sp>
        <p:nvSpPr>
          <p:cNvPr id="13" name="Text 11"/>
          <p:cNvSpPr txBox="1"/>
          <p:nvPr/>
        </p:nvSpPr>
        <p:spPr>
          <a:xfrm>
            <a:off x="960120" y="5138928"/>
            <a:ext cx="3749040" cy="731520"/>
          </a:xfrm>
          <a:prstGeom prst="rect">
            <a:avLst/>
          </a:prstGeom>
          <a:noFill/>
          <a:ln/>
        </p:spPr>
        <p:txBody>
          <a:bodyPr wrap="square" lIns="0" tIns="0" rIns="0" bIns="0" rtlCol="0" anchor="t"/>
          <a:lstStyle/>
          <a:p>
            <a:pPr indent="0" marL="0">
              <a:buNone/>
            </a:pPr>
            <a:r>
              <a:rPr lang="en-US" sz="1700" dirty="0">
                <a:solidFill>
                  <a:schemeClr val="tx1"/>
                </a:solidFill>
              </a:rPr>
              <a:t>Light/Dark appearance and animated airplane loading screen</a:t>
            </a:r>
            <a:endParaRPr lang="en-US" sz="1700" dirty="0"/>
          </a:p>
        </p:txBody>
      </p:sp>
      <p:sp>
        <p:nvSpPr>
          <p:cNvPr id="14" name="Text 12"/>
          <p:cNvSpPr/>
          <p:nvPr/>
        </p:nvSpPr>
        <p:spPr>
          <a:xfrm>
            <a:off x="5120640" y="1463040"/>
            <a:ext cx="3931920" cy="292608"/>
          </a:xfrm>
          <a:prstGeom prst="roundRect">
            <a:avLst>
              <a:gd name="adj" fmla="val 93750"/>
            </a:avLst>
          </a:prstGeom>
          <a:solidFill>
            <a:schemeClr val="accent3"/>
          </a:solidFill>
          <a:ln/>
        </p:spPr>
        <p:txBody>
          <a:bodyPr wrap="square" lIns="0" tIns="1016" rIns="1016" bIns="0" rtlCol="0" anchor="ctr"/>
          <a:lstStyle/>
          <a:p>
            <a:pPr algn="ctr" indent="0" marL="0">
              <a:buNone/>
            </a:pPr>
            <a:r>
              <a:rPr lang="en-US" sz="1200" b="1" spc="100" kern="0" dirty="0">
                <a:solidFill>
                  <a:schemeClr val="bg1"/>
                </a:solidFill>
              </a:rPr>
              <a:t>ILLUSTRATIVE MOCK-UP — NOT A SCREENSHOT</a:t>
            </a:r>
            <a:endParaRPr lang="en-US" sz="1200" dirty="0"/>
          </a:p>
        </p:txBody>
      </p:sp>
      <p:sp>
        <p:nvSpPr>
          <p:cNvPr id="15" name="m10_frame"/>
          <p:cNvSpPr/>
          <p:nvPr/>
        </p:nvSpPr>
        <p:spPr>
          <a:xfrm>
            <a:off x="5120640" y="1874520"/>
            <a:ext cx="6519672" cy="4343400"/>
          </a:xfrm>
          <a:prstGeom prst="roundRect">
            <a:avLst>
              <a:gd name="adj" fmla="val 2526"/>
            </a:avLst>
          </a:prstGeom>
          <a:solidFill>
            <a:schemeClr val="bg1"/>
          </a:solidFill>
          <a:ln w="12700">
            <a:solidFill>
              <a:schemeClr val="accent6"/>
            </a:solidFill>
            <a:prstDash val="solid"/>
          </a:ln>
          <a:effectLst>
            <a:outerShdw sx="100000" sy="100000" kx="0" ky="0" algn="bl" rotWithShape="0" blurRad="101600" dist="25400" dir="5400000">
              <a:srgbClr val="1B2B24">
                <a:alpha val="14000"/>
              </a:srgbClr>
            </a:outerShdw>
          </a:effectLst>
        </p:spPr>
      </p:sp>
      <p:sp>
        <p:nvSpPr>
          <p:cNvPr id="16" name="Shape 14"/>
          <p:cNvSpPr/>
          <p:nvPr/>
        </p:nvSpPr>
        <p:spPr>
          <a:xfrm>
            <a:off x="5303520" y="2029968"/>
            <a:ext cx="118872" cy="118872"/>
          </a:xfrm>
          <a:prstGeom prst="ellipse">
            <a:avLst/>
          </a:prstGeom>
          <a:solidFill>
            <a:schemeClr val="accent3"/>
          </a:solidFill>
          <a:ln w="12700">
            <a:solidFill>
              <a:schemeClr val="accent5"/>
            </a:solidFill>
            <a:prstDash val="solid"/>
          </a:ln>
        </p:spPr>
      </p:sp>
      <p:sp>
        <p:nvSpPr>
          <p:cNvPr id="17" name="Shape 15"/>
          <p:cNvSpPr/>
          <p:nvPr/>
        </p:nvSpPr>
        <p:spPr>
          <a:xfrm>
            <a:off x="5504688" y="2029968"/>
            <a:ext cx="118872" cy="118872"/>
          </a:xfrm>
          <a:prstGeom prst="ellipse">
            <a:avLst/>
          </a:prstGeom>
          <a:solidFill>
            <a:schemeClr val="accent5"/>
          </a:solidFill>
          <a:ln w="12700">
            <a:solidFill>
              <a:schemeClr val="accent5"/>
            </a:solidFill>
            <a:prstDash val="solid"/>
          </a:ln>
        </p:spPr>
      </p:sp>
      <p:sp>
        <p:nvSpPr>
          <p:cNvPr id="18" name="Shape 16"/>
          <p:cNvSpPr/>
          <p:nvPr/>
        </p:nvSpPr>
        <p:spPr>
          <a:xfrm>
            <a:off x="5705856" y="2029968"/>
            <a:ext cx="118872" cy="118872"/>
          </a:xfrm>
          <a:prstGeom prst="ellipse">
            <a:avLst/>
          </a:prstGeom>
          <a:solidFill>
            <a:schemeClr val="accent2"/>
          </a:solidFill>
          <a:ln w="12700">
            <a:solidFill>
              <a:schemeClr val="accent5"/>
            </a:solidFill>
            <a:prstDash val="solid"/>
          </a:ln>
        </p:spPr>
      </p:sp>
      <p:sp>
        <p:nvSpPr>
          <p:cNvPr id="19" name="Text 17"/>
          <p:cNvSpPr txBox="1"/>
          <p:nvPr/>
        </p:nvSpPr>
        <p:spPr>
          <a:xfrm>
            <a:off x="6126480" y="1965960"/>
            <a:ext cx="2743200" cy="274320"/>
          </a:xfrm>
          <a:prstGeom prst="rect">
            <a:avLst/>
          </a:prstGeom>
          <a:noFill/>
          <a:ln/>
        </p:spPr>
        <p:txBody>
          <a:bodyPr wrap="square" lIns="0" tIns="0" rIns="0" bIns="0" rtlCol="0" anchor="ctr"/>
          <a:lstStyle/>
          <a:p>
            <a:pPr indent="0" marL="0">
              <a:buNone/>
            </a:pPr>
            <a:r>
              <a:rPr lang="en-US" sz="1200" b="1" dirty="0">
                <a:solidFill>
                  <a:schemeClr val="tx2"/>
                </a:solidFill>
              </a:rPr>
              <a:t>Wayfarer Travel Studio</a:t>
            </a:r>
            <a:endParaRPr lang="en-US" sz="1200" dirty="0"/>
          </a:p>
        </p:txBody>
      </p:sp>
      <p:sp>
        <p:nvSpPr>
          <p:cNvPr id="20" name="Text 18"/>
          <p:cNvSpPr/>
          <p:nvPr/>
        </p:nvSpPr>
        <p:spPr>
          <a:xfrm>
            <a:off x="10314432" y="1965960"/>
            <a:ext cx="1143000" cy="274320"/>
          </a:xfrm>
          <a:prstGeom prst="roundRect">
            <a:avLst>
              <a:gd name="adj" fmla="val 100000"/>
            </a:avLst>
          </a:prstGeom>
          <a:solidFill>
            <a:schemeClr val="accent5"/>
          </a:solidFill>
          <a:ln/>
        </p:spPr>
        <p:txBody>
          <a:bodyPr wrap="square" lIns="0" tIns="1016" rIns="1016" bIns="0" rtlCol="0" anchor="ctr"/>
          <a:lstStyle/>
          <a:p>
            <a:pPr algn="ctr" indent="0" marL="0">
              <a:buNone/>
            </a:pPr>
            <a:r>
              <a:rPr lang="en-US" sz="1100" b="1" dirty="0">
                <a:solidFill>
                  <a:schemeClr val="tx2"/>
                </a:solidFill>
              </a:rPr>
              <a:t>Light | Dark</a:t>
            </a:r>
            <a:endParaRPr lang="en-US" sz="1100" dirty="0"/>
          </a:p>
        </p:txBody>
      </p:sp>
      <p:pic>
        <p:nvPicPr>
          <p:cNvPr id="21" name="Image 0" descr="Coastal hero image in the mock-up">    </p:cNvPr>
          <p:cNvPicPr>
            <a:picLocks noChangeAspect="1"/>
          </p:cNvPicPr>
          <p:nvPr/>
        </p:nvPicPr>
        <p:blipFill>
          <a:blip r:embed="rId1"/>
          <a:srcRect l="0" r="0" t="0" b="0"/>
          <a:stretch/>
        </p:blipFill>
        <p:spPr>
          <a:xfrm>
            <a:off x="5303520" y="2377440"/>
            <a:ext cx="6153912" cy="868680"/>
          </a:xfrm>
          <a:prstGeom prst="rect">
            <a:avLst/>
          </a:prstGeom>
        </p:spPr>
      </p:pic>
      <p:sp>
        <p:nvSpPr>
          <p:cNvPr id="22" name="Shape 19"/>
          <p:cNvSpPr/>
          <p:nvPr/>
        </p:nvSpPr>
        <p:spPr>
          <a:xfrm>
            <a:off x="5303520" y="3355848"/>
            <a:ext cx="4919472" cy="457200"/>
          </a:xfrm>
          <a:prstGeom prst="roundRect">
            <a:avLst>
              <a:gd name="adj" fmla="val 24000"/>
            </a:avLst>
          </a:prstGeom>
          <a:solidFill>
            <a:schemeClr val="bg2"/>
          </a:solidFill>
          <a:ln w="15875">
            <a:solidFill>
              <a:schemeClr val="accent2"/>
            </a:solidFill>
            <a:prstDash val="solid"/>
          </a:ln>
        </p:spPr>
      </p:sp>
      <p:sp>
        <p:nvSpPr>
          <p:cNvPr id="23" name="Text 20"/>
          <p:cNvSpPr txBox="1"/>
          <p:nvPr/>
        </p:nvSpPr>
        <p:spPr>
          <a:xfrm>
            <a:off x="5486400" y="3355848"/>
            <a:ext cx="2743200" cy="457200"/>
          </a:xfrm>
          <a:prstGeom prst="rect">
            <a:avLst/>
          </a:prstGeom>
          <a:noFill/>
          <a:ln/>
        </p:spPr>
        <p:txBody>
          <a:bodyPr wrap="square" lIns="0" tIns="0" rIns="0" bIns="0" rtlCol="0" anchor="ctr"/>
          <a:lstStyle/>
          <a:p>
            <a:pPr indent="0" marL="0">
              <a:buNone/>
            </a:pPr>
            <a:r>
              <a:rPr lang="en-US" sz="1200" dirty="0">
                <a:solidFill>
                  <a:schemeClr val="accent6"/>
                </a:solidFill>
              </a:rPr>
              <a:t>Describe your trip…</a:t>
            </a:r>
            <a:endParaRPr lang="en-US" sz="1200" dirty="0"/>
          </a:p>
        </p:txBody>
      </p:sp>
      <p:sp>
        <p:nvSpPr>
          <p:cNvPr id="24" name="Text 21"/>
          <p:cNvSpPr/>
          <p:nvPr/>
        </p:nvSpPr>
        <p:spPr>
          <a:xfrm>
            <a:off x="10360152" y="3355848"/>
            <a:ext cx="1097280" cy="457200"/>
          </a:xfrm>
          <a:prstGeom prst="roundRect">
            <a:avLst>
              <a:gd name="adj" fmla="val 60000"/>
            </a:avLst>
          </a:prstGeom>
          <a:solidFill>
            <a:schemeClr val="accent3"/>
          </a:solidFill>
          <a:ln/>
        </p:spPr>
        <p:txBody>
          <a:bodyPr wrap="square" lIns="0" tIns="1016" rIns="1016" bIns="0" rtlCol="0" anchor="ctr"/>
          <a:lstStyle/>
          <a:p>
            <a:pPr algn="ctr" indent="0" marL="0">
              <a:buNone/>
            </a:pPr>
            <a:r>
              <a:rPr lang="en-US" sz="1300" b="1" dirty="0">
                <a:solidFill>
                  <a:schemeClr val="bg1"/>
                </a:solidFill>
              </a:rPr>
              <a:t>Search</a:t>
            </a:r>
            <a:endParaRPr lang="en-US" sz="1300" dirty="0"/>
          </a:p>
        </p:txBody>
      </p:sp>
      <p:sp>
        <p:nvSpPr>
          <p:cNvPr id="25" name="Text 22"/>
          <p:cNvSpPr/>
          <p:nvPr/>
        </p:nvSpPr>
        <p:spPr>
          <a:xfrm>
            <a:off x="5303520" y="3904488"/>
            <a:ext cx="1325880" cy="292608"/>
          </a:xfrm>
          <a:prstGeom prst="roundRect">
            <a:avLst>
              <a:gd name="adj" fmla="val 93750"/>
            </a:avLst>
          </a:prstGeom>
          <a:solidFill>
            <a:schemeClr val="accent5"/>
          </a:solidFill>
          <a:ln/>
        </p:spPr>
        <p:txBody>
          <a:bodyPr wrap="square" lIns="0" tIns="1016" rIns="1016" bIns="0" rtlCol="0" anchor="ctr"/>
          <a:lstStyle/>
          <a:p>
            <a:pPr algn="ctr" indent="0" marL="0">
              <a:buNone/>
            </a:pPr>
            <a:r>
              <a:rPr lang="en-US" sz="1100" dirty="0">
                <a:solidFill>
                  <a:schemeClr val="tx2"/>
                </a:solidFill>
              </a:rPr>
              <a:t>Destination ▾</a:t>
            </a:r>
            <a:endParaRPr lang="en-US" sz="1100" dirty="0"/>
          </a:p>
        </p:txBody>
      </p:sp>
      <p:sp>
        <p:nvSpPr>
          <p:cNvPr id="26" name="Text 23"/>
          <p:cNvSpPr/>
          <p:nvPr/>
        </p:nvSpPr>
        <p:spPr>
          <a:xfrm>
            <a:off x="6720840" y="3904488"/>
            <a:ext cx="1325880" cy="292608"/>
          </a:xfrm>
          <a:prstGeom prst="roundRect">
            <a:avLst>
              <a:gd name="adj" fmla="val 93750"/>
            </a:avLst>
          </a:prstGeom>
          <a:solidFill>
            <a:schemeClr val="accent5"/>
          </a:solidFill>
          <a:ln/>
        </p:spPr>
        <p:txBody>
          <a:bodyPr wrap="square" lIns="0" tIns="1016" rIns="1016" bIns="0" rtlCol="0" anchor="ctr"/>
          <a:lstStyle/>
          <a:p>
            <a:pPr algn="ctr" indent="0" marL="0">
              <a:buNone/>
            </a:pPr>
            <a:r>
              <a:rPr lang="en-US" sz="1100" dirty="0">
                <a:solidFill>
                  <a:schemeClr val="tx2"/>
                </a:solidFill>
              </a:rPr>
              <a:t>Travel party ▾</a:t>
            </a:r>
            <a:endParaRPr lang="en-US" sz="1100" dirty="0"/>
          </a:p>
        </p:txBody>
      </p:sp>
      <p:sp>
        <p:nvSpPr>
          <p:cNvPr id="27" name="Text 24"/>
          <p:cNvSpPr/>
          <p:nvPr/>
        </p:nvSpPr>
        <p:spPr>
          <a:xfrm>
            <a:off x="8138160" y="3904488"/>
            <a:ext cx="1325880" cy="292608"/>
          </a:xfrm>
          <a:prstGeom prst="roundRect">
            <a:avLst>
              <a:gd name="adj" fmla="val 93750"/>
            </a:avLst>
          </a:prstGeom>
          <a:solidFill>
            <a:schemeClr val="accent5"/>
          </a:solidFill>
          <a:ln/>
        </p:spPr>
        <p:txBody>
          <a:bodyPr wrap="square" lIns="0" tIns="1016" rIns="1016" bIns="0" rtlCol="0" anchor="ctr"/>
          <a:lstStyle/>
          <a:p>
            <a:pPr algn="ctr" indent="0" marL="0">
              <a:buNone/>
            </a:pPr>
            <a:r>
              <a:rPr lang="en-US" sz="1100" dirty="0">
                <a:solidFill>
                  <a:schemeClr val="tx2"/>
                </a:solidFill>
              </a:rPr>
              <a:t>Rating range ▾</a:t>
            </a:r>
            <a:endParaRPr lang="en-US" sz="1100" dirty="0"/>
          </a:p>
        </p:txBody>
      </p:sp>
      <p:sp>
        <p:nvSpPr>
          <p:cNvPr id="28" name="m10_res0"/>
          <p:cNvSpPr/>
          <p:nvPr/>
        </p:nvSpPr>
        <p:spPr>
          <a:xfrm>
            <a:off x="5303520" y="4343400"/>
            <a:ext cx="2985516" cy="1143000"/>
          </a:xfrm>
          <a:prstGeom prst="roundRect">
            <a:avLst>
              <a:gd name="adj" fmla="val 9600"/>
            </a:avLst>
          </a:prstGeom>
          <a:solidFill>
            <a:schemeClr val="accent2">
              <a:alpha val="40000"/>
            </a:schemeClr>
          </a:solidFill>
          <a:ln w="12700">
            <a:solidFill>
              <a:schemeClr val="accent2"/>
            </a:solidFill>
            <a:prstDash val="solid"/>
          </a:ln>
        </p:spPr>
      </p:sp>
      <p:sp>
        <p:nvSpPr>
          <p:cNvPr id="29" name="m10_rest0"/>
          <p:cNvSpPr txBox="1"/>
          <p:nvPr/>
        </p:nvSpPr>
        <p:spPr>
          <a:xfrm>
            <a:off x="5440680" y="4389120"/>
            <a:ext cx="2711196" cy="274320"/>
          </a:xfrm>
          <a:prstGeom prst="rect">
            <a:avLst/>
          </a:prstGeom>
          <a:noFill/>
          <a:ln/>
        </p:spPr>
        <p:txBody>
          <a:bodyPr wrap="square" lIns="0" tIns="0" rIns="0" bIns="0" rtlCol="0" anchor="t"/>
          <a:lstStyle/>
          <a:p>
            <a:pPr indent="0" marL="0">
              <a:buNone/>
            </a:pPr>
            <a:r>
              <a:rPr lang="en-US" sz="1200" b="1" dirty="0">
                <a:solidFill>
                  <a:schemeClr val="tx2"/>
                </a:solidFill>
              </a:rPr>
              <a:t>Destination results</a:t>
            </a:r>
            <a:endParaRPr lang="en-US" sz="1200" dirty="0"/>
          </a:p>
        </p:txBody>
      </p:sp>
      <p:sp>
        <p:nvSpPr>
          <p:cNvPr id="30" name="m10_rl00"/>
          <p:cNvSpPr txBox="1"/>
          <p:nvPr/>
        </p:nvSpPr>
        <p:spPr>
          <a:xfrm>
            <a:off x="5440680" y="4690872"/>
            <a:ext cx="1188720" cy="219456"/>
          </a:xfrm>
          <a:prstGeom prst="rect">
            <a:avLst/>
          </a:prstGeom>
          <a:noFill/>
          <a:ln/>
        </p:spPr>
        <p:txBody>
          <a:bodyPr wrap="square" lIns="0" tIns="0" rIns="0" bIns="0" rtlCol="0" anchor="ctr"/>
          <a:lstStyle/>
          <a:p>
            <a:pPr indent="0" marL="0">
              <a:buNone/>
            </a:pPr>
            <a:r>
              <a:rPr lang="en-US" sz="1100" dirty="0">
                <a:solidFill>
                  <a:schemeClr val="tx1"/>
                </a:solidFill>
              </a:rPr>
              <a:t>Destination A</a:t>
            </a:r>
            <a:endParaRPr lang="en-US" sz="1100" dirty="0"/>
          </a:p>
        </p:txBody>
      </p:sp>
      <p:sp>
        <p:nvSpPr>
          <p:cNvPr id="31" name="m10_rb00"/>
          <p:cNvSpPr/>
          <p:nvPr/>
        </p:nvSpPr>
        <p:spPr>
          <a:xfrm>
            <a:off x="6675120" y="4745736"/>
            <a:ext cx="1098469" cy="118872"/>
          </a:xfrm>
          <a:prstGeom prst="rect">
            <a:avLst/>
          </a:prstGeom>
          <a:solidFill>
            <a:schemeClr val="accent1"/>
          </a:solidFill>
          <a:ln w="12700">
            <a:solidFill>
              <a:schemeClr val="accent1"/>
            </a:solidFill>
            <a:prstDash val="solid"/>
          </a:ln>
        </p:spPr>
      </p:sp>
      <p:sp>
        <p:nvSpPr>
          <p:cNvPr id="32" name="m10_rl01"/>
          <p:cNvSpPr txBox="1"/>
          <p:nvPr/>
        </p:nvSpPr>
        <p:spPr>
          <a:xfrm>
            <a:off x="5440680" y="4946904"/>
            <a:ext cx="1188720" cy="219456"/>
          </a:xfrm>
          <a:prstGeom prst="rect">
            <a:avLst/>
          </a:prstGeom>
          <a:noFill/>
          <a:ln/>
        </p:spPr>
        <p:txBody>
          <a:bodyPr wrap="square" lIns="0" tIns="0" rIns="0" bIns="0" rtlCol="0" anchor="ctr"/>
          <a:lstStyle/>
          <a:p>
            <a:pPr indent="0" marL="0">
              <a:buNone/>
            </a:pPr>
            <a:r>
              <a:rPr lang="en-US" sz="1100" dirty="0">
                <a:solidFill>
                  <a:schemeClr val="tx1"/>
                </a:solidFill>
              </a:rPr>
              <a:t>Destination B</a:t>
            </a:r>
            <a:endParaRPr lang="en-US" sz="1100" dirty="0"/>
          </a:p>
        </p:txBody>
      </p:sp>
      <p:sp>
        <p:nvSpPr>
          <p:cNvPr id="33" name="m10_rb01"/>
          <p:cNvSpPr/>
          <p:nvPr/>
        </p:nvSpPr>
        <p:spPr>
          <a:xfrm>
            <a:off x="6675120" y="5001768"/>
            <a:ext cx="803758" cy="118872"/>
          </a:xfrm>
          <a:prstGeom prst="rect">
            <a:avLst/>
          </a:prstGeom>
          <a:solidFill>
            <a:schemeClr val="accent1"/>
          </a:solidFill>
          <a:ln w="12700">
            <a:solidFill>
              <a:schemeClr val="accent1"/>
            </a:solidFill>
            <a:prstDash val="solid"/>
          </a:ln>
        </p:spPr>
      </p:sp>
      <p:sp>
        <p:nvSpPr>
          <p:cNvPr id="34" name="m10_rl02"/>
          <p:cNvSpPr txBox="1"/>
          <p:nvPr/>
        </p:nvSpPr>
        <p:spPr>
          <a:xfrm>
            <a:off x="5440680" y="5202936"/>
            <a:ext cx="1188720" cy="219456"/>
          </a:xfrm>
          <a:prstGeom prst="rect">
            <a:avLst/>
          </a:prstGeom>
          <a:noFill/>
          <a:ln/>
        </p:spPr>
        <p:txBody>
          <a:bodyPr wrap="square" lIns="0" tIns="0" rIns="0" bIns="0" rtlCol="0" anchor="ctr"/>
          <a:lstStyle/>
          <a:p>
            <a:pPr indent="0" marL="0">
              <a:buNone/>
            </a:pPr>
            <a:r>
              <a:rPr lang="en-US" sz="1100" dirty="0">
                <a:solidFill>
                  <a:schemeClr val="tx1"/>
                </a:solidFill>
              </a:rPr>
              <a:t>Destination C</a:t>
            </a:r>
            <a:endParaRPr lang="en-US" sz="1100" dirty="0"/>
          </a:p>
        </p:txBody>
      </p:sp>
      <p:sp>
        <p:nvSpPr>
          <p:cNvPr id="35" name="m10_rb02"/>
          <p:cNvSpPr/>
          <p:nvPr/>
        </p:nvSpPr>
        <p:spPr>
          <a:xfrm>
            <a:off x="6675120" y="5257800"/>
            <a:ext cx="602818" cy="118872"/>
          </a:xfrm>
          <a:prstGeom prst="rect">
            <a:avLst/>
          </a:prstGeom>
          <a:solidFill>
            <a:schemeClr val="accent1"/>
          </a:solidFill>
          <a:ln w="12700">
            <a:solidFill>
              <a:schemeClr val="accent1"/>
            </a:solidFill>
            <a:prstDash val="solid"/>
          </a:ln>
        </p:spPr>
      </p:sp>
      <p:sp>
        <p:nvSpPr>
          <p:cNvPr id="36" name="m10_res1"/>
          <p:cNvSpPr/>
          <p:nvPr/>
        </p:nvSpPr>
        <p:spPr>
          <a:xfrm>
            <a:off x="8471916" y="4343400"/>
            <a:ext cx="2985516" cy="1143000"/>
          </a:xfrm>
          <a:prstGeom prst="roundRect">
            <a:avLst>
              <a:gd name="adj" fmla="val 9600"/>
            </a:avLst>
          </a:prstGeom>
          <a:solidFill>
            <a:schemeClr val="accent2">
              <a:alpha val="40000"/>
            </a:schemeClr>
          </a:solidFill>
          <a:ln w="12700">
            <a:solidFill>
              <a:schemeClr val="accent2"/>
            </a:solidFill>
            <a:prstDash val="solid"/>
          </a:ln>
        </p:spPr>
      </p:sp>
      <p:sp>
        <p:nvSpPr>
          <p:cNvPr id="37" name="m10_rest1"/>
          <p:cNvSpPr txBox="1"/>
          <p:nvPr/>
        </p:nvSpPr>
        <p:spPr>
          <a:xfrm>
            <a:off x="8609076" y="4389120"/>
            <a:ext cx="2711196" cy="274320"/>
          </a:xfrm>
          <a:prstGeom prst="rect">
            <a:avLst/>
          </a:prstGeom>
          <a:noFill/>
          <a:ln/>
        </p:spPr>
        <p:txBody>
          <a:bodyPr wrap="square" lIns="0" tIns="0" rIns="0" bIns="0" rtlCol="0" anchor="t"/>
          <a:lstStyle/>
          <a:p>
            <a:pPr indent="0" marL="0">
              <a:buNone/>
            </a:pPr>
            <a:r>
              <a:rPr lang="en-US" sz="1200" b="1" dirty="0">
                <a:solidFill>
                  <a:schemeClr val="tx2"/>
                </a:solidFill>
              </a:rPr>
              <a:t>Activity results</a:t>
            </a:r>
            <a:endParaRPr lang="en-US" sz="1200" dirty="0"/>
          </a:p>
        </p:txBody>
      </p:sp>
      <p:sp>
        <p:nvSpPr>
          <p:cNvPr id="38" name="m10_rl10"/>
          <p:cNvSpPr txBox="1"/>
          <p:nvPr/>
        </p:nvSpPr>
        <p:spPr>
          <a:xfrm>
            <a:off x="8609076" y="4690872"/>
            <a:ext cx="1188720" cy="219456"/>
          </a:xfrm>
          <a:prstGeom prst="rect">
            <a:avLst/>
          </a:prstGeom>
          <a:noFill/>
          <a:ln/>
        </p:spPr>
        <p:txBody>
          <a:bodyPr wrap="square" lIns="0" tIns="0" rIns="0" bIns="0" rtlCol="0" anchor="ctr"/>
          <a:lstStyle/>
          <a:p>
            <a:pPr indent="0" marL="0">
              <a:buNone/>
            </a:pPr>
            <a:r>
              <a:rPr lang="en-US" sz="1100" dirty="0">
                <a:solidFill>
                  <a:schemeClr val="tx1"/>
                </a:solidFill>
              </a:rPr>
              <a:t>Activity A</a:t>
            </a:r>
            <a:endParaRPr lang="en-US" sz="1100" dirty="0"/>
          </a:p>
        </p:txBody>
      </p:sp>
      <p:sp>
        <p:nvSpPr>
          <p:cNvPr id="39" name="m10_rb10"/>
          <p:cNvSpPr/>
          <p:nvPr/>
        </p:nvSpPr>
        <p:spPr>
          <a:xfrm>
            <a:off x="9843516" y="4745736"/>
            <a:ext cx="1098469" cy="118872"/>
          </a:xfrm>
          <a:prstGeom prst="rect">
            <a:avLst/>
          </a:prstGeom>
          <a:solidFill>
            <a:schemeClr val="accent1"/>
          </a:solidFill>
          <a:ln w="12700">
            <a:solidFill>
              <a:schemeClr val="accent1"/>
            </a:solidFill>
            <a:prstDash val="solid"/>
          </a:ln>
        </p:spPr>
      </p:sp>
      <p:sp>
        <p:nvSpPr>
          <p:cNvPr id="40" name="m10_rl11"/>
          <p:cNvSpPr txBox="1"/>
          <p:nvPr/>
        </p:nvSpPr>
        <p:spPr>
          <a:xfrm>
            <a:off x="8609076" y="4946904"/>
            <a:ext cx="1188720" cy="219456"/>
          </a:xfrm>
          <a:prstGeom prst="rect">
            <a:avLst/>
          </a:prstGeom>
          <a:noFill/>
          <a:ln/>
        </p:spPr>
        <p:txBody>
          <a:bodyPr wrap="square" lIns="0" tIns="0" rIns="0" bIns="0" rtlCol="0" anchor="ctr"/>
          <a:lstStyle/>
          <a:p>
            <a:pPr indent="0" marL="0">
              <a:buNone/>
            </a:pPr>
            <a:r>
              <a:rPr lang="en-US" sz="1100" dirty="0">
                <a:solidFill>
                  <a:schemeClr val="tx1"/>
                </a:solidFill>
              </a:rPr>
              <a:t>Activity B</a:t>
            </a:r>
            <a:endParaRPr lang="en-US" sz="1100" dirty="0"/>
          </a:p>
        </p:txBody>
      </p:sp>
      <p:sp>
        <p:nvSpPr>
          <p:cNvPr id="41" name="m10_rb11"/>
          <p:cNvSpPr/>
          <p:nvPr/>
        </p:nvSpPr>
        <p:spPr>
          <a:xfrm>
            <a:off x="9843516" y="5001768"/>
            <a:ext cx="803758" cy="118872"/>
          </a:xfrm>
          <a:prstGeom prst="rect">
            <a:avLst/>
          </a:prstGeom>
          <a:solidFill>
            <a:schemeClr val="accent1"/>
          </a:solidFill>
          <a:ln w="12700">
            <a:solidFill>
              <a:schemeClr val="accent1"/>
            </a:solidFill>
            <a:prstDash val="solid"/>
          </a:ln>
        </p:spPr>
      </p:sp>
      <p:sp>
        <p:nvSpPr>
          <p:cNvPr id="42" name="m10_rl12"/>
          <p:cNvSpPr txBox="1"/>
          <p:nvPr/>
        </p:nvSpPr>
        <p:spPr>
          <a:xfrm>
            <a:off x="8609076" y="5202936"/>
            <a:ext cx="1188720" cy="219456"/>
          </a:xfrm>
          <a:prstGeom prst="rect">
            <a:avLst/>
          </a:prstGeom>
          <a:noFill/>
          <a:ln/>
        </p:spPr>
        <p:txBody>
          <a:bodyPr wrap="square" lIns="0" tIns="0" rIns="0" bIns="0" rtlCol="0" anchor="ctr"/>
          <a:lstStyle/>
          <a:p>
            <a:pPr indent="0" marL="0">
              <a:buNone/>
            </a:pPr>
            <a:r>
              <a:rPr lang="en-US" sz="1100" dirty="0">
                <a:solidFill>
                  <a:schemeClr val="tx1"/>
                </a:solidFill>
              </a:rPr>
              <a:t>Activity C</a:t>
            </a:r>
            <a:endParaRPr lang="en-US" sz="1100" dirty="0"/>
          </a:p>
        </p:txBody>
      </p:sp>
      <p:sp>
        <p:nvSpPr>
          <p:cNvPr id="43" name="m10_rb12"/>
          <p:cNvSpPr/>
          <p:nvPr/>
        </p:nvSpPr>
        <p:spPr>
          <a:xfrm>
            <a:off x="9843516" y="5257800"/>
            <a:ext cx="602818" cy="118872"/>
          </a:xfrm>
          <a:prstGeom prst="rect">
            <a:avLst/>
          </a:prstGeom>
          <a:solidFill>
            <a:schemeClr val="accent1"/>
          </a:solidFill>
          <a:ln w="12700">
            <a:solidFill>
              <a:schemeClr val="accent1"/>
            </a:solidFill>
            <a:prstDash val="solid"/>
          </a:ln>
        </p:spPr>
      </p:sp>
      <p:sp>
        <p:nvSpPr>
          <p:cNvPr id="44" name="Shape 41"/>
          <p:cNvSpPr/>
          <p:nvPr/>
        </p:nvSpPr>
        <p:spPr>
          <a:xfrm>
            <a:off x="5303520" y="5577840"/>
            <a:ext cx="6153912" cy="256032"/>
          </a:xfrm>
          <a:prstGeom prst="roundRect">
            <a:avLst>
              <a:gd name="adj" fmla="val 42857"/>
            </a:avLst>
          </a:prstGeom>
          <a:solidFill>
            <a:schemeClr val="bg2"/>
          </a:solidFill>
          <a:ln w="9525">
            <a:solidFill>
              <a:schemeClr val="accent2"/>
            </a:solidFill>
            <a:prstDash val="solid"/>
          </a:ln>
        </p:spPr>
      </p:sp>
      <p:sp>
        <p:nvSpPr>
          <p:cNvPr id="45" name="Text 42"/>
          <p:cNvSpPr txBox="1"/>
          <p:nvPr/>
        </p:nvSpPr>
        <p:spPr>
          <a:xfrm>
            <a:off x="5440680" y="5577840"/>
            <a:ext cx="5879592" cy="256032"/>
          </a:xfrm>
          <a:prstGeom prst="rect">
            <a:avLst/>
          </a:prstGeom>
          <a:noFill/>
          <a:ln/>
        </p:spPr>
        <p:txBody>
          <a:bodyPr wrap="square" lIns="0" tIns="0" rIns="0" bIns="0" rtlCol="0" anchor="ctr"/>
          <a:lstStyle/>
          <a:p>
            <a:pPr indent="0" marL="0">
              <a:buNone/>
            </a:pPr>
            <a:r>
              <a:rPr lang="en-US" sz="1100" dirty="0">
                <a:solidFill>
                  <a:schemeClr val="tx1"/>
                </a:solidFill>
              </a:rPr>
              <a:t>▸  Retrieved evidence record 1</a:t>
            </a:r>
            <a:endParaRPr lang="en-US" sz="1100" dirty="0"/>
          </a:p>
        </p:txBody>
      </p:sp>
      <p:sp>
        <p:nvSpPr>
          <p:cNvPr id="46" name="Shape 43"/>
          <p:cNvSpPr/>
          <p:nvPr/>
        </p:nvSpPr>
        <p:spPr>
          <a:xfrm>
            <a:off x="5303520" y="5879592"/>
            <a:ext cx="6153912" cy="256032"/>
          </a:xfrm>
          <a:prstGeom prst="roundRect">
            <a:avLst>
              <a:gd name="adj" fmla="val 42857"/>
            </a:avLst>
          </a:prstGeom>
          <a:solidFill>
            <a:schemeClr val="bg2"/>
          </a:solidFill>
          <a:ln w="9525">
            <a:solidFill>
              <a:schemeClr val="accent2"/>
            </a:solidFill>
            <a:prstDash val="solid"/>
          </a:ln>
        </p:spPr>
      </p:sp>
      <p:sp>
        <p:nvSpPr>
          <p:cNvPr id="47" name="Text 44"/>
          <p:cNvSpPr txBox="1"/>
          <p:nvPr/>
        </p:nvSpPr>
        <p:spPr>
          <a:xfrm>
            <a:off x="5440680" y="5879592"/>
            <a:ext cx="5879592" cy="256032"/>
          </a:xfrm>
          <a:prstGeom prst="rect">
            <a:avLst/>
          </a:prstGeom>
          <a:noFill/>
          <a:ln/>
        </p:spPr>
        <p:txBody>
          <a:bodyPr wrap="square" lIns="0" tIns="0" rIns="0" bIns="0" rtlCol="0" anchor="ctr"/>
          <a:lstStyle/>
          <a:p>
            <a:pPr indent="0" marL="0">
              <a:buNone/>
            </a:pPr>
            <a:r>
              <a:rPr lang="en-US" sz="1100" dirty="0">
                <a:solidFill>
                  <a:schemeClr val="tx1"/>
                </a:solidFill>
              </a:rPr>
              <a:t>▸  Retrieved evidence record 2</a:t>
            </a:r>
            <a:endParaRPr lang="en-US" sz="1100" dirty="0"/>
          </a:p>
        </p:txBody>
      </p:sp>
      <p:pic>
        <p:nvPicPr>
          <p:cNvPr id="48" name="Image 1" descr="airplane icon">    </p:cNvPr>
          <p:cNvPicPr>
            <a:picLocks noChangeAspect="1"/>
          </p:cNvPicPr>
          <p:nvPr/>
        </p:nvPicPr>
        <p:blipFill>
          <a:blip r:embed="rId2"/>
          <a:stretch>
            <a:fillRect/>
          </a:stretch>
        </p:blipFill>
        <p:spPr>
          <a:xfrm>
            <a:off x="9720072" y="1965960"/>
            <a:ext cx="274320" cy="274320"/>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LIVE DEMO</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From query to evidence</a:t>
            </a:r>
            <a:endParaRPr lang="en-US" sz="3400" dirty="0"/>
          </a:p>
        </p:txBody>
      </p:sp>
      <p:sp>
        <p:nvSpPr>
          <p:cNvPr id="4" name="Shape 2"/>
          <p:cNvSpPr/>
          <p:nvPr/>
        </p:nvSpPr>
        <p:spPr>
          <a:xfrm>
            <a:off x="548640" y="1463040"/>
            <a:ext cx="5394960" cy="731520"/>
          </a:xfrm>
          <a:prstGeom prst="roundRect">
            <a:avLst>
              <a:gd name="adj" fmla="val 15000"/>
            </a:avLst>
          </a:prstGeom>
          <a:solidFill>
            <a:schemeClr val="tx2"/>
          </a:solidFill>
          <a:ln w="12700">
            <a:solidFill>
              <a:schemeClr val="tx2"/>
            </a:solidFill>
            <a:prstDash val="solid"/>
          </a:ln>
        </p:spPr>
      </p:sp>
      <p:sp>
        <p:nvSpPr>
          <p:cNvPr id="5" name="Text 3"/>
          <p:cNvSpPr txBox="1"/>
          <p:nvPr/>
        </p:nvSpPr>
        <p:spPr>
          <a:xfrm>
            <a:off x="777240" y="1463040"/>
            <a:ext cx="5029200" cy="731520"/>
          </a:xfrm>
          <a:prstGeom prst="rect">
            <a:avLst/>
          </a:prstGeom>
          <a:noFill/>
          <a:ln/>
        </p:spPr>
        <p:txBody>
          <a:bodyPr wrap="square" lIns="0" tIns="0" rIns="0" bIns="0" rtlCol="0" anchor="ctr"/>
          <a:lstStyle/>
          <a:p>
            <a:pPr indent="0" marL="0">
              <a:buNone/>
            </a:pPr>
            <a:r>
              <a:rPr lang="en-US" sz="2000" i="1" dirty="0">
                <a:solidFill>
                  <a:schemeClr val="bg2"/>
                </a:solidFill>
                <a:latin typeface="+mj-lt" pitchFamily="34" charset="0"/>
                <a:ea typeface="+mj-lt" pitchFamily="34" charset="-122"/>
                <a:cs typeface="+mj-lt" pitchFamily="34" charset="-120"/>
              </a:rPr>
              <a:t>“Beach trip with local food for a couple.”</a:t>
            </a:r>
            <a:endParaRPr lang="en-US" sz="2000" dirty="0"/>
          </a:p>
        </p:txBody>
      </p:sp>
      <p:sp>
        <p:nvSpPr>
          <p:cNvPr id="6" name="Shape 4"/>
          <p:cNvSpPr/>
          <p:nvPr/>
        </p:nvSpPr>
        <p:spPr>
          <a:xfrm>
            <a:off x="548640" y="2468880"/>
            <a:ext cx="502920" cy="502920"/>
          </a:xfrm>
          <a:prstGeom prst="ellipse">
            <a:avLst/>
          </a:prstGeom>
          <a:solidFill>
            <a:schemeClr val="accent3"/>
          </a:solidFill>
          <a:ln w="12700">
            <a:solidFill>
              <a:schemeClr val="accent3"/>
            </a:solidFill>
            <a:prstDash val="solid"/>
          </a:ln>
        </p:spPr>
      </p:sp>
      <p:sp>
        <p:nvSpPr>
          <p:cNvPr id="7" name="Text 5"/>
          <p:cNvSpPr txBox="1"/>
          <p:nvPr/>
        </p:nvSpPr>
        <p:spPr>
          <a:xfrm>
            <a:off x="548640" y="24688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1280160" y="2395728"/>
            <a:ext cx="4663440" cy="658368"/>
          </a:xfrm>
          <a:prstGeom prst="rect">
            <a:avLst/>
          </a:prstGeom>
          <a:noFill/>
          <a:ln/>
        </p:spPr>
        <p:txBody>
          <a:bodyPr wrap="square" lIns="0" tIns="0" rIns="0" bIns="0" rtlCol="0" anchor="ctr"/>
          <a:lstStyle/>
          <a:p>
            <a:pPr indent="0" marL="0">
              <a:buNone/>
            </a:pPr>
            <a:r>
              <a:rPr lang="en-US" sz="1700" dirty="0">
                <a:solidFill>
                  <a:schemeClr val="tx1"/>
                </a:solidFill>
              </a:rPr>
              <a:t>Enter query</a:t>
            </a:r>
            <a:endParaRPr lang="en-US" sz="1700" dirty="0"/>
          </a:p>
        </p:txBody>
      </p:sp>
      <p:sp>
        <p:nvSpPr>
          <p:cNvPr id="9" name="Shape 7"/>
          <p:cNvSpPr/>
          <p:nvPr/>
        </p:nvSpPr>
        <p:spPr>
          <a:xfrm>
            <a:off x="548640" y="3218688"/>
            <a:ext cx="502920" cy="502920"/>
          </a:xfrm>
          <a:prstGeom prst="ellipse">
            <a:avLst/>
          </a:prstGeom>
          <a:solidFill>
            <a:schemeClr val="accent3"/>
          </a:solidFill>
          <a:ln w="12700">
            <a:solidFill>
              <a:schemeClr val="accent3"/>
            </a:solidFill>
            <a:prstDash val="solid"/>
          </a:ln>
        </p:spPr>
      </p:sp>
      <p:sp>
        <p:nvSpPr>
          <p:cNvPr id="10" name="Text 8"/>
          <p:cNvSpPr txBox="1"/>
          <p:nvPr/>
        </p:nvSpPr>
        <p:spPr>
          <a:xfrm>
            <a:off x="548640" y="321868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1280160" y="3145536"/>
            <a:ext cx="4663440" cy="658368"/>
          </a:xfrm>
          <a:prstGeom prst="rect">
            <a:avLst/>
          </a:prstGeom>
          <a:noFill/>
          <a:ln/>
        </p:spPr>
        <p:txBody>
          <a:bodyPr wrap="square" lIns="0" tIns="0" rIns="0" bIns="0" rtlCol="0" anchor="ctr"/>
          <a:lstStyle/>
          <a:p>
            <a:pPr indent="0" marL="0">
              <a:buNone/>
            </a:pPr>
            <a:r>
              <a:rPr lang="en-US" sz="1700" dirty="0">
                <a:solidFill>
                  <a:schemeClr val="tx1"/>
                </a:solidFill>
              </a:rPr>
              <a:t>Show extracted interests and traveler type</a:t>
            </a:r>
            <a:endParaRPr lang="en-US" sz="1700" dirty="0"/>
          </a:p>
        </p:txBody>
      </p:sp>
      <p:sp>
        <p:nvSpPr>
          <p:cNvPr id="12" name="Shape 10"/>
          <p:cNvSpPr/>
          <p:nvPr/>
        </p:nvSpPr>
        <p:spPr>
          <a:xfrm>
            <a:off x="548640" y="3968496"/>
            <a:ext cx="502920" cy="502920"/>
          </a:xfrm>
          <a:prstGeom prst="ellipse">
            <a:avLst/>
          </a:prstGeom>
          <a:solidFill>
            <a:schemeClr val="accent3"/>
          </a:solidFill>
          <a:ln w="12700">
            <a:solidFill>
              <a:schemeClr val="accent3"/>
            </a:solidFill>
            <a:prstDash val="solid"/>
          </a:ln>
        </p:spPr>
      </p:sp>
      <p:sp>
        <p:nvSpPr>
          <p:cNvPr id="13" name="Text 11"/>
          <p:cNvSpPr txBox="1"/>
          <p:nvPr/>
        </p:nvSpPr>
        <p:spPr>
          <a:xfrm>
            <a:off x="548640" y="3968496"/>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280160" y="3895344"/>
            <a:ext cx="4663440" cy="658368"/>
          </a:xfrm>
          <a:prstGeom prst="rect">
            <a:avLst/>
          </a:prstGeom>
          <a:noFill/>
          <a:ln/>
        </p:spPr>
        <p:txBody>
          <a:bodyPr wrap="square" lIns="0" tIns="0" rIns="0" bIns="0" rtlCol="0" anchor="ctr"/>
          <a:lstStyle/>
          <a:p>
            <a:pPr indent="0" marL="0">
              <a:buNone/>
            </a:pPr>
            <a:r>
              <a:rPr lang="en-US" sz="1700" dirty="0">
                <a:solidFill>
                  <a:schemeClr val="tx1"/>
                </a:solidFill>
              </a:rPr>
              <a:t>Compare destination and activity results</a:t>
            </a:r>
            <a:endParaRPr lang="en-US" sz="1700" dirty="0"/>
          </a:p>
        </p:txBody>
      </p:sp>
      <p:sp>
        <p:nvSpPr>
          <p:cNvPr id="15" name="Shape 13"/>
          <p:cNvSpPr/>
          <p:nvPr/>
        </p:nvSpPr>
        <p:spPr>
          <a:xfrm>
            <a:off x="548640" y="4718304"/>
            <a:ext cx="502920" cy="502920"/>
          </a:xfrm>
          <a:prstGeom prst="ellipse">
            <a:avLst/>
          </a:prstGeom>
          <a:solidFill>
            <a:schemeClr val="accent3"/>
          </a:solidFill>
          <a:ln w="12700">
            <a:solidFill>
              <a:schemeClr val="accent3"/>
            </a:solidFill>
            <a:prstDash val="solid"/>
          </a:ln>
        </p:spPr>
      </p:sp>
      <p:sp>
        <p:nvSpPr>
          <p:cNvPr id="16" name="Text 14"/>
          <p:cNvSpPr txBox="1"/>
          <p:nvPr/>
        </p:nvSpPr>
        <p:spPr>
          <a:xfrm>
            <a:off x="548640" y="471830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1280160" y="4645152"/>
            <a:ext cx="4663440" cy="658368"/>
          </a:xfrm>
          <a:prstGeom prst="rect">
            <a:avLst/>
          </a:prstGeom>
          <a:noFill/>
          <a:ln/>
        </p:spPr>
        <p:txBody>
          <a:bodyPr wrap="square" lIns="0" tIns="0" rIns="0" bIns="0" rtlCol="0" anchor="ctr"/>
          <a:lstStyle/>
          <a:p>
            <a:pPr indent="0" marL="0">
              <a:buNone/>
            </a:pPr>
            <a:r>
              <a:rPr lang="en-US" sz="1700" dirty="0">
                <a:solidFill>
                  <a:schemeClr val="tx1"/>
                </a:solidFill>
              </a:rPr>
              <a:t>Open one evidence record</a:t>
            </a:r>
            <a:endParaRPr lang="en-US" sz="1700" dirty="0"/>
          </a:p>
        </p:txBody>
      </p:sp>
      <p:sp>
        <p:nvSpPr>
          <p:cNvPr id="18" name="Shape 16"/>
          <p:cNvSpPr/>
          <p:nvPr/>
        </p:nvSpPr>
        <p:spPr>
          <a:xfrm>
            <a:off x="548640" y="5468112"/>
            <a:ext cx="502920" cy="502920"/>
          </a:xfrm>
          <a:prstGeom prst="ellipse">
            <a:avLst/>
          </a:prstGeom>
          <a:solidFill>
            <a:schemeClr val="bg1"/>
          </a:solidFill>
          <a:ln w="25400">
            <a:solidFill>
              <a:schemeClr val="accent3"/>
            </a:solidFill>
            <a:prstDash val="dash"/>
          </a:ln>
        </p:spPr>
      </p:sp>
      <p:sp>
        <p:nvSpPr>
          <p:cNvPr id="19" name="Text 17"/>
          <p:cNvSpPr txBox="1"/>
          <p:nvPr/>
        </p:nvSpPr>
        <p:spPr>
          <a:xfrm>
            <a:off x="548640" y="5468112"/>
            <a:ext cx="502920" cy="502920"/>
          </a:xfrm>
          <a:prstGeom prst="rect">
            <a:avLst/>
          </a:prstGeom>
          <a:noFill/>
          <a:ln/>
        </p:spPr>
        <p:txBody>
          <a:bodyPr wrap="square" lIns="0" tIns="0" rIns="0" bIns="0" rtlCol="0" anchor="ctr"/>
          <a:lstStyle/>
          <a:p>
            <a:pPr algn="ctr" indent="0" marL="0">
              <a:buNone/>
            </a:pPr>
            <a:r>
              <a:rPr lang="en-US" sz="1800" b="1" dirty="0">
                <a:solidFill>
                  <a:schemeClr val="accent3"/>
                </a:solidFill>
              </a:rPr>
              <a:t>5</a:t>
            </a:r>
            <a:endParaRPr lang="en-US" sz="1800" dirty="0"/>
          </a:p>
        </p:txBody>
      </p:sp>
      <p:sp>
        <p:nvSpPr>
          <p:cNvPr id="20" name="Text 18"/>
          <p:cNvSpPr txBox="1"/>
          <p:nvPr/>
        </p:nvSpPr>
        <p:spPr>
          <a:xfrm>
            <a:off x="1280160" y="5394960"/>
            <a:ext cx="4663440" cy="658368"/>
          </a:xfrm>
          <a:prstGeom prst="rect">
            <a:avLst/>
          </a:prstGeom>
          <a:noFill/>
          <a:ln/>
        </p:spPr>
        <p:txBody>
          <a:bodyPr wrap="square" lIns="0" tIns="0" rIns="0" bIns="0" rtlCol="0" anchor="ctr"/>
          <a:lstStyle/>
          <a:p>
            <a:pPr indent="0" marL="0">
              <a:buNone/>
            </a:pPr>
            <a:r>
              <a:rPr lang="en-US" sz="1700" dirty="0">
                <a:solidFill>
                  <a:schemeClr val="tx1"/>
                </a:solidFill>
              </a:rPr>
              <a:t>Optional: 5-day / $900 feasibility request returns “insufficient_data”</a:t>
            </a:r>
            <a:endParaRPr lang="en-US" sz="1700" dirty="0"/>
          </a:p>
        </p:txBody>
      </p:sp>
      <p:sp>
        <p:nvSpPr>
          <p:cNvPr id="21" name="Text 19"/>
          <p:cNvSpPr/>
          <p:nvPr/>
        </p:nvSpPr>
        <p:spPr>
          <a:xfrm>
            <a:off x="6400800" y="1444752"/>
            <a:ext cx="2286000" cy="274320"/>
          </a:xfrm>
          <a:prstGeom prst="roundRect">
            <a:avLst>
              <a:gd name="adj" fmla="val 100000"/>
            </a:avLst>
          </a:prstGeom>
          <a:solidFill>
            <a:schemeClr val="accent3"/>
          </a:solidFill>
          <a:ln/>
        </p:spPr>
        <p:txBody>
          <a:bodyPr wrap="square" lIns="0" tIns="1016" rIns="1016" bIns="0" rtlCol="0" anchor="ctr"/>
          <a:lstStyle/>
          <a:p>
            <a:pPr algn="ctr" indent="0" marL="0">
              <a:buNone/>
            </a:pPr>
            <a:r>
              <a:rPr lang="en-US" sz="1100" b="1" spc="100" kern="0" dirty="0">
                <a:solidFill>
                  <a:schemeClr val="bg1"/>
                </a:solidFill>
              </a:rPr>
              <a:t>ILLUSTRATIVE MOCK-UP</a:t>
            </a:r>
            <a:endParaRPr lang="en-US" sz="1100" dirty="0"/>
          </a:p>
        </p:txBody>
      </p:sp>
      <p:sp>
        <p:nvSpPr>
          <p:cNvPr id="22" name="Shape 20"/>
          <p:cNvSpPr/>
          <p:nvPr/>
        </p:nvSpPr>
        <p:spPr>
          <a:xfrm>
            <a:off x="6400800" y="1828800"/>
            <a:ext cx="5239512" cy="4389120"/>
          </a:xfrm>
          <a:prstGeom prst="roundRect">
            <a:avLst>
              <a:gd name="adj" fmla="val 2500"/>
            </a:avLst>
          </a:prstGeom>
          <a:solidFill>
            <a:schemeClr val="bg1"/>
          </a:solidFill>
          <a:ln w="12700">
            <a:solidFill>
              <a:schemeClr val="accent6"/>
            </a:solidFill>
            <a:prstDash val="solid"/>
          </a:ln>
          <a:effectLst>
            <a:outerShdw sx="100000" sy="100000" kx="0" ky="0" algn="bl" rotWithShape="0" blurRad="101600" dist="25400" dir="5400000">
              <a:srgbClr val="1B2B24">
                <a:alpha val="14000"/>
              </a:srgbClr>
            </a:outerShdw>
          </a:effectLst>
        </p:spPr>
      </p:sp>
      <p:sp>
        <p:nvSpPr>
          <p:cNvPr id="23" name="Shape 21"/>
          <p:cNvSpPr/>
          <p:nvPr/>
        </p:nvSpPr>
        <p:spPr>
          <a:xfrm>
            <a:off x="6583680" y="2011680"/>
            <a:ext cx="4873752" cy="457200"/>
          </a:xfrm>
          <a:prstGeom prst="roundRect">
            <a:avLst>
              <a:gd name="adj" fmla="val 24000"/>
            </a:avLst>
          </a:prstGeom>
          <a:solidFill>
            <a:schemeClr val="bg2"/>
          </a:solidFill>
          <a:ln w="15875">
            <a:solidFill>
              <a:schemeClr val="accent2"/>
            </a:solidFill>
            <a:prstDash val="solid"/>
          </a:ln>
        </p:spPr>
      </p:sp>
      <p:sp>
        <p:nvSpPr>
          <p:cNvPr id="24" name="Text 22"/>
          <p:cNvSpPr txBox="1"/>
          <p:nvPr/>
        </p:nvSpPr>
        <p:spPr>
          <a:xfrm>
            <a:off x="6766560" y="2011680"/>
            <a:ext cx="4507992" cy="457200"/>
          </a:xfrm>
          <a:prstGeom prst="rect">
            <a:avLst/>
          </a:prstGeom>
          <a:noFill/>
          <a:ln/>
        </p:spPr>
        <p:txBody>
          <a:bodyPr wrap="square" lIns="0" tIns="0" rIns="0" bIns="0" rtlCol="0" anchor="ctr"/>
          <a:lstStyle/>
          <a:p>
            <a:pPr indent="0" marL="0">
              <a:buNone/>
            </a:pPr>
            <a:r>
              <a:rPr lang="en-US" sz="1300" dirty="0">
                <a:solidFill>
                  <a:schemeClr val="tx1"/>
                </a:solidFill>
              </a:rPr>
              <a:t>Beach trip with local food for a couple.</a:t>
            </a:r>
            <a:endParaRPr lang="en-US" sz="1300" dirty="0"/>
          </a:p>
        </p:txBody>
      </p:sp>
      <p:sp>
        <p:nvSpPr>
          <p:cNvPr id="25" name="Shape 23"/>
          <p:cNvSpPr/>
          <p:nvPr/>
        </p:nvSpPr>
        <p:spPr>
          <a:xfrm>
            <a:off x="6291072" y="2084832"/>
            <a:ext cx="310896" cy="310896"/>
          </a:xfrm>
          <a:prstGeom prst="ellipse">
            <a:avLst/>
          </a:prstGeom>
          <a:solidFill>
            <a:schemeClr val="accent3"/>
          </a:solidFill>
          <a:ln w="19050">
            <a:solidFill>
              <a:schemeClr val="bg1"/>
            </a:solidFill>
            <a:prstDash val="solid"/>
          </a:ln>
        </p:spPr>
      </p:sp>
      <p:sp>
        <p:nvSpPr>
          <p:cNvPr id="26" name="Text 24"/>
          <p:cNvSpPr txBox="1"/>
          <p:nvPr/>
        </p:nvSpPr>
        <p:spPr>
          <a:xfrm>
            <a:off x="6291072" y="208483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7" name="m11_chip1"/>
          <p:cNvSpPr/>
          <p:nvPr/>
        </p:nvSpPr>
        <p:spPr>
          <a:xfrm>
            <a:off x="6583680" y="2606040"/>
            <a:ext cx="2240280" cy="310896"/>
          </a:xfrm>
          <a:prstGeom prst="roundRect">
            <a:avLst>
              <a:gd name="adj" fmla="val 88235"/>
            </a:avLst>
          </a:prstGeom>
          <a:solidFill>
            <a:schemeClr val="accent5"/>
          </a:solidFill>
          <a:ln/>
        </p:spPr>
        <p:txBody>
          <a:bodyPr wrap="square" lIns="0" tIns="1016" rIns="1016" bIns="0" rtlCol="0" anchor="ctr"/>
          <a:lstStyle/>
          <a:p>
            <a:pPr algn="ctr" indent="0" marL="0">
              <a:buNone/>
            </a:pPr>
            <a:r>
              <a:rPr lang="en-US" sz="1200" dirty="0">
                <a:solidFill>
                  <a:schemeClr val="tx2"/>
                </a:solidFill>
              </a:rPr>
              <a:t>Extracted: interests</a:t>
            </a:r>
            <a:endParaRPr lang="en-US" sz="1200" dirty="0"/>
          </a:p>
        </p:txBody>
      </p:sp>
      <p:sp>
        <p:nvSpPr>
          <p:cNvPr id="28" name="m11_chip2"/>
          <p:cNvSpPr/>
          <p:nvPr/>
        </p:nvSpPr>
        <p:spPr>
          <a:xfrm>
            <a:off x="9006840" y="2606040"/>
            <a:ext cx="2377440" cy="310896"/>
          </a:xfrm>
          <a:prstGeom prst="roundRect">
            <a:avLst>
              <a:gd name="adj" fmla="val 88235"/>
            </a:avLst>
          </a:prstGeom>
          <a:solidFill>
            <a:schemeClr val="accent5"/>
          </a:solidFill>
          <a:ln/>
        </p:spPr>
        <p:txBody>
          <a:bodyPr wrap="square" lIns="0" tIns="1016" rIns="1016" bIns="0" rtlCol="0" anchor="ctr"/>
          <a:lstStyle/>
          <a:p>
            <a:pPr algn="ctr" indent="0" marL="0">
              <a:buNone/>
            </a:pPr>
            <a:r>
              <a:rPr lang="en-US" sz="1200" dirty="0">
                <a:solidFill>
                  <a:schemeClr val="tx2"/>
                </a:solidFill>
              </a:rPr>
              <a:t>Extracted: traveler type</a:t>
            </a:r>
            <a:endParaRPr lang="en-US" sz="1200" dirty="0"/>
          </a:p>
        </p:txBody>
      </p:sp>
      <p:sp>
        <p:nvSpPr>
          <p:cNvPr id="29" name="Shape 27"/>
          <p:cNvSpPr/>
          <p:nvPr/>
        </p:nvSpPr>
        <p:spPr>
          <a:xfrm>
            <a:off x="6291072" y="2606040"/>
            <a:ext cx="310896" cy="310896"/>
          </a:xfrm>
          <a:prstGeom prst="ellipse">
            <a:avLst/>
          </a:prstGeom>
          <a:solidFill>
            <a:schemeClr val="accent3"/>
          </a:solidFill>
          <a:ln w="19050">
            <a:solidFill>
              <a:schemeClr val="bg1"/>
            </a:solidFill>
            <a:prstDash val="solid"/>
          </a:ln>
        </p:spPr>
      </p:sp>
      <p:sp>
        <p:nvSpPr>
          <p:cNvPr id="30" name="Text 28"/>
          <p:cNvSpPr txBox="1"/>
          <p:nvPr/>
        </p:nvSpPr>
        <p:spPr>
          <a:xfrm>
            <a:off x="6291072" y="260604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1" name="m11_res0"/>
          <p:cNvSpPr/>
          <p:nvPr/>
        </p:nvSpPr>
        <p:spPr>
          <a:xfrm>
            <a:off x="6583680" y="3108960"/>
            <a:ext cx="2345436" cy="1417320"/>
          </a:xfrm>
          <a:prstGeom prst="roundRect">
            <a:avLst>
              <a:gd name="adj" fmla="val 7742"/>
            </a:avLst>
          </a:prstGeom>
          <a:solidFill>
            <a:schemeClr val="accent2">
              <a:alpha val="40000"/>
            </a:schemeClr>
          </a:solidFill>
          <a:ln w="12700">
            <a:solidFill>
              <a:schemeClr val="accent2"/>
            </a:solidFill>
            <a:prstDash val="solid"/>
          </a:ln>
        </p:spPr>
      </p:sp>
      <p:sp>
        <p:nvSpPr>
          <p:cNvPr id="32" name="m11_rt0"/>
          <p:cNvSpPr txBox="1"/>
          <p:nvPr/>
        </p:nvSpPr>
        <p:spPr>
          <a:xfrm>
            <a:off x="6720840" y="3182112"/>
            <a:ext cx="2071116" cy="274320"/>
          </a:xfrm>
          <a:prstGeom prst="rect">
            <a:avLst/>
          </a:prstGeom>
          <a:noFill/>
          <a:ln/>
        </p:spPr>
        <p:txBody>
          <a:bodyPr wrap="square" lIns="0" tIns="0" rIns="0" bIns="0" rtlCol="0" anchor="t"/>
          <a:lstStyle/>
          <a:p>
            <a:pPr indent="0" marL="0">
              <a:buNone/>
            </a:pPr>
            <a:r>
              <a:rPr lang="en-US" sz="1300" b="1" dirty="0">
                <a:solidFill>
                  <a:schemeClr val="tx2"/>
                </a:solidFill>
              </a:rPr>
              <a:t>Destination results</a:t>
            </a:r>
            <a:endParaRPr lang="en-US" sz="1300" dirty="0"/>
          </a:p>
        </p:txBody>
      </p:sp>
      <p:sp>
        <p:nvSpPr>
          <p:cNvPr id="33" name="m11_rl00"/>
          <p:cNvSpPr txBox="1"/>
          <p:nvPr/>
        </p:nvSpPr>
        <p:spPr>
          <a:xfrm>
            <a:off x="6720840" y="3538728"/>
            <a:ext cx="1188720" cy="237744"/>
          </a:xfrm>
          <a:prstGeom prst="rect">
            <a:avLst/>
          </a:prstGeom>
          <a:noFill/>
          <a:ln/>
        </p:spPr>
        <p:txBody>
          <a:bodyPr wrap="square" lIns="0" tIns="0" rIns="0" bIns="0" rtlCol="0" anchor="ctr"/>
          <a:lstStyle/>
          <a:p>
            <a:pPr indent="0" marL="0">
              <a:buNone/>
            </a:pPr>
            <a:r>
              <a:rPr lang="en-US" sz="1200" dirty="0">
                <a:solidFill>
                  <a:schemeClr val="tx1"/>
                </a:solidFill>
              </a:rPr>
              <a:t>Destination A</a:t>
            </a:r>
            <a:endParaRPr lang="en-US" sz="1200" dirty="0"/>
          </a:p>
        </p:txBody>
      </p:sp>
      <p:sp>
        <p:nvSpPr>
          <p:cNvPr id="34" name="m11_rb00"/>
          <p:cNvSpPr/>
          <p:nvPr/>
        </p:nvSpPr>
        <p:spPr>
          <a:xfrm>
            <a:off x="7955280" y="3593592"/>
            <a:ext cx="611094" cy="128016"/>
          </a:xfrm>
          <a:prstGeom prst="rect">
            <a:avLst/>
          </a:prstGeom>
          <a:solidFill>
            <a:schemeClr val="accent1"/>
          </a:solidFill>
          <a:ln w="12700">
            <a:solidFill>
              <a:schemeClr val="accent1"/>
            </a:solidFill>
            <a:prstDash val="solid"/>
          </a:ln>
        </p:spPr>
      </p:sp>
      <p:sp>
        <p:nvSpPr>
          <p:cNvPr id="35" name="m11_rl01"/>
          <p:cNvSpPr txBox="1"/>
          <p:nvPr/>
        </p:nvSpPr>
        <p:spPr>
          <a:xfrm>
            <a:off x="6720840" y="3849624"/>
            <a:ext cx="1188720" cy="237744"/>
          </a:xfrm>
          <a:prstGeom prst="rect">
            <a:avLst/>
          </a:prstGeom>
          <a:noFill/>
          <a:ln/>
        </p:spPr>
        <p:txBody>
          <a:bodyPr wrap="square" lIns="0" tIns="0" rIns="0" bIns="0" rtlCol="0" anchor="ctr"/>
          <a:lstStyle/>
          <a:p>
            <a:pPr indent="0" marL="0">
              <a:buNone/>
            </a:pPr>
            <a:r>
              <a:rPr lang="en-US" sz="1200" dirty="0">
                <a:solidFill>
                  <a:schemeClr val="tx1"/>
                </a:solidFill>
              </a:rPr>
              <a:t>Destination B</a:t>
            </a:r>
            <a:endParaRPr lang="en-US" sz="1200" dirty="0"/>
          </a:p>
        </p:txBody>
      </p:sp>
      <p:sp>
        <p:nvSpPr>
          <p:cNvPr id="36" name="m11_rb01"/>
          <p:cNvSpPr/>
          <p:nvPr/>
        </p:nvSpPr>
        <p:spPr>
          <a:xfrm>
            <a:off x="7955280" y="3904488"/>
            <a:ext cx="447142" cy="128016"/>
          </a:xfrm>
          <a:prstGeom prst="rect">
            <a:avLst/>
          </a:prstGeom>
          <a:solidFill>
            <a:schemeClr val="accent1"/>
          </a:solidFill>
          <a:ln w="12700">
            <a:solidFill>
              <a:schemeClr val="accent1"/>
            </a:solidFill>
            <a:prstDash val="solid"/>
          </a:ln>
        </p:spPr>
      </p:sp>
      <p:sp>
        <p:nvSpPr>
          <p:cNvPr id="37" name="m11_rl02"/>
          <p:cNvSpPr txBox="1"/>
          <p:nvPr/>
        </p:nvSpPr>
        <p:spPr>
          <a:xfrm>
            <a:off x="6720840" y="4160520"/>
            <a:ext cx="1188720" cy="237744"/>
          </a:xfrm>
          <a:prstGeom prst="rect">
            <a:avLst/>
          </a:prstGeom>
          <a:noFill/>
          <a:ln/>
        </p:spPr>
        <p:txBody>
          <a:bodyPr wrap="square" lIns="0" tIns="0" rIns="0" bIns="0" rtlCol="0" anchor="ctr"/>
          <a:lstStyle/>
          <a:p>
            <a:pPr indent="0" marL="0">
              <a:buNone/>
            </a:pPr>
            <a:r>
              <a:rPr lang="en-US" sz="1200" dirty="0">
                <a:solidFill>
                  <a:schemeClr val="tx1"/>
                </a:solidFill>
              </a:rPr>
              <a:t>Destination C</a:t>
            </a:r>
            <a:endParaRPr lang="en-US" sz="1200" dirty="0"/>
          </a:p>
        </p:txBody>
      </p:sp>
      <p:sp>
        <p:nvSpPr>
          <p:cNvPr id="38" name="m11_rb02"/>
          <p:cNvSpPr/>
          <p:nvPr/>
        </p:nvSpPr>
        <p:spPr>
          <a:xfrm>
            <a:off x="7955280" y="4215384"/>
            <a:ext cx="335356" cy="128016"/>
          </a:xfrm>
          <a:prstGeom prst="rect">
            <a:avLst/>
          </a:prstGeom>
          <a:solidFill>
            <a:schemeClr val="accent1"/>
          </a:solidFill>
          <a:ln w="12700">
            <a:solidFill>
              <a:schemeClr val="accent1"/>
            </a:solidFill>
            <a:prstDash val="solid"/>
          </a:ln>
        </p:spPr>
      </p:sp>
      <p:sp>
        <p:nvSpPr>
          <p:cNvPr id="39" name="m11_res1"/>
          <p:cNvSpPr/>
          <p:nvPr/>
        </p:nvSpPr>
        <p:spPr>
          <a:xfrm>
            <a:off x="9111996" y="3108960"/>
            <a:ext cx="2345436" cy="1417320"/>
          </a:xfrm>
          <a:prstGeom prst="roundRect">
            <a:avLst>
              <a:gd name="adj" fmla="val 7742"/>
            </a:avLst>
          </a:prstGeom>
          <a:solidFill>
            <a:schemeClr val="accent2">
              <a:alpha val="40000"/>
            </a:schemeClr>
          </a:solidFill>
          <a:ln w="12700">
            <a:solidFill>
              <a:schemeClr val="accent2"/>
            </a:solidFill>
            <a:prstDash val="solid"/>
          </a:ln>
        </p:spPr>
      </p:sp>
      <p:sp>
        <p:nvSpPr>
          <p:cNvPr id="40" name="m11_rt1"/>
          <p:cNvSpPr txBox="1"/>
          <p:nvPr/>
        </p:nvSpPr>
        <p:spPr>
          <a:xfrm>
            <a:off x="9249156" y="3182112"/>
            <a:ext cx="2071116" cy="274320"/>
          </a:xfrm>
          <a:prstGeom prst="rect">
            <a:avLst/>
          </a:prstGeom>
          <a:noFill/>
          <a:ln/>
        </p:spPr>
        <p:txBody>
          <a:bodyPr wrap="square" lIns="0" tIns="0" rIns="0" bIns="0" rtlCol="0" anchor="t"/>
          <a:lstStyle/>
          <a:p>
            <a:pPr indent="0" marL="0">
              <a:buNone/>
            </a:pPr>
            <a:r>
              <a:rPr lang="en-US" sz="1300" b="1" dirty="0">
                <a:solidFill>
                  <a:schemeClr val="tx2"/>
                </a:solidFill>
              </a:rPr>
              <a:t>Activity results</a:t>
            </a:r>
            <a:endParaRPr lang="en-US" sz="1300" dirty="0"/>
          </a:p>
        </p:txBody>
      </p:sp>
      <p:sp>
        <p:nvSpPr>
          <p:cNvPr id="41" name="m11_rl10"/>
          <p:cNvSpPr txBox="1"/>
          <p:nvPr/>
        </p:nvSpPr>
        <p:spPr>
          <a:xfrm>
            <a:off x="9249156" y="3538728"/>
            <a:ext cx="1188720" cy="237744"/>
          </a:xfrm>
          <a:prstGeom prst="rect">
            <a:avLst/>
          </a:prstGeom>
          <a:noFill/>
          <a:ln/>
        </p:spPr>
        <p:txBody>
          <a:bodyPr wrap="square" lIns="0" tIns="0" rIns="0" bIns="0" rtlCol="0" anchor="ctr"/>
          <a:lstStyle/>
          <a:p>
            <a:pPr indent="0" marL="0">
              <a:buNone/>
            </a:pPr>
            <a:r>
              <a:rPr lang="en-US" sz="1200" dirty="0">
                <a:solidFill>
                  <a:schemeClr val="tx1"/>
                </a:solidFill>
              </a:rPr>
              <a:t>Activity A</a:t>
            </a:r>
            <a:endParaRPr lang="en-US" sz="1200" dirty="0"/>
          </a:p>
        </p:txBody>
      </p:sp>
      <p:sp>
        <p:nvSpPr>
          <p:cNvPr id="42" name="m11_rb10"/>
          <p:cNvSpPr/>
          <p:nvPr/>
        </p:nvSpPr>
        <p:spPr>
          <a:xfrm>
            <a:off x="10483596" y="3593592"/>
            <a:ext cx="611094" cy="128016"/>
          </a:xfrm>
          <a:prstGeom prst="rect">
            <a:avLst/>
          </a:prstGeom>
          <a:solidFill>
            <a:schemeClr val="accent1"/>
          </a:solidFill>
          <a:ln w="12700">
            <a:solidFill>
              <a:schemeClr val="accent1"/>
            </a:solidFill>
            <a:prstDash val="solid"/>
          </a:ln>
        </p:spPr>
      </p:sp>
      <p:sp>
        <p:nvSpPr>
          <p:cNvPr id="43" name="m11_rl11"/>
          <p:cNvSpPr txBox="1"/>
          <p:nvPr/>
        </p:nvSpPr>
        <p:spPr>
          <a:xfrm>
            <a:off x="9249156" y="3849624"/>
            <a:ext cx="1188720" cy="237744"/>
          </a:xfrm>
          <a:prstGeom prst="rect">
            <a:avLst/>
          </a:prstGeom>
          <a:noFill/>
          <a:ln/>
        </p:spPr>
        <p:txBody>
          <a:bodyPr wrap="square" lIns="0" tIns="0" rIns="0" bIns="0" rtlCol="0" anchor="ctr"/>
          <a:lstStyle/>
          <a:p>
            <a:pPr indent="0" marL="0">
              <a:buNone/>
            </a:pPr>
            <a:r>
              <a:rPr lang="en-US" sz="1200" dirty="0">
                <a:solidFill>
                  <a:schemeClr val="tx1"/>
                </a:solidFill>
              </a:rPr>
              <a:t>Activity B</a:t>
            </a:r>
            <a:endParaRPr lang="en-US" sz="1200" dirty="0"/>
          </a:p>
        </p:txBody>
      </p:sp>
      <p:sp>
        <p:nvSpPr>
          <p:cNvPr id="44" name="m11_rb11"/>
          <p:cNvSpPr/>
          <p:nvPr/>
        </p:nvSpPr>
        <p:spPr>
          <a:xfrm>
            <a:off x="10483596" y="3904488"/>
            <a:ext cx="447142" cy="128016"/>
          </a:xfrm>
          <a:prstGeom prst="rect">
            <a:avLst/>
          </a:prstGeom>
          <a:solidFill>
            <a:schemeClr val="accent1"/>
          </a:solidFill>
          <a:ln w="12700">
            <a:solidFill>
              <a:schemeClr val="accent1"/>
            </a:solidFill>
            <a:prstDash val="solid"/>
          </a:ln>
        </p:spPr>
      </p:sp>
      <p:sp>
        <p:nvSpPr>
          <p:cNvPr id="45" name="m11_rl12"/>
          <p:cNvSpPr txBox="1"/>
          <p:nvPr/>
        </p:nvSpPr>
        <p:spPr>
          <a:xfrm>
            <a:off x="9249156" y="4160520"/>
            <a:ext cx="1188720" cy="237744"/>
          </a:xfrm>
          <a:prstGeom prst="rect">
            <a:avLst/>
          </a:prstGeom>
          <a:noFill/>
          <a:ln/>
        </p:spPr>
        <p:txBody>
          <a:bodyPr wrap="square" lIns="0" tIns="0" rIns="0" bIns="0" rtlCol="0" anchor="ctr"/>
          <a:lstStyle/>
          <a:p>
            <a:pPr indent="0" marL="0">
              <a:buNone/>
            </a:pPr>
            <a:r>
              <a:rPr lang="en-US" sz="1200" dirty="0">
                <a:solidFill>
                  <a:schemeClr val="tx1"/>
                </a:solidFill>
              </a:rPr>
              <a:t>Activity C</a:t>
            </a:r>
            <a:endParaRPr lang="en-US" sz="1200" dirty="0"/>
          </a:p>
        </p:txBody>
      </p:sp>
      <p:sp>
        <p:nvSpPr>
          <p:cNvPr id="46" name="m11_rb12"/>
          <p:cNvSpPr/>
          <p:nvPr/>
        </p:nvSpPr>
        <p:spPr>
          <a:xfrm>
            <a:off x="10483596" y="4215384"/>
            <a:ext cx="335356" cy="128016"/>
          </a:xfrm>
          <a:prstGeom prst="rect">
            <a:avLst/>
          </a:prstGeom>
          <a:solidFill>
            <a:schemeClr val="accent1"/>
          </a:solidFill>
          <a:ln w="12700">
            <a:solidFill>
              <a:schemeClr val="accent1"/>
            </a:solidFill>
            <a:prstDash val="solid"/>
          </a:ln>
        </p:spPr>
      </p:sp>
      <p:sp>
        <p:nvSpPr>
          <p:cNvPr id="47" name="Shape 45"/>
          <p:cNvSpPr/>
          <p:nvPr/>
        </p:nvSpPr>
        <p:spPr>
          <a:xfrm>
            <a:off x="6291072" y="3182112"/>
            <a:ext cx="310896" cy="310896"/>
          </a:xfrm>
          <a:prstGeom prst="ellipse">
            <a:avLst/>
          </a:prstGeom>
          <a:solidFill>
            <a:schemeClr val="accent3"/>
          </a:solidFill>
          <a:ln w="19050">
            <a:solidFill>
              <a:schemeClr val="bg1"/>
            </a:solidFill>
            <a:prstDash val="solid"/>
          </a:ln>
        </p:spPr>
      </p:sp>
      <p:sp>
        <p:nvSpPr>
          <p:cNvPr id="48" name="Text 46"/>
          <p:cNvSpPr txBox="1"/>
          <p:nvPr/>
        </p:nvSpPr>
        <p:spPr>
          <a:xfrm>
            <a:off x="6291072" y="318211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9" name="m11_ev"/>
          <p:cNvSpPr/>
          <p:nvPr/>
        </p:nvSpPr>
        <p:spPr>
          <a:xfrm>
            <a:off x="6583680" y="4663440"/>
            <a:ext cx="4873752" cy="566928"/>
          </a:xfrm>
          <a:prstGeom prst="roundRect">
            <a:avLst>
              <a:gd name="adj" fmla="val 19355"/>
            </a:avLst>
          </a:prstGeom>
          <a:solidFill>
            <a:schemeClr val="bg2"/>
          </a:solidFill>
          <a:ln w="12700">
            <a:solidFill>
              <a:schemeClr val="accent2"/>
            </a:solidFill>
            <a:prstDash val="solid"/>
          </a:ln>
        </p:spPr>
      </p:sp>
      <p:sp>
        <p:nvSpPr>
          <p:cNvPr id="50" name="m11_evt"/>
          <p:cNvSpPr txBox="1"/>
          <p:nvPr/>
        </p:nvSpPr>
        <p:spPr>
          <a:xfrm>
            <a:off x="6766560" y="4663440"/>
            <a:ext cx="4507992" cy="566928"/>
          </a:xfrm>
          <a:prstGeom prst="rect">
            <a:avLst/>
          </a:prstGeom>
          <a:noFill/>
          <a:ln/>
        </p:spPr>
        <p:txBody>
          <a:bodyPr wrap="square" lIns="0" tIns="0" rIns="0" bIns="0" rtlCol="0" anchor="ctr"/>
          <a:lstStyle/>
          <a:p>
            <a:pPr indent="0" marL="0">
              <a:buNone/>
            </a:pPr>
            <a:r>
              <a:rPr lang="en-US" sz="1200" dirty="0">
                <a:solidFill>
                  <a:schemeClr val="tx1"/>
                </a:solidFill>
              </a:rPr>
              <a:t>▾  Retrieved evidence record (expanded)</a:t>
            </a:r>
            <a:endParaRPr lang="en-US" sz="1200" dirty="0"/>
          </a:p>
        </p:txBody>
      </p:sp>
      <p:sp>
        <p:nvSpPr>
          <p:cNvPr id="51" name="Shape 49"/>
          <p:cNvSpPr/>
          <p:nvPr/>
        </p:nvSpPr>
        <p:spPr>
          <a:xfrm>
            <a:off x="6291072" y="4754880"/>
            <a:ext cx="310896" cy="310896"/>
          </a:xfrm>
          <a:prstGeom prst="ellipse">
            <a:avLst/>
          </a:prstGeom>
          <a:solidFill>
            <a:schemeClr val="accent3"/>
          </a:solidFill>
          <a:ln w="19050">
            <a:solidFill>
              <a:schemeClr val="bg1"/>
            </a:solidFill>
            <a:prstDash val="solid"/>
          </a:ln>
        </p:spPr>
      </p:sp>
      <p:sp>
        <p:nvSpPr>
          <p:cNvPr id="52" name="Text 50"/>
          <p:cNvSpPr txBox="1"/>
          <p:nvPr/>
        </p:nvSpPr>
        <p:spPr>
          <a:xfrm>
            <a:off x="6291072" y="475488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53" name="m11_feas"/>
          <p:cNvSpPr/>
          <p:nvPr/>
        </p:nvSpPr>
        <p:spPr>
          <a:xfrm>
            <a:off x="6583680" y="5376672"/>
            <a:ext cx="4873752" cy="713232"/>
          </a:xfrm>
          <a:prstGeom prst="roundRect">
            <a:avLst>
              <a:gd name="adj" fmla="val 15385"/>
            </a:avLst>
          </a:prstGeom>
          <a:solidFill>
            <a:schemeClr val="bg1"/>
          </a:solidFill>
          <a:ln w="19050">
            <a:solidFill>
              <a:schemeClr val="accent3"/>
            </a:solidFill>
            <a:prstDash val="dash"/>
          </a:ln>
        </p:spPr>
      </p:sp>
      <p:sp>
        <p:nvSpPr>
          <p:cNvPr id="54" name="m11_feast"/>
          <p:cNvSpPr txBox="1"/>
          <p:nvPr/>
        </p:nvSpPr>
        <p:spPr>
          <a:xfrm>
            <a:off x="6766560" y="5376672"/>
            <a:ext cx="4507992" cy="713232"/>
          </a:xfrm>
          <a:prstGeom prst="rect">
            <a:avLst/>
          </a:prstGeom>
          <a:noFill/>
          <a:ln/>
        </p:spPr>
        <p:txBody>
          <a:bodyPr wrap="square" lIns="0" tIns="0" rIns="0" bIns="0" rtlCol="0" anchor="ctr"/>
          <a:lstStyle/>
          <a:p>
            <a:pPr indent="0" marL="0">
              <a:buNone/>
            </a:pPr>
            <a:r>
              <a:rPr lang="en-US" sz="1200" b="1" dirty="0">
                <a:solidFill>
                  <a:schemeClr val="tx2"/>
                </a:solidFill>
              </a:rPr>
              <a:t>Optional: POST /api/v1/itinerary/feasibility</a:t>
            </a:r>
            <a:endParaRPr lang="en-US" sz="1600" dirty="0"/>
          </a:p>
          <a:p>
            <a:pPr indent="0" marL="0">
              <a:buNone/>
            </a:pPr>
            <a:r>
              <a:rPr lang="en-US" sz="1200" b="1" dirty="0">
                <a:solidFill>
                  <a:schemeClr val="accent3"/>
                </a:solidFill>
              </a:rPr>
              <a:t>days: 5   budget: 900   →   status: insufficient_data</a:t>
            </a:r>
            <a:endParaRPr lang="en-US" sz="1600" dirty="0"/>
          </a:p>
        </p:txBody>
      </p:sp>
      <p:sp>
        <p:nvSpPr>
          <p:cNvPr id="55" name="Shape 53"/>
          <p:cNvSpPr/>
          <p:nvPr/>
        </p:nvSpPr>
        <p:spPr>
          <a:xfrm>
            <a:off x="6291072" y="5486400"/>
            <a:ext cx="310896" cy="310896"/>
          </a:xfrm>
          <a:prstGeom prst="ellipse">
            <a:avLst/>
          </a:prstGeom>
          <a:solidFill>
            <a:schemeClr val="accent3"/>
          </a:solidFill>
          <a:ln w="19050">
            <a:solidFill>
              <a:schemeClr val="bg1"/>
            </a:solidFill>
            <a:prstDash val="solid"/>
          </a:ln>
        </p:spPr>
      </p:sp>
      <p:sp>
        <p:nvSpPr>
          <p:cNvPr id="56" name="Text 54"/>
          <p:cNvSpPr txBox="1"/>
          <p:nvPr/>
        </p:nvSpPr>
        <p:spPr>
          <a:xfrm>
            <a:off x="6291072" y="548640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par>
                                <p:cTn id="16" presetID="10" presetClass="entr" presetSubtype="0" fill="hold"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par>
                                <p:cTn id="19" presetID="10"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par>
                                <p:cTn id="22" presetID="10" presetClass="entr" presetSubtype="0" fill="hold"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par>
                                <p:cTn id="25" presetID="10" presetClass="entr" presetSubtype="0" fill="hold"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par>
                                <p:cTn id="28" presetID="10" presetClass="entr" presetSubtype="0" fill="hold"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10"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500"/>
                                        <p:tgtEl>
                                          <p:spTgt spid="37"/>
                                        </p:tgtEl>
                                      </p:cBhvr>
                                    </p:animEffect>
                                  </p:childTnLst>
                                </p:cTn>
                              </p:par>
                              <p:par>
                                <p:cTn id="34" presetID="10" presetClass="entr" presetSubtype="0" fill="hold"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childTnLst>
                                </p:cTn>
                              </p:par>
                              <p:par>
                                <p:cTn id="37" presetID="10" presetClass="entr" presetSubtype="0"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500"/>
                                        <p:tgtEl>
                                          <p:spTgt spid="39"/>
                                        </p:tgtEl>
                                      </p:cBhvr>
                                    </p:animEffect>
                                  </p:childTnLst>
                                </p:cTn>
                              </p:par>
                              <p:par>
                                <p:cTn id="40" presetID="10" presetClass="entr" presetSubtype="0" fill="hold"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par>
                                <p:cTn id="43" presetID="10"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500"/>
                                        <p:tgtEl>
                                          <p:spTgt spid="41"/>
                                        </p:tgtEl>
                                      </p:cBhvr>
                                    </p:animEffect>
                                  </p:childTnLst>
                                </p:cTn>
                              </p:par>
                              <p:par>
                                <p:cTn id="46" presetID="10" presetClass="entr" presetSubtype="0" fill="hold" nodeType="with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fade">
                                      <p:cBhvr>
                                        <p:cTn id="48" dur="500"/>
                                        <p:tgtEl>
                                          <p:spTgt spid="42"/>
                                        </p:tgtEl>
                                      </p:cBhvr>
                                    </p:animEffect>
                                  </p:childTnLst>
                                </p:cTn>
                              </p:par>
                              <p:par>
                                <p:cTn id="49" presetID="10" presetClass="entr" presetSubtype="0"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fade">
                                      <p:cBhvr>
                                        <p:cTn id="51" dur="500"/>
                                        <p:tgtEl>
                                          <p:spTgt spid="43"/>
                                        </p:tgtEl>
                                      </p:cBhvr>
                                    </p:animEffect>
                                  </p:childTnLst>
                                </p:cTn>
                              </p:par>
                              <p:par>
                                <p:cTn id="52" presetID="10" presetClass="entr" presetSubtype="0" fill="hold" nodeType="withEffect">
                                  <p:stCondLst>
                                    <p:cond delay="0"/>
                                  </p:stCondLst>
                                  <p:childTnLst>
                                    <p:set>
                                      <p:cBhvr>
                                        <p:cTn id="53" dur="1" fill="hold">
                                          <p:stCondLst>
                                            <p:cond delay="0"/>
                                          </p:stCondLst>
                                        </p:cTn>
                                        <p:tgtEl>
                                          <p:spTgt spid="44"/>
                                        </p:tgtEl>
                                        <p:attrNameLst>
                                          <p:attrName>style.visibility</p:attrName>
                                        </p:attrNameLst>
                                      </p:cBhvr>
                                      <p:to>
                                        <p:strVal val="visible"/>
                                      </p:to>
                                    </p:set>
                                    <p:animEffect transition="in" filter="fade">
                                      <p:cBhvr>
                                        <p:cTn id="54" dur="500"/>
                                        <p:tgtEl>
                                          <p:spTgt spid="44"/>
                                        </p:tgtEl>
                                      </p:cBhvr>
                                    </p:animEffect>
                                  </p:childTnLst>
                                </p:cTn>
                              </p:par>
                              <p:par>
                                <p:cTn id="55" presetID="10" presetClass="entr" presetSubtype="0" fill="hold" nodeType="with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500"/>
                                        <p:tgtEl>
                                          <p:spTgt spid="45"/>
                                        </p:tgtEl>
                                      </p:cBhvr>
                                    </p:animEffect>
                                  </p:childTnLst>
                                </p:cTn>
                              </p:par>
                              <p:par>
                                <p:cTn id="58" presetID="10" presetClass="entr" presetSubtype="0" fill="hold" nodeType="with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fade">
                                      <p:cBhvr>
                                        <p:cTn id="60" dur="500"/>
                                        <p:tgtEl>
                                          <p:spTgt spid="46"/>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49"/>
                                        </p:tgtEl>
                                        <p:attrNameLst>
                                          <p:attrName>style.visibility</p:attrName>
                                        </p:attrNameLst>
                                      </p:cBhvr>
                                      <p:to>
                                        <p:strVal val="visible"/>
                                      </p:to>
                                    </p:set>
                                    <p:animEffect transition="in" filter="fade">
                                      <p:cBhvr>
                                        <p:cTn id="65" dur="500"/>
                                        <p:tgtEl>
                                          <p:spTgt spid="49"/>
                                        </p:tgtEl>
                                      </p:cBhvr>
                                    </p:animEffect>
                                  </p:childTnLst>
                                </p:cTn>
                              </p:par>
                              <p:par>
                                <p:cTn id="66" presetID="10" presetClass="entr" presetSubtype="0" fill="hold" nodeType="with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fade">
                                      <p:cBhvr>
                                        <p:cTn id="68" dur="500"/>
                                        <p:tgtEl>
                                          <p:spTgt spid="50"/>
                                        </p:tgtEl>
                                      </p:cBhvr>
                                    </p:animEffect>
                                  </p:childTnLst>
                                </p:cTn>
                              </p:par>
                              <p:par>
                                <p:cTn id="69" presetID="10" presetClass="entr" presetSubtype="0" fill="hold" nodeType="withEffect">
                                  <p:stCondLst>
                                    <p:cond delay="0"/>
                                  </p:stCondLst>
                                  <p:childTnLst>
                                    <p:set>
                                      <p:cBhvr>
                                        <p:cTn id="70" dur="1" fill="hold">
                                          <p:stCondLst>
                                            <p:cond delay="0"/>
                                          </p:stCondLst>
                                        </p:cTn>
                                        <p:tgtEl>
                                          <p:spTgt spid="53"/>
                                        </p:tgtEl>
                                        <p:attrNameLst>
                                          <p:attrName>style.visibility</p:attrName>
                                        </p:attrNameLst>
                                      </p:cBhvr>
                                      <p:to>
                                        <p:strVal val="visible"/>
                                      </p:to>
                                    </p:set>
                                    <p:animEffect transition="in" filter="fade">
                                      <p:cBhvr>
                                        <p:cTn id="71" dur="500"/>
                                        <p:tgtEl>
                                          <p:spTgt spid="53"/>
                                        </p:tgtEl>
                                      </p:cBhvr>
                                    </p:animEffect>
                                  </p:childTnLst>
                                </p:cTn>
                              </p:par>
                              <p:par>
                                <p:cTn id="72" presetID="10" presetClass="entr" presetSubtype="0" fill="hold" nodeType="withEffect">
                                  <p:stCondLst>
                                    <p:cond delay="0"/>
                                  </p:stCondLst>
                                  <p:childTnLst>
                                    <p:set>
                                      <p:cBhvr>
                                        <p:cTn id="73" dur="1" fill="hold">
                                          <p:stCondLst>
                                            <p:cond delay="0"/>
                                          </p:stCondLst>
                                        </p:cTn>
                                        <p:tgtEl>
                                          <p:spTgt spid="54"/>
                                        </p:tgtEl>
                                        <p:attrNameLst>
                                          <p:attrName>style.visibility</p:attrName>
                                        </p:attrNameLst>
                                      </p:cBhvr>
                                      <p:to>
                                        <p:strVal val="visible"/>
                                      </p:to>
                                    </p:set>
                                    <p:animEffect transition="in" filter="fade">
                                      <p:cBhvr>
                                        <p:cTn id="7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EVALUATION</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What we have verified</a:t>
            </a:r>
            <a:endParaRPr lang="en-US" sz="3400" dirty="0"/>
          </a:p>
        </p:txBody>
      </p:sp>
      <p:sp>
        <p:nvSpPr>
          <p:cNvPr id="4" name="Shape 2"/>
          <p:cNvSpPr/>
          <p:nvPr/>
        </p:nvSpPr>
        <p:spPr>
          <a:xfrm>
            <a:off x="548640" y="1508760"/>
            <a:ext cx="5486400" cy="4663440"/>
          </a:xfrm>
          <a:prstGeom prst="roundRect">
            <a:avLst>
              <a:gd name="adj" fmla="val 2353"/>
            </a:avLst>
          </a:prstGeom>
          <a:solidFill>
            <a:schemeClr val="accent2">
              <a:alpha val="45000"/>
            </a:schemeClr>
          </a:solidFill>
          <a:ln w="19050">
            <a:solidFill>
              <a:schemeClr val="accent1"/>
            </a:solidFill>
            <a:prstDash val="solid"/>
          </a:ln>
        </p:spPr>
      </p:sp>
      <p:sp>
        <p:nvSpPr>
          <p:cNvPr id="5" name="Text 3"/>
          <p:cNvSpPr txBox="1"/>
          <p:nvPr/>
        </p:nvSpPr>
        <p:spPr>
          <a:xfrm>
            <a:off x="822960" y="1691640"/>
            <a:ext cx="4572000" cy="274320"/>
          </a:xfrm>
          <a:prstGeom prst="rect">
            <a:avLst/>
          </a:prstGeom>
          <a:noFill/>
          <a:ln/>
        </p:spPr>
        <p:txBody>
          <a:bodyPr wrap="square" lIns="0" tIns="0" rIns="0" bIns="0" rtlCol="0" anchor="t"/>
          <a:lstStyle/>
          <a:p>
            <a:pPr indent="0" marL="0">
              <a:buNone/>
            </a:pPr>
            <a:r>
              <a:rPr lang="en-US" sz="1400" b="1" spc="300" kern="0" dirty="0">
                <a:solidFill>
                  <a:schemeClr val="accent1"/>
                </a:solidFill>
              </a:rPr>
              <a:t>TESTED NOW</a:t>
            </a:r>
            <a:endParaRPr lang="en-US" sz="1400" dirty="0"/>
          </a:p>
        </p:txBody>
      </p:sp>
      <p:sp>
        <p:nvSpPr>
          <p:cNvPr id="6" name="Text 4"/>
          <p:cNvSpPr txBox="1"/>
          <p:nvPr/>
        </p:nvSpPr>
        <p:spPr>
          <a:xfrm>
            <a:off x="822960" y="1965960"/>
            <a:ext cx="2011680" cy="1280160"/>
          </a:xfrm>
          <a:prstGeom prst="rect">
            <a:avLst/>
          </a:prstGeom>
          <a:noFill/>
          <a:ln/>
        </p:spPr>
        <p:txBody>
          <a:bodyPr wrap="square" lIns="0" tIns="0" rIns="0" bIns="0" rtlCol="0" anchor="t"/>
          <a:lstStyle/>
          <a:p>
            <a:pPr indent="0" marL="0">
              <a:buNone/>
            </a:pPr>
            <a:r>
              <a:rPr lang="en-US" sz="9600" b="1" dirty="0">
                <a:solidFill>
                  <a:schemeClr val="tx2"/>
                </a:solidFill>
                <a:latin typeface="+mj-lt" pitchFamily="34" charset="0"/>
                <a:ea typeface="+mj-lt" pitchFamily="34" charset="-122"/>
                <a:cs typeface="+mj-lt" pitchFamily="34" charset="-120"/>
              </a:rPr>
              <a:t>14</a:t>
            </a:r>
            <a:endParaRPr lang="en-US" sz="9600" dirty="0"/>
          </a:p>
        </p:txBody>
      </p:sp>
      <p:sp>
        <p:nvSpPr>
          <p:cNvPr id="7" name="Text 5"/>
          <p:cNvSpPr txBox="1"/>
          <p:nvPr/>
        </p:nvSpPr>
        <p:spPr>
          <a:xfrm>
            <a:off x="2743200" y="2514600"/>
            <a:ext cx="3108960" cy="731520"/>
          </a:xfrm>
          <a:prstGeom prst="rect">
            <a:avLst/>
          </a:prstGeom>
          <a:noFill/>
          <a:ln/>
        </p:spPr>
        <p:txBody>
          <a:bodyPr wrap="square" lIns="0" tIns="0" rIns="0" bIns="0" rtlCol="0" anchor="ctr"/>
          <a:lstStyle/>
          <a:p>
            <a:pPr indent="0" marL="0">
              <a:buNone/>
            </a:pPr>
            <a:r>
              <a:rPr lang="en-US" sz="2000" b="1" dirty="0">
                <a:solidFill>
                  <a:schemeClr val="tx2"/>
                </a:solidFill>
              </a:rPr>
              <a:t>unit/API tests passed</a:t>
            </a:r>
            <a:endParaRPr lang="en-US" sz="2000" dirty="0"/>
          </a:p>
        </p:txBody>
      </p:sp>
      <p:sp>
        <p:nvSpPr>
          <p:cNvPr id="8" name="Shape 6"/>
          <p:cNvSpPr/>
          <p:nvPr/>
        </p:nvSpPr>
        <p:spPr>
          <a:xfrm>
            <a:off x="822960" y="3520440"/>
            <a:ext cx="411480" cy="411480"/>
          </a:xfrm>
          <a:prstGeom prst="ellipse">
            <a:avLst/>
          </a:prstGeom>
          <a:solidFill>
            <a:schemeClr val="accent1"/>
          </a:solidFill>
          <a:ln w="12700">
            <a:solidFill>
              <a:schemeClr val="accent1"/>
            </a:solidFill>
            <a:prstDash val="solid"/>
          </a:ln>
        </p:spPr>
      </p:sp>
      <p:pic>
        <p:nvPicPr>
          <p:cNvPr id="9" name="Image 0" descr="icon">    </p:cNvPr>
          <p:cNvPicPr>
            <a:picLocks noChangeAspect="1"/>
          </p:cNvPicPr>
          <p:nvPr/>
        </p:nvPicPr>
        <p:blipFill>
          <a:blip r:embed="rId1"/>
          <a:stretch>
            <a:fillRect/>
          </a:stretch>
        </p:blipFill>
        <p:spPr>
          <a:xfrm>
            <a:off x="925830" y="3623310"/>
            <a:ext cx="205740" cy="205740"/>
          </a:xfrm>
          <a:prstGeom prst="rect">
            <a:avLst/>
          </a:prstGeom>
        </p:spPr>
      </p:pic>
      <p:sp>
        <p:nvSpPr>
          <p:cNvPr id="10" name="Text 7"/>
          <p:cNvSpPr txBox="1"/>
          <p:nvPr/>
        </p:nvSpPr>
        <p:spPr>
          <a:xfrm>
            <a:off x="1371600" y="3520440"/>
            <a:ext cx="1920240" cy="411480"/>
          </a:xfrm>
          <a:prstGeom prst="rect">
            <a:avLst/>
          </a:prstGeom>
          <a:noFill/>
          <a:ln/>
        </p:spPr>
        <p:txBody>
          <a:bodyPr wrap="square" lIns="0" tIns="0" rIns="0" bIns="0" rtlCol="0" anchor="ctr"/>
          <a:lstStyle/>
          <a:p>
            <a:pPr indent="0" marL="0">
              <a:buNone/>
            </a:pPr>
            <a:r>
              <a:rPr lang="en-US" sz="1600" dirty="0">
                <a:solidFill>
                  <a:schemeClr val="tx1"/>
                </a:solidFill>
              </a:rPr>
              <a:t>CSV validation</a:t>
            </a:r>
            <a:endParaRPr lang="en-US" sz="1600" dirty="0"/>
          </a:p>
        </p:txBody>
      </p:sp>
      <p:sp>
        <p:nvSpPr>
          <p:cNvPr id="11" name="Shape 8"/>
          <p:cNvSpPr/>
          <p:nvPr/>
        </p:nvSpPr>
        <p:spPr>
          <a:xfrm>
            <a:off x="3337560" y="3520440"/>
            <a:ext cx="411480" cy="411480"/>
          </a:xfrm>
          <a:prstGeom prst="ellipse">
            <a:avLst/>
          </a:prstGeom>
          <a:solidFill>
            <a:schemeClr val="accent1"/>
          </a:solidFill>
          <a:ln w="12700">
            <a:solidFill>
              <a:schemeClr val="accent1"/>
            </a:solidFill>
            <a:prstDash val="solid"/>
          </a:ln>
        </p:spPr>
      </p:sp>
      <p:pic>
        <p:nvPicPr>
          <p:cNvPr id="12" name="Image 1" descr="icon">    </p:cNvPr>
          <p:cNvPicPr>
            <a:picLocks noChangeAspect="1"/>
          </p:cNvPicPr>
          <p:nvPr/>
        </p:nvPicPr>
        <p:blipFill>
          <a:blip r:embed="rId2"/>
          <a:stretch>
            <a:fillRect/>
          </a:stretch>
        </p:blipFill>
        <p:spPr>
          <a:xfrm>
            <a:off x="3440430" y="3623310"/>
            <a:ext cx="205740" cy="205740"/>
          </a:xfrm>
          <a:prstGeom prst="rect">
            <a:avLst/>
          </a:prstGeom>
        </p:spPr>
      </p:pic>
      <p:sp>
        <p:nvSpPr>
          <p:cNvPr id="13" name="Text 9"/>
          <p:cNvSpPr txBox="1"/>
          <p:nvPr/>
        </p:nvSpPr>
        <p:spPr>
          <a:xfrm>
            <a:off x="3886200" y="3520440"/>
            <a:ext cx="1920240" cy="411480"/>
          </a:xfrm>
          <a:prstGeom prst="rect">
            <a:avLst/>
          </a:prstGeom>
          <a:noFill/>
          <a:ln/>
        </p:spPr>
        <p:txBody>
          <a:bodyPr wrap="square" lIns="0" tIns="0" rIns="0" bIns="0" rtlCol="0" anchor="ctr"/>
          <a:lstStyle/>
          <a:p>
            <a:pPr indent="0" marL="0">
              <a:buNone/>
            </a:pPr>
            <a:r>
              <a:rPr lang="en-US" sz="1600" dirty="0">
                <a:solidFill>
                  <a:schemeClr val="tx1"/>
                </a:solidFill>
              </a:rPr>
              <a:t>Retrieval</a:t>
            </a:r>
            <a:endParaRPr lang="en-US" sz="1600" dirty="0"/>
          </a:p>
        </p:txBody>
      </p:sp>
      <p:sp>
        <p:nvSpPr>
          <p:cNvPr id="14" name="Shape 10"/>
          <p:cNvSpPr/>
          <p:nvPr/>
        </p:nvSpPr>
        <p:spPr>
          <a:xfrm>
            <a:off x="822960" y="4251960"/>
            <a:ext cx="411480" cy="411480"/>
          </a:xfrm>
          <a:prstGeom prst="ellipse">
            <a:avLst/>
          </a:prstGeom>
          <a:solidFill>
            <a:schemeClr val="accent1"/>
          </a:solidFill>
          <a:ln w="12700">
            <a:solidFill>
              <a:schemeClr val="accent1"/>
            </a:solidFill>
            <a:prstDash val="solid"/>
          </a:ln>
        </p:spPr>
      </p:sp>
      <p:pic>
        <p:nvPicPr>
          <p:cNvPr id="15" name="Image 2" descr="icon">    </p:cNvPr>
          <p:cNvPicPr>
            <a:picLocks noChangeAspect="1"/>
          </p:cNvPicPr>
          <p:nvPr/>
        </p:nvPicPr>
        <p:blipFill>
          <a:blip r:embed="rId3"/>
          <a:stretch>
            <a:fillRect/>
          </a:stretch>
        </p:blipFill>
        <p:spPr>
          <a:xfrm>
            <a:off x="925830" y="4354830"/>
            <a:ext cx="205740" cy="205740"/>
          </a:xfrm>
          <a:prstGeom prst="rect">
            <a:avLst/>
          </a:prstGeom>
        </p:spPr>
      </p:pic>
      <p:sp>
        <p:nvSpPr>
          <p:cNvPr id="16" name="Text 11"/>
          <p:cNvSpPr txBox="1"/>
          <p:nvPr/>
        </p:nvSpPr>
        <p:spPr>
          <a:xfrm>
            <a:off x="1371600" y="4251960"/>
            <a:ext cx="1920240" cy="411480"/>
          </a:xfrm>
          <a:prstGeom prst="rect">
            <a:avLst/>
          </a:prstGeom>
          <a:noFill/>
          <a:ln/>
        </p:spPr>
        <p:txBody>
          <a:bodyPr wrap="square" lIns="0" tIns="0" rIns="0" bIns="0" rtlCol="0" anchor="ctr"/>
          <a:lstStyle/>
          <a:p>
            <a:pPr indent="0" marL="0">
              <a:buNone/>
            </a:pPr>
            <a:r>
              <a:rPr lang="en-US" sz="1600" dirty="0">
                <a:solidFill>
                  <a:schemeClr val="tx1"/>
                </a:solidFill>
              </a:rPr>
              <a:t>Filters</a:t>
            </a:r>
            <a:endParaRPr lang="en-US" sz="1600" dirty="0"/>
          </a:p>
        </p:txBody>
      </p:sp>
      <p:sp>
        <p:nvSpPr>
          <p:cNvPr id="17" name="Shape 12"/>
          <p:cNvSpPr/>
          <p:nvPr/>
        </p:nvSpPr>
        <p:spPr>
          <a:xfrm>
            <a:off x="3337560" y="4251960"/>
            <a:ext cx="411480" cy="411480"/>
          </a:xfrm>
          <a:prstGeom prst="ellipse">
            <a:avLst/>
          </a:prstGeom>
          <a:solidFill>
            <a:schemeClr val="accent1"/>
          </a:solidFill>
          <a:ln w="12700">
            <a:solidFill>
              <a:schemeClr val="accent1"/>
            </a:solidFill>
            <a:prstDash val="solid"/>
          </a:ln>
        </p:spPr>
      </p:sp>
      <p:pic>
        <p:nvPicPr>
          <p:cNvPr id="18" name="Image 3" descr="icon">    </p:cNvPr>
          <p:cNvPicPr>
            <a:picLocks noChangeAspect="1"/>
          </p:cNvPicPr>
          <p:nvPr/>
        </p:nvPicPr>
        <p:blipFill>
          <a:blip r:embed="rId4"/>
          <a:stretch>
            <a:fillRect/>
          </a:stretch>
        </p:blipFill>
        <p:spPr>
          <a:xfrm>
            <a:off x="3440430" y="4354830"/>
            <a:ext cx="205740" cy="205740"/>
          </a:xfrm>
          <a:prstGeom prst="rect">
            <a:avLst/>
          </a:prstGeom>
        </p:spPr>
      </p:pic>
      <p:sp>
        <p:nvSpPr>
          <p:cNvPr id="19" name="Text 13"/>
          <p:cNvSpPr txBox="1"/>
          <p:nvPr/>
        </p:nvSpPr>
        <p:spPr>
          <a:xfrm>
            <a:off x="3886200" y="4251960"/>
            <a:ext cx="1920240" cy="411480"/>
          </a:xfrm>
          <a:prstGeom prst="rect">
            <a:avLst/>
          </a:prstGeom>
          <a:noFill/>
          <a:ln/>
        </p:spPr>
        <p:txBody>
          <a:bodyPr wrap="square" lIns="0" tIns="0" rIns="0" bIns="0" rtlCol="0" anchor="ctr"/>
          <a:lstStyle/>
          <a:p>
            <a:pPr indent="0" marL="0">
              <a:buNone/>
            </a:pPr>
            <a:r>
              <a:rPr lang="en-US" sz="1600" dirty="0">
                <a:solidFill>
                  <a:schemeClr val="tx1"/>
                </a:solidFill>
              </a:rPr>
              <a:t>Preference parsing</a:t>
            </a:r>
            <a:endParaRPr lang="en-US" sz="1600" dirty="0"/>
          </a:p>
        </p:txBody>
      </p:sp>
      <p:sp>
        <p:nvSpPr>
          <p:cNvPr id="20" name="Shape 14"/>
          <p:cNvSpPr/>
          <p:nvPr/>
        </p:nvSpPr>
        <p:spPr>
          <a:xfrm>
            <a:off x="822960" y="4983480"/>
            <a:ext cx="411480" cy="411480"/>
          </a:xfrm>
          <a:prstGeom prst="ellipse">
            <a:avLst/>
          </a:prstGeom>
          <a:solidFill>
            <a:schemeClr val="accent1"/>
          </a:solidFill>
          <a:ln w="12700">
            <a:solidFill>
              <a:schemeClr val="accent1"/>
            </a:solidFill>
            <a:prstDash val="solid"/>
          </a:ln>
        </p:spPr>
      </p:sp>
      <p:pic>
        <p:nvPicPr>
          <p:cNvPr id="21" name="Image 4" descr="icon">    </p:cNvPr>
          <p:cNvPicPr>
            <a:picLocks noChangeAspect="1"/>
          </p:cNvPicPr>
          <p:nvPr/>
        </p:nvPicPr>
        <p:blipFill>
          <a:blip r:embed="rId5"/>
          <a:stretch>
            <a:fillRect/>
          </a:stretch>
        </p:blipFill>
        <p:spPr>
          <a:xfrm>
            <a:off x="925830" y="5086350"/>
            <a:ext cx="205740" cy="205740"/>
          </a:xfrm>
          <a:prstGeom prst="rect">
            <a:avLst/>
          </a:prstGeom>
        </p:spPr>
      </p:pic>
      <p:sp>
        <p:nvSpPr>
          <p:cNvPr id="22" name="Text 15"/>
          <p:cNvSpPr txBox="1"/>
          <p:nvPr/>
        </p:nvSpPr>
        <p:spPr>
          <a:xfrm>
            <a:off x="1371600" y="4983480"/>
            <a:ext cx="1920240" cy="411480"/>
          </a:xfrm>
          <a:prstGeom prst="rect">
            <a:avLst/>
          </a:prstGeom>
          <a:noFill/>
          <a:ln/>
        </p:spPr>
        <p:txBody>
          <a:bodyPr wrap="square" lIns="0" tIns="0" rIns="0" bIns="0" rtlCol="0" anchor="ctr"/>
          <a:lstStyle/>
          <a:p>
            <a:pPr indent="0" marL="0">
              <a:buNone/>
            </a:pPr>
            <a:r>
              <a:rPr lang="en-US" sz="1600" dirty="0">
                <a:solidFill>
                  <a:schemeClr val="tx1"/>
                </a:solidFill>
              </a:rPr>
              <a:t>API behavior</a:t>
            </a:r>
            <a:endParaRPr lang="en-US" sz="1600" dirty="0"/>
          </a:p>
        </p:txBody>
      </p:sp>
      <p:sp>
        <p:nvSpPr>
          <p:cNvPr id="23" name="Shape 16"/>
          <p:cNvSpPr/>
          <p:nvPr/>
        </p:nvSpPr>
        <p:spPr>
          <a:xfrm>
            <a:off x="3337560" y="4983480"/>
            <a:ext cx="411480" cy="411480"/>
          </a:xfrm>
          <a:prstGeom prst="ellipse">
            <a:avLst/>
          </a:prstGeom>
          <a:solidFill>
            <a:schemeClr val="accent1"/>
          </a:solidFill>
          <a:ln w="12700">
            <a:solidFill>
              <a:schemeClr val="accent1"/>
            </a:solidFill>
            <a:prstDash val="solid"/>
          </a:ln>
        </p:spPr>
      </p:sp>
      <p:pic>
        <p:nvPicPr>
          <p:cNvPr id="24" name="Image 5" descr="icon">    </p:cNvPr>
          <p:cNvPicPr>
            <a:picLocks noChangeAspect="1"/>
          </p:cNvPicPr>
          <p:nvPr/>
        </p:nvPicPr>
        <p:blipFill>
          <a:blip r:embed="rId6"/>
          <a:stretch>
            <a:fillRect/>
          </a:stretch>
        </p:blipFill>
        <p:spPr>
          <a:xfrm>
            <a:off x="3440430" y="5086350"/>
            <a:ext cx="205740" cy="205740"/>
          </a:xfrm>
          <a:prstGeom prst="rect">
            <a:avLst/>
          </a:prstGeom>
        </p:spPr>
      </p:pic>
      <p:sp>
        <p:nvSpPr>
          <p:cNvPr id="25" name="Text 17"/>
          <p:cNvSpPr txBox="1"/>
          <p:nvPr/>
        </p:nvSpPr>
        <p:spPr>
          <a:xfrm>
            <a:off x="3886200" y="4983480"/>
            <a:ext cx="1920240" cy="411480"/>
          </a:xfrm>
          <a:prstGeom prst="rect">
            <a:avLst/>
          </a:prstGeom>
          <a:noFill/>
          <a:ln/>
        </p:spPr>
        <p:txBody>
          <a:bodyPr wrap="square" lIns="0" tIns="0" rIns="0" bIns="0" rtlCol="0" anchor="ctr"/>
          <a:lstStyle/>
          <a:p>
            <a:pPr indent="0" marL="0">
              <a:buNone/>
            </a:pPr>
            <a:r>
              <a:rPr lang="en-US" sz="1600" dirty="0">
                <a:solidFill>
                  <a:schemeClr val="tx1"/>
                </a:solidFill>
              </a:rPr>
              <a:t>Feedback</a:t>
            </a:r>
            <a:endParaRPr lang="en-US" sz="1600" dirty="0"/>
          </a:p>
        </p:txBody>
      </p:sp>
      <p:sp>
        <p:nvSpPr>
          <p:cNvPr id="26" name="Shape 18"/>
          <p:cNvSpPr/>
          <p:nvPr/>
        </p:nvSpPr>
        <p:spPr>
          <a:xfrm>
            <a:off x="6355080" y="1508760"/>
            <a:ext cx="5285232" cy="4663440"/>
          </a:xfrm>
          <a:prstGeom prst="roundRect">
            <a:avLst>
              <a:gd name="adj" fmla="val 2353"/>
            </a:avLst>
          </a:prstGeom>
          <a:solidFill>
            <a:schemeClr val="bg1"/>
          </a:solidFill>
          <a:ln w="25400">
            <a:solidFill>
              <a:schemeClr val="accent3"/>
            </a:solidFill>
            <a:prstDash val="dash"/>
          </a:ln>
        </p:spPr>
      </p:sp>
      <p:sp>
        <p:nvSpPr>
          <p:cNvPr id="27" name="Text 19"/>
          <p:cNvSpPr txBox="1"/>
          <p:nvPr/>
        </p:nvSpPr>
        <p:spPr>
          <a:xfrm>
            <a:off x="6629400" y="1691640"/>
            <a:ext cx="4572000" cy="274320"/>
          </a:xfrm>
          <a:prstGeom prst="rect">
            <a:avLst/>
          </a:prstGeom>
          <a:noFill/>
          <a:ln/>
        </p:spPr>
        <p:txBody>
          <a:bodyPr wrap="square" lIns="0" tIns="0" rIns="0" bIns="0" rtlCol="0" anchor="t"/>
          <a:lstStyle/>
          <a:p>
            <a:pPr indent="0" marL="0">
              <a:buNone/>
            </a:pPr>
            <a:r>
              <a:rPr lang="en-US" sz="1400" b="1" spc="300" kern="0" dirty="0">
                <a:solidFill>
                  <a:schemeClr val="accent3"/>
                </a:solidFill>
              </a:rPr>
              <a:t>PLANNED NEXT</a:t>
            </a:r>
            <a:endParaRPr lang="en-US" sz="1400" dirty="0"/>
          </a:p>
        </p:txBody>
      </p:sp>
      <p:sp>
        <p:nvSpPr>
          <p:cNvPr id="28" name="Text 20"/>
          <p:cNvSpPr txBox="1"/>
          <p:nvPr/>
        </p:nvSpPr>
        <p:spPr>
          <a:xfrm>
            <a:off x="6629400" y="2148840"/>
            <a:ext cx="2377440" cy="548640"/>
          </a:xfrm>
          <a:prstGeom prst="rect">
            <a:avLst/>
          </a:prstGeom>
          <a:noFill/>
          <a:ln/>
        </p:spPr>
        <p:txBody>
          <a:bodyPr wrap="square" lIns="0" tIns="0" rIns="0" bIns="0" rtlCol="0" anchor="ctr"/>
          <a:lstStyle/>
          <a:p>
            <a:pPr indent="0" marL="0">
              <a:buNone/>
            </a:pPr>
            <a:r>
              <a:rPr lang="en-US" sz="2600" b="1" dirty="0">
                <a:solidFill>
                  <a:schemeClr val="tx2"/>
                </a:solidFill>
                <a:latin typeface="+mj-lt" pitchFamily="34" charset="0"/>
                <a:ea typeface="+mj-lt" pitchFamily="34" charset="-122"/>
                <a:cs typeface="+mj-lt" pitchFamily="34" charset="-120"/>
              </a:rPr>
              <a:t>DeepEval</a:t>
            </a:r>
            <a:endParaRPr lang="en-US" sz="2600" dirty="0"/>
          </a:p>
        </p:txBody>
      </p:sp>
      <p:sp>
        <p:nvSpPr>
          <p:cNvPr id="29" name="Text 21"/>
          <p:cNvSpPr/>
          <p:nvPr/>
        </p:nvSpPr>
        <p:spPr>
          <a:xfrm>
            <a:off x="9052560" y="2221992"/>
            <a:ext cx="2286000" cy="402336"/>
          </a:xfrm>
          <a:prstGeom prst="roundRect">
            <a:avLst>
              <a:gd name="adj" fmla="val 68182"/>
            </a:avLst>
          </a:prstGeom>
          <a:solidFill>
            <a:schemeClr val="accent3"/>
          </a:solidFill>
          <a:ln/>
        </p:spPr>
        <p:txBody>
          <a:bodyPr wrap="square" lIns="0" tIns="1016" rIns="1016" bIns="0" rtlCol="0" anchor="ctr"/>
          <a:lstStyle/>
          <a:p>
            <a:pPr algn="ctr" indent="0" marL="0">
              <a:buNone/>
            </a:pPr>
            <a:r>
              <a:rPr lang="en-US" sz="1500" b="1" dirty="0">
                <a:solidFill>
                  <a:schemeClr val="bg1"/>
                </a:solidFill>
              </a:rPr>
              <a:t>Not run</a:t>
            </a:r>
            <a:endParaRPr lang="en-US" sz="1500" dirty="0"/>
          </a:p>
        </p:txBody>
      </p:sp>
      <p:sp>
        <p:nvSpPr>
          <p:cNvPr id="30" name="Text 22"/>
          <p:cNvSpPr txBox="1"/>
          <p:nvPr/>
        </p:nvSpPr>
        <p:spPr>
          <a:xfrm>
            <a:off x="6629400" y="3017520"/>
            <a:ext cx="2377440" cy="548640"/>
          </a:xfrm>
          <a:prstGeom prst="rect">
            <a:avLst/>
          </a:prstGeom>
          <a:noFill/>
          <a:ln/>
        </p:spPr>
        <p:txBody>
          <a:bodyPr wrap="square" lIns="0" tIns="0" rIns="0" bIns="0" rtlCol="0" anchor="ctr"/>
          <a:lstStyle/>
          <a:p>
            <a:pPr indent="0" marL="0">
              <a:buNone/>
            </a:pPr>
            <a:r>
              <a:rPr lang="en-US" sz="2600" b="1" dirty="0">
                <a:solidFill>
                  <a:schemeClr val="tx2"/>
                </a:solidFill>
                <a:latin typeface="+mj-lt" pitchFamily="34" charset="0"/>
                <a:ea typeface="+mj-lt" pitchFamily="34" charset="-122"/>
                <a:cs typeface="+mj-lt" pitchFamily="34" charset="-120"/>
              </a:rPr>
              <a:t>RAGAS</a:t>
            </a:r>
            <a:endParaRPr lang="en-US" sz="2600" dirty="0"/>
          </a:p>
        </p:txBody>
      </p:sp>
      <p:sp>
        <p:nvSpPr>
          <p:cNvPr id="31" name="Text 23"/>
          <p:cNvSpPr/>
          <p:nvPr/>
        </p:nvSpPr>
        <p:spPr>
          <a:xfrm>
            <a:off x="9052560" y="3090672"/>
            <a:ext cx="2286000" cy="402336"/>
          </a:xfrm>
          <a:prstGeom prst="roundRect">
            <a:avLst>
              <a:gd name="adj" fmla="val 68182"/>
            </a:avLst>
          </a:prstGeom>
          <a:solidFill>
            <a:schemeClr val="accent3"/>
          </a:solidFill>
          <a:ln/>
        </p:spPr>
        <p:txBody>
          <a:bodyPr wrap="square" lIns="0" tIns="1016" rIns="1016" bIns="0" rtlCol="0" anchor="ctr"/>
          <a:lstStyle/>
          <a:p>
            <a:pPr algn="ctr" indent="0" marL="0">
              <a:buNone/>
            </a:pPr>
            <a:r>
              <a:rPr lang="en-US" sz="1500" b="1" dirty="0">
                <a:solidFill>
                  <a:schemeClr val="bg1"/>
                </a:solidFill>
              </a:rPr>
              <a:t>Not integrated</a:t>
            </a:r>
            <a:endParaRPr lang="en-US" sz="1500" dirty="0"/>
          </a:p>
        </p:txBody>
      </p:sp>
      <p:sp>
        <p:nvSpPr>
          <p:cNvPr id="32" name="Text 24"/>
          <p:cNvSpPr txBox="1"/>
          <p:nvPr/>
        </p:nvSpPr>
        <p:spPr>
          <a:xfrm>
            <a:off x="6629400" y="4023360"/>
            <a:ext cx="4572000" cy="320040"/>
          </a:xfrm>
          <a:prstGeom prst="rect">
            <a:avLst/>
          </a:prstGeom>
          <a:noFill/>
          <a:ln/>
        </p:spPr>
        <p:txBody>
          <a:bodyPr wrap="square" lIns="0" tIns="0" rIns="0" bIns="0" rtlCol="0" anchor="t"/>
          <a:lstStyle/>
          <a:p>
            <a:pPr indent="0" marL="0">
              <a:buNone/>
            </a:pPr>
            <a:r>
              <a:rPr lang="en-US" sz="1600" b="1" dirty="0">
                <a:solidFill>
                  <a:schemeClr val="tx2"/>
                </a:solidFill>
              </a:rPr>
              <a:t>Proposed next metrics</a:t>
            </a:r>
            <a:endParaRPr lang="en-US" sz="1600" dirty="0"/>
          </a:p>
        </p:txBody>
      </p:sp>
      <p:sp>
        <p:nvSpPr>
          <p:cNvPr id="33" name="Text 25"/>
          <p:cNvSpPr/>
          <p:nvPr/>
        </p:nvSpPr>
        <p:spPr>
          <a:xfrm>
            <a:off x="6629400" y="4480560"/>
            <a:ext cx="1417320" cy="457200"/>
          </a:xfrm>
          <a:prstGeom prst="roundRect">
            <a:avLst>
              <a:gd name="adj" fmla="val 60000"/>
            </a:avLst>
          </a:prstGeom>
          <a:solidFill>
            <a:schemeClr val="bg2"/>
          </a:solidFill>
          <a:ln w="19050">
            <a:solidFill>
              <a:schemeClr val="accent3"/>
            </a:solidFill>
            <a:prstDash val="dash"/>
          </a:ln>
        </p:spPr>
        <p:txBody>
          <a:bodyPr wrap="square" lIns="0" tIns="1016" rIns="1016" bIns="0" rtlCol="0" anchor="ctr"/>
          <a:lstStyle/>
          <a:p>
            <a:pPr algn="ctr" indent="0" marL="0">
              <a:buNone/>
            </a:pPr>
            <a:r>
              <a:rPr lang="en-US" sz="1500" b="1" dirty="0">
                <a:solidFill>
                  <a:schemeClr val="tx2"/>
                </a:solidFill>
              </a:rPr>
              <a:t>Precision@k</a:t>
            </a:r>
            <a:endParaRPr lang="en-US" sz="1500" dirty="0"/>
          </a:p>
        </p:txBody>
      </p:sp>
      <p:sp>
        <p:nvSpPr>
          <p:cNvPr id="34" name="Text 26"/>
          <p:cNvSpPr/>
          <p:nvPr/>
        </p:nvSpPr>
        <p:spPr>
          <a:xfrm>
            <a:off x="8183880" y="4480560"/>
            <a:ext cx="1417320" cy="457200"/>
          </a:xfrm>
          <a:prstGeom prst="roundRect">
            <a:avLst>
              <a:gd name="adj" fmla="val 60000"/>
            </a:avLst>
          </a:prstGeom>
          <a:solidFill>
            <a:schemeClr val="bg2"/>
          </a:solidFill>
          <a:ln w="19050">
            <a:solidFill>
              <a:schemeClr val="accent3"/>
            </a:solidFill>
            <a:prstDash val="dash"/>
          </a:ln>
        </p:spPr>
        <p:txBody>
          <a:bodyPr wrap="square" lIns="0" tIns="1016" rIns="1016" bIns="0" rtlCol="0" anchor="ctr"/>
          <a:lstStyle/>
          <a:p>
            <a:pPr algn="ctr" indent="0" marL="0">
              <a:buNone/>
            </a:pPr>
            <a:r>
              <a:rPr lang="en-US" sz="1500" b="1" dirty="0">
                <a:solidFill>
                  <a:schemeClr val="tx2"/>
                </a:solidFill>
              </a:rPr>
              <a:t>Recall@k</a:t>
            </a:r>
            <a:endParaRPr lang="en-US" sz="1500" dirty="0"/>
          </a:p>
        </p:txBody>
      </p:sp>
      <p:sp>
        <p:nvSpPr>
          <p:cNvPr id="35" name="Text 27"/>
          <p:cNvSpPr/>
          <p:nvPr/>
        </p:nvSpPr>
        <p:spPr>
          <a:xfrm>
            <a:off x="9738360" y="4480560"/>
            <a:ext cx="1417320" cy="457200"/>
          </a:xfrm>
          <a:prstGeom prst="roundRect">
            <a:avLst>
              <a:gd name="adj" fmla="val 60000"/>
            </a:avLst>
          </a:prstGeom>
          <a:solidFill>
            <a:schemeClr val="bg2"/>
          </a:solidFill>
          <a:ln w="19050">
            <a:solidFill>
              <a:schemeClr val="accent3"/>
            </a:solidFill>
            <a:prstDash val="dash"/>
          </a:ln>
        </p:spPr>
        <p:txBody>
          <a:bodyPr wrap="square" lIns="0" tIns="1016" rIns="1016" bIns="0" rtlCol="0" anchor="ctr"/>
          <a:lstStyle/>
          <a:p>
            <a:pPr algn="ctr" indent="0" marL="0">
              <a:buNone/>
            </a:pPr>
            <a:r>
              <a:rPr lang="en-US" sz="1500" b="1" dirty="0">
                <a:solidFill>
                  <a:schemeClr val="tx2"/>
                </a:solidFill>
              </a:rPr>
              <a:t>nDCG</a:t>
            </a:r>
            <a:endParaRPr lang="en-US" sz="1500" dirty="0"/>
          </a:p>
        </p:txBody>
      </p:sp>
      <p:sp>
        <p:nvSpPr>
          <p:cNvPr id="36" name="Text 28"/>
          <p:cNvSpPr txBox="1"/>
          <p:nvPr/>
        </p:nvSpPr>
        <p:spPr>
          <a:xfrm>
            <a:off x="6629400" y="5166360"/>
            <a:ext cx="4754880" cy="868680"/>
          </a:xfrm>
          <a:prstGeom prst="rect">
            <a:avLst/>
          </a:prstGeom>
          <a:noFill/>
          <a:ln/>
        </p:spPr>
        <p:txBody>
          <a:bodyPr wrap="square" lIns="0" tIns="0" rIns="0" bIns="0" rtlCol="0" anchor="t"/>
          <a:lstStyle/>
          <a:p>
            <a:pPr indent="0" marL="0">
              <a:buNone/>
            </a:pPr>
            <a:r>
              <a:rPr lang="en-US" sz="1400" i="1" dirty="0">
                <a:solidFill>
                  <a:schemeClr val="accent6"/>
                </a:solidFill>
              </a:rPr>
              <a:t>No evaluation scores are reported. DeepEval is in the dependency list, but no run, report or score exists.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TRADE-OFFS</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Challenges and trade-offs</a:t>
            </a:r>
            <a:endParaRPr lang="en-US" sz="3400" dirty="0"/>
          </a:p>
        </p:txBody>
      </p:sp>
      <p:sp>
        <p:nvSpPr>
          <p:cNvPr id="4" name="Text 2"/>
          <p:cNvSpPr txBox="1"/>
          <p:nvPr/>
        </p:nvSpPr>
        <p:spPr>
          <a:xfrm>
            <a:off x="548640" y="1463040"/>
            <a:ext cx="493776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CHALLENGE</a:t>
            </a:r>
            <a:endParaRPr lang="en-US" sz="1300" dirty="0"/>
          </a:p>
        </p:txBody>
      </p:sp>
      <p:sp>
        <p:nvSpPr>
          <p:cNvPr id="5" name="Text 3"/>
          <p:cNvSpPr txBox="1"/>
          <p:nvPr/>
        </p:nvSpPr>
        <p:spPr>
          <a:xfrm>
            <a:off x="6400800" y="1463040"/>
            <a:ext cx="5212080" cy="274320"/>
          </a:xfrm>
          <a:prstGeom prst="rect">
            <a:avLst/>
          </a:prstGeom>
          <a:noFill/>
          <a:ln/>
        </p:spPr>
        <p:txBody>
          <a:bodyPr wrap="square" lIns="0" tIns="0" rIns="0" bIns="0" rtlCol="0" anchor="t"/>
          <a:lstStyle/>
          <a:p>
            <a:pPr indent="0" marL="0">
              <a:buNone/>
            </a:pPr>
            <a:r>
              <a:rPr lang="en-US" sz="1300" b="1" spc="300" kern="0" dirty="0">
                <a:solidFill>
                  <a:schemeClr val="accent1"/>
                </a:solidFill>
              </a:rPr>
              <a:t>DESIGN RESPONSE</a:t>
            </a:r>
            <a:endParaRPr lang="en-US" sz="1300" dirty="0"/>
          </a:p>
        </p:txBody>
      </p:sp>
      <p:sp>
        <p:nvSpPr>
          <p:cNvPr id="6" name="Shape 4"/>
          <p:cNvSpPr/>
          <p:nvPr/>
        </p:nvSpPr>
        <p:spPr>
          <a:xfrm>
            <a:off x="548640" y="1828800"/>
            <a:ext cx="5394960" cy="768096"/>
          </a:xfrm>
          <a:prstGeom prst="roundRect">
            <a:avLst>
              <a:gd name="adj" fmla="val 14286"/>
            </a:avLst>
          </a:prstGeom>
          <a:solidFill>
            <a:schemeClr val="accent5">
              <a:alpha val="70000"/>
            </a:schemeClr>
          </a:solidFill>
          <a:ln w="15875">
            <a:solidFill>
              <a:schemeClr val="accent3"/>
            </a:solidFill>
            <a:prstDash val="solid"/>
          </a:ln>
        </p:spPr>
      </p:sp>
      <p:sp>
        <p:nvSpPr>
          <p:cNvPr id="7" name="Text 5"/>
          <p:cNvSpPr txBox="1"/>
          <p:nvPr/>
        </p:nvSpPr>
        <p:spPr>
          <a:xfrm>
            <a:off x="731520" y="1828800"/>
            <a:ext cx="5029200" cy="768096"/>
          </a:xfrm>
          <a:prstGeom prst="rect">
            <a:avLst/>
          </a:prstGeom>
          <a:noFill/>
          <a:ln/>
        </p:spPr>
        <p:txBody>
          <a:bodyPr wrap="square" lIns="0" tIns="0" rIns="0" bIns="0" rtlCol="0" anchor="ctr"/>
          <a:lstStyle/>
          <a:p>
            <a:pPr indent="0" marL="0">
              <a:buNone/>
            </a:pPr>
            <a:r>
              <a:rPr lang="en-US" sz="1500" b="1" dirty="0">
                <a:solidFill>
                  <a:schemeClr val="tx2"/>
                </a:solidFill>
              </a:rPr>
              <a:t>Enriched-data provenance is unverified</a:t>
            </a:r>
            <a:endParaRPr lang="en-US" sz="1500" dirty="0"/>
          </a:p>
        </p:txBody>
      </p:sp>
      <p:sp>
        <p:nvSpPr>
          <p:cNvPr id="8" name="Shape 6"/>
          <p:cNvSpPr/>
          <p:nvPr/>
        </p:nvSpPr>
        <p:spPr>
          <a:xfrm>
            <a:off x="6016752" y="2212848"/>
            <a:ext cx="338328" cy="0"/>
          </a:xfrm>
          <a:prstGeom prst="line">
            <a:avLst/>
          </a:prstGeom>
          <a:noFill/>
          <a:ln w="31750">
            <a:solidFill>
              <a:schemeClr val="accent4"/>
            </a:solidFill>
            <a:prstDash val="solid"/>
            <a:tailEnd type="triangle"/>
          </a:ln>
        </p:spPr>
      </p:sp>
      <p:sp>
        <p:nvSpPr>
          <p:cNvPr id="9" name="Shape 7"/>
          <p:cNvSpPr/>
          <p:nvPr/>
        </p:nvSpPr>
        <p:spPr>
          <a:xfrm>
            <a:off x="6400800" y="1828800"/>
            <a:ext cx="5239512" cy="768096"/>
          </a:xfrm>
          <a:prstGeom prst="roundRect">
            <a:avLst>
              <a:gd name="adj" fmla="val 14286"/>
            </a:avLst>
          </a:prstGeom>
          <a:solidFill>
            <a:schemeClr val="accent2">
              <a:alpha val="45000"/>
            </a:schemeClr>
          </a:solidFill>
          <a:ln w="15875">
            <a:solidFill>
              <a:schemeClr val="accent1"/>
            </a:solidFill>
            <a:prstDash val="solid"/>
          </a:ln>
        </p:spPr>
      </p:sp>
      <p:sp>
        <p:nvSpPr>
          <p:cNvPr id="10" name="Text 8"/>
          <p:cNvSpPr txBox="1"/>
          <p:nvPr/>
        </p:nvSpPr>
        <p:spPr>
          <a:xfrm>
            <a:off x="6583680" y="1828800"/>
            <a:ext cx="4892040" cy="768096"/>
          </a:xfrm>
          <a:prstGeom prst="rect">
            <a:avLst/>
          </a:prstGeom>
          <a:noFill/>
          <a:ln/>
        </p:spPr>
        <p:txBody>
          <a:bodyPr wrap="square" lIns="0" tIns="0" rIns="0" bIns="0" rtlCol="0" anchor="ctr"/>
          <a:lstStyle/>
          <a:p>
            <a:pPr indent="0" marL="0">
              <a:buNone/>
            </a:pPr>
            <a:r>
              <a:rPr lang="en-US" sz="1400" dirty="0">
                <a:solidFill>
                  <a:schemeClr val="tx1"/>
                </a:solidFill>
              </a:rPr>
              <a:t>Fields labeled synthetic/unverified; never presented as authentic reviews</a:t>
            </a:r>
            <a:endParaRPr lang="en-US" sz="1400" dirty="0"/>
          </a:p>
        </p:txBody>
      </p:sp>
      <p:sp>
        <p:nvSpPr>
          <p:cNvPr id="11" name="Shape 9"/>
          <p:cNvSpPr/>
          <p:nvPr/>
        </p:nvSpPr>
        <p:spPr>
          <a:xfrm>
            <a:off x="548640" y="2706624"/>
            <a:ext cx="5394960" cy="768096"/>
          </a:xfrm>
          <a:prstGeom prst="roundRect">
            <a:avLst>
              <a:gd name="adj" fmla="val 14286"/>
            </a:avLst>
          </a:prstGeom>
          <a:solidFill>
            <a:schemeClr val="accent5">
              <a:alpha val="70000"/>
            </a:schemeClr>
          </a:solidFill>
          <a:ln w="15875">
            <a:solidFill>
              <a:schemeClr val="accent3"/>
            </a:solidFill>
            <a:prstDash val="solid"/>
          </a:ln>
        </p:spPr>
      </p:sp>
      <p:sp>
        <p:nvSpPr>
          <p:cNvPr id="12" name="Text 10"/>
          <p:cNvSpPr txBox="1"/>
          <p:nvPr/>
        </p:nvSpPr>
        <p:spPr>
          <a:xfrm>
            <a:off x="731520" y="2706624"/>
            <a:ext cx="5029200" cy="768096"/>
          </a:xfrm>
          <a:prstGeom prst="rect">
            <a:avLst/>
          </a:prstGeom>
          <a:noFill/>
          <a:ln/>
        </p:spPr>
        <p:txBody>
          <a:bodyPr wrap="square" lIns="0" tIns="0" rIns="0" bIns="0" rtlCol="0" anchor="ctr"/>
          <a:lstStyle/>
          <a:p>
            <a:pPr indent="0" marL="0">
              <a:buNone/>
            </a:pPr>
            <a:r>
              <a:rPr lang="en-US" sz="1500" b="1" dirty="0">
                <a:solidFill>
                  <a:schemeClr val="tx2"/>
                </a:solidFill>
              </a:rPr>
              <a:t>No prices or activity durations</a:t>
            </a:r>
            <a:endParaRPr lang="en-US" sz="1500" dirty="0"/>
          </a:p>
        </p:txBody>
      </p:sp>
      <p:sp>
        <p:nvSpPr>
          <p:cNvPr id="13" name="Shape 11"/>
          <p:cNvSpPr/>
          <p:nvPr/>
        </p:nvSpPr>
        <p:spPr>
          <a:xfrm>
            <a:off x="6016752" y="3090672"/>
            <a:ext cx="338328" cy="0"/>
          </a:xfrm>
          <a:prstGeom prst="line">
            <a:avLst/>
          </a:prstGeom>
          <a:noFill/>
          <a:ln w="31750">
            <a:solidFill>
              <a:schemeClr val="accent4"/>
            </a:solidFill>
            <a:prstDash val="solid"/>
            <a:tailEnd type="triangle"/>
          </a:ln>
        </p:spPr>
      </p:sp>
      <p:sp>
        <p:nvSpPr>
          <p:cNvPr id="14" name="Shape 12"/>
          <p:cNvSpPr/>
          <p:nvPr/>
        </p:nvSpPr>
        <p:spPr>
          <a:xfrm>
            <a:off x="6400800" y="2706624"/>
            <a:ext cx="5239512" cy="768096"/>
          </a:xfrm>
          <a:prstGeom prst="roundRect">
            <a:avLst>
              <a:gd name="adj" fmla="val 14286"/>
            </a:avLst>
          </a:prstGeom>
          <a:solidFill>
            <a:schemeClr val="accent2">
              <a:alpha val="45000"/>
            </a:schemeClr>
          </a:solidFill>
          <a:ln w="15875">
            <a:solidFill>
              <a:schemeClr val="accent1"/>
            </a:solidFill>
            <a:prstDash val="solid"/>
          </a:ln>
        </p:spPr>
      </p:sp>
      <p:sp>
        <p:nvSpPr>
          <p:cNvPr id="15" name="Text 13"/>
          <p:cNvSpPr txBox="1"/>
          <p:nvPr/>
        </p:nvSpPr>
        <p:spPr>
          <a:xfrm>
            <a:off x="6583680" y="2706624"/>
            <a:ext cx="4892040" cy="768096"/>
          </a:xfrm>
          <a:prstGeom prst="rect">
            <a:avLst/>
          </a:prstGeom>
          <a:noFill/>
          <a:ln/>
        </p:spPr>
        <p:txBody>
          <a:bodyPr wrap="square" lIns="0" tIns="0" rIns="0" bIns="0" rtlCol="0" anchor="ctr"/>
          <a:lstStyle/>
          <a:p>
            <a:pPr indent="0" marL="0">
              <a:buNone/>
            </a:pPr>
            <a:r>
              <a:rPr lang="en-US" sz="1400" dirty="0">
                <a:solidFill>
                  <a:schemeClr val="tx1"/>
                </a:solidFill>
              </a:rPr>
              <a:t>Feasibility check returns insufficient_data instead of guessing</a:t>
            </a:r>
            <a:endParaRPr lang="en-US" sz="1400" dirty="0"/>
          </a:p>
        </p:txBody>
      </p:sp>
      <p:sp>
        <p:nvSpPr>
          <p:cNvPr id="16" name="Shape 14"/>
          <p:cNvSpPr/>
          <p:nvPr/>
        </p:nvSpPr>
        <p:spPr>
          <a:xfrm>
            <a:off x="548640" y="3584448"/>
            <a:ext cx="5394960" cy="768096"/>
          </a:xfrm>
          <a:prstGeom prst="roundRect">
            <a:avLst>
              <a:gd name="adj" fmla="val 14286"/>
            </a:avLst>
          </a:prstGeom>
          <a:solidFill>
            <a:schemeClr val="accent5">
              <a:alpha val="70000"/>
            </a:schemeClr>
          </a:solidFill>
          <a:ln w="15875">
            <a:solidFill>
              <a:schemeClr val="accent3"/>
            </a:solidFill>
            <a:prstDash val="solid"/>
          </a:ln>
        </p:spPr>
      </p:sp>
      <p:sp>
        <p:nvSpPr>
          <p:cNvPr id="17" name="Text 15"/>
          <p:cNvSpPr txBox="1"/>
          <p:nvPr/>
        </p:nvSpPr>
        <p:spPr>
          <a:xfrm>
            <a:off x="731520" y="3584448"/>
            <a:ext cx="5029200" cy="768096"/>
          </a:xfrm>
          <a:prstGeom prst="rect">
            <a:avLst/>
          </a:prstGeom>
          <a:noFill/>
          <a:ln/>
        </p:spPr>
        <p:txBody>
          <a:bodyPr wrap="square" lIns="0" tIns="0" rIns="0" bIns="0" rtlCol="0" anchor="ctr"/>
          <a:lstStyle/>
          <a:p>
            <a:pPr indent="0" marL="0">
              <a:buNone/>
            </a:pPr>
            <a:r>
              <a:rPr lang="en-US" sz="1500" b="1" dirty="0">
                <a:solidFill>
                  <a:schemeClr val="tx2"/>
                </a:solidFill>
              </a:rPr>
              <a:t>MiniLM download stalled in the demo environment</a:t>
            </a:r>
            <a:endParaRPr lang="en-US" sz="1500" dirty="0"/>
          </a:p>
        </p:txBody>
      </p:sp>
      <p:sp>
        <p:nvSpPr>
          <p:cNvPr id="18" name="Shape 16"/>
          <p:cNvSpPr/>
          <p:nvPr/>
        </p:nvSpPr>
        <p:spPr>
          <a:xfrm>
            <a:off x="6016752" y="3968496"/>
            <a:ext cx="338328" cy="0"/>
          </a:xfrm>
          <a:prstGeom prst="line">
            <a:avLst/>
          </a:prstGeom>
          <a:noFill/>
          <a:ln w="31750">
            <a:solidFill>
              <a:schemeClr val="accent4"/>
            </a:solidFill>
            <a:prstDash val="solid"/>
            <a:tailEnd type="triangle"/>
          </a:ln>
        </p:spPr>
      </p:sp>
      <p:sp>
        <p:nvSpPr>
          <p:cNvPr id="19" name="Shape 17"/>
          <p:cNvSpPr/>
          <p:nvPr/>
        </p:nvSpPr>
        <p:spPr>
          <a:xfrm>
            <a:off x="6400800" y="3584448"/>
            <a:ext cx="5239512" cy="768096"/>
          </a:xfrm>
          <a:prstGeom prst="roundRect">
            <a:avLst>
              <a:gd name="adj" fmla="val 14286"/>
            </a:avLst>
          </a:prstGeom>
          <a:solidFill>
            <a:schemeClr val="accent2">
              <a:alpha val="45000"/>
            </a:schemeClr>
          </a:solidFill>
          <a:ln w="15875">
            <a:solidFill>
              <a:schemeClr val="accent1"/>
            </a:solidFill>
            <a:prstDash val="solid"/>
          </a:ln>
        </p:spPr>
      </p:sp>
      <p:sp>
        <p:nvSpPr>
          <p:cNvPr id="20" name="Text 18"/>
          <p:cNvSpPr txBox="1"/>
          <p:nvPr/>
        </p:nvSpPr>
        <p:spPr>
          <a:xfrm>
            <a:off x="6583680" y="3584448"/>
            <a:ext cx="4892040" cy="768096"/>
          </a:xfrm>
          <a:prstGeom prst="rect">
            <a:avLst/>
          </a:prstGeom>
          <a:noFill/>
          <a:ln/>
        </p:spPr>
        <p:txBody>
          <a:bodyPr wrap="square" lIns="0" tIns="0" rIns="0" bIns="0" rtlCol="0" anchor="ctr"/>
          <a:lstStyle/>
          <a:p>
            <a:pPr indent="0" marL="0">
              <a:buNone/>
            </a:pPr>
            <a:r>
              <a:rPr lang="en-US" sz="1400" dirty="0">
                <a:solidFill>
                  <a:schemeClr val="tx1"/>
                </a:solidFill>
              </a:rPr>
              <a:t>TF-IDF + Chroma gave an offline local runtime; MiniLM stays the default option</a:t>
            </a:r>
            <a:endParaRPr lang="en-US" sz="1400" dirty="0"/>
          </a:p>
        </p:txBody>
      </p:sp>
      <p:sp>
        <p:nvSpPr>
          <p:cNvPr id="21" name="Shape 19"/>
          <p:cNvSpPr/>
          <p:nvPr/>
        </p:nvSpPr>
        <p:spPr>
          <a:xfrm>
            <a:off x="548640" y="4462272"/>
            <a:ext cx="5394960" cy="768096"/>
          </a:xfrm>
          <a:prstGeom prst="roundRect">
            <a:avLst>
              <a:gd name="adj" fmla="val 14286"/>
            </a:avLst>
          </a:prstGeom>
          <a:solidFill>
            <a:schemeClr val="accent5">
              <a:alpha val="70000"/>
            </a:schemeClr>
          </a:solidFill>
          <a:ln w="15875">
            <a:solidFill>
              <a:schemeClr val="accent3"/>
            </a:solidFill>
            <a:prstDash val="solid"/>
          </a:ln>
        </p:spPr>
      </p:sp>
      <p:sp>
        <p:nvSpPr>
          <p:cNvPr id="22" name="Text 20"/>
          <p:cNvSpPr txBox="1"/>
          <p:nvPr/>
        </p:nvSpPr>
        <p:spPr>
          <a:xfrm>
            <a:off x="731520" y="4462272"/>
            <a:ext cx="5029200" cy="768096"/>
          </a:xfrm>
          <a:prstGeom prst="rect">
            <a:avLst/>
          </a:prstGeom>
          <a:noFill/>
          <a:ln/>
        </p:spPr>
        <p:txBody>
          <a:bodyPr wrap="square" lIns="0" tIns="0" rIns="0" bIns="0" rtlCol="0" anchor="ctr"/>
          <a:lstStyle/>
          <a:p>
            <a:pPr indent="0" marL="0">
              <a:buNone/>
            </a:pPr>
            <a:r>
              <a:rPr lang="en-US" sz="1500" b="1" dirty="0">
                <a:solidFill>
                  <a:schemeClr val="tx2"/>
                </a:solidFill>
              </a:rPr>
              <a:t>TF-IDF is weaker at paraphrase matching</a:t>
            </a:r>
            <a:endParaRPr lang="en-US" sz="1500" dirty="0"/>
          </a:p>
        </p:txBody>
      </p:sp>
      <p:sp>
        <p:nvSpPr>
          <p:cNvPr id="23" name="Shape 21"/>
          <p:cNvSpPr/>
          <p:nvPr/>
        </p:nvSpPr>
        <p:spPr>
          <a:xfrm>
            <a:off x="6016752" y="4846320"/>
            <a:ext cx="338328" cy="0"/>
          </a:xfrm>
          <a:prstGeom prst="line">
            <a:avLst/>
          </a:prstGeom>
          <a:noFill/>
          <a:ln w="31750">
            <a:solidFill>
              <a:schemeClr val="accent4"/>
            </a:solidFill>
            <a:prstDash val="solid"/>
            <a:tailEnd type="triangle"/>
          </a:ln>
        </p:spPr>
      </p:sp>
      <p:sp>
        <p:nvSpPr>
          <p:cNvPr id="24" name="Shape 22"/>
          <p:cNvSpPr/>
          <p:nvPr/>
        </p:nvSpPr>
        <p:spPr>
          <a:xfrm>
            <a:off x="6400800" y="4462272"/>
            <a:ext cx="5239512" cy="768096"/>
          </a:xfrm>
          <a:prstGeom prst="roundRect">
            <a:avLst>
              <a:gd name="adj" fmla="val 14286"/>
            </a:avLst>
          </a:prstGeom>
          <a:solidFill>
            <a:schemeClr val="accent2">
              <a:alpha val="45000"/>
            </a:schemeClr>
          </a:solidFill>
          <a:ln w="15875">
            <a:solidFill>
              <a:schemeClr val="accent1"/>
            </a:solidFill>
            <a:prstDash val="solid"/>
          </a:ln>
        </p:spPr>
      </p:sp>
      <p:sp>
        <p:nvSpPr>
          <p:cNvPr id="25" name="Text 23"/>
          <p:cNvSpPr txBox="1"/>
          <p:nvPr/>
        </p:nvSpPr>
        <p:spPr>
          <a:xfrm>
            <a:off x="6583680" y="4462272"/>
            <a:ext cx="4892040" cy="768096"/>
          </a:xfrm>
          <a:prstGeom prst="rect">
            <a:avLst/>
          </a:prstGeom>
          <a:noFill/>
          <a:ln/>
        </p:spPr>
        <p:txBody>
          <a:bodyPr wrap="square" lIns="0" tIns="0" rIns="0" bIns="0" rtlCol="0" anchor="ctr"/>
          <a:lstStyle/>
          <a:p>
            <a:pPr indent="0" marL="0">
              <a:buNone/>
            </a:pPr>
            <a:r>
              <a:rPr lang="en-US" sz="1400" dirty="0">
                <a:solidFill>
                  <a:schemeClr val="tx1"/>
                </a:solidFill>
              </a:rPr>
              <a:t>Hybrid retrieval keeps BM25 exact-term matching alongside vector similarity</a:t>
            </a:r>
            <a:endParaRPr lang="en-US" sz="1400" dirty="0"/>
          </a:p>
        </p:txBody>
      </p:sp>
      <p:sp>
        <p:nvSpPr>
          <p:cNvPr id="26" name="Shape 24"/>
          <p:cNvSpPr/>
          <p:nvPr/>
        </p:nvSpPr>
        <p:spPr>
          <a:xfrm>
            <a:off x="548640" y="5340096"/>
            <a:ext cx="5394960" cy="768096"/>
          </a:xfrm>
          <a:prstGeom prst="roundRect">
            <a:avLst>
              <a:gd name="adj" fmla="val 14286"/>
            </a:avLst>
          </a:prstGeom>
          <a:solidFill>
            <a:schemeClr val="accent5">
              <a:alpha val="70000"/>
            </a:schemeClr>
          </a:solidFill>
          <a:ln w="15875">
            <a:solidFill>
              <a:schemeClr val="accent3"/>
            </a:solidFill>
            <a:prstDash val="solid"/>
          </a:ln>
        </p:spPr>
      </p:sp>
      <p:sp>
        <p:nvSpPr>
          <p:cNvPr id="27" name="Text 25"/>
          <p:cNvSpPr txBox="1"/>
          <p:nvPr/>
        </p:nvSpPr>
        <p:spPr>
          <a:xfrm>
            <a:off x="731520" y="5340096"/>
            <a:ext cx="5029200" cy="768096"/>
          </a:xfrm>
          <a:prstGeom prst="rect">
            <a:avLst/>
          </a:prstGeom>
          <a:noFill/>
          <a:ln/>
        </p:spPr>
        <p:txBody>
          <a:bodyPr wrap="square" lIns="0" tIns="0" rIns="0" bIns="0" rtlCol="0" anchor="ctr"/>
          <a:lstStyle/>
          <a:p>
            <a:pPr indent="0" marL="0">
              <a:buNone/>
            </a:pPr>
            <a:r>
              <a:rPr lang="en-US" sz="1500" b="1" dirty="0">
                <a:solidFill>
                  <a:schemeClr val="tx2"/>
                </a:solidFill>
              </a:rPr>
              <a:t>Chroma and SQLite suit local capstone scale, not distributed production</a:t>
            </a:r>
            <a:endParaRPr lang="en-US" sz="1500" dirty="0"/>
          </a:p>
        </p:txBody>
      </p:sp>
      <p:sp>
        <p:nvSpPr>
          <p:cNvPr id="28" name="Shape 26"/>
          <p:cNvSpPr/>
          <p:nvPr/>
        </p:nvSpPr>
        <p:spPr>
          <a:xfrm>
            <a:off x="6016752" y="5724144"/>
            <a:ext cx="338328" cy="0"/>
          </a:xfrm>
          <a:prstGeom prst="line">
            <a:avLst/>
          </a:prstGeom>
          <a:noFill/>
          <a:ln w="31750">
            <a:solidFill>
              <a:schemeClr val="accent4"/>
            </a:solidFill>
            <a:prstDash val="solid"/>
            <a:tailEnd type="triangle"/>
          </a:ln>
        </p:spPr>
      </p:sp>
      <p:sp>
        <p:nvSpPr>
          <p:cNvPr id="29" name="Shape 27"/>
          <p:cNvSpPr/>
          <p:nvPr/>
        </p:nvSpPr>
        <p:spPr>
          <a:xfrm>
            <a:off x="6400800" y="5340096"/>
            <a:ext cx="5239512" cy="768096"/>
          </a:xfrm>
          <a:prstGeom prst="roundRect">
            <a:avLst>
              <a:gd name="adj" fmla="val 14286"/>
            </a:avLst>
          </a:prstGeom>
          <a:solidFill>
            <a:schemeClr val="accent2">
              <a:alpha val="45000"/>
            </a:schemeClr>
          </a:solidFill>
          <a:ln w="15875">
            <a:solidFill>
              <a:schemeClr val="accent1"/>
            </a:solidFill>
            <a:prstDash val="solid"/>
          </a:ln>
        </p:spPr>
      </p:sp>
      <p:sp>
        <p:nvSpPr>
          <p:cNvPr id="30" name="Text 28"/>
          <p:cNvSpPr txBox="1"/>
          <p:nvPr/>
        </p:nvSpPr>
        <p:spPr>
          <a:xfrm>
            <a:off x="6583680" y="5340096"/>
            <a:ext cx="4892040" cy="768096"/>
          </a:xfrm>
          <a:prstGeom prst="rect">
            <a:avLst/>
          </a:prstGeom>
          <a:noFill/>
          <a:ln/>
        </p:spPr>
        <p:txBody>
          <a:bodyPr wrap="square" lIns="0" tIns="0" rIns="0" bIns="0" rtlCol="0" anchor="ctr"/>
          <a:lstStyle/>
          <a:p>
            <a:pPr indent="0" marL="0">
              <a:buNone/>
            </a:pPr>
            <a:r>
              <a:rPr lang="en-US" sz="1400" dirty="0">
                <a:solidFill>
                  <a:schemeClr val="tx1"/>
                </a:solidFill>
              </a:rPr>
              <a:t>Local-first design keeps execution reproducible on one machine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300" b="1" spc="300" kern="0" dirty="0">
                <a:solidFill>
                  <a:schemeClr val="accent3"/>
                </a:solidFill>
              </a:rPr>
              <a:t>WHAT’S NEXT</a:t>
            </a:r>
            <a:endParaRPr lang="en-US" sz="1300" dirty="0"/>
          </a:p>
        </p:txBody>
      </p:sp>
      <p:sp>
        <p:nvSpPr>
          <p:cNvPr id="3" name="Text 1"/>
          <p:cNvSpPr/>
          <p:nvPr>
            <p:ph idx="102"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A forward route from a working start</a:t>
            </a:r>
            <a:endParaRPr lang="en-US" sz="3400" dirty="0"/>
          </a:p>
        </p:txBody>
      </p:sp>
      <p:sp>
        <p:nvSpPr>
          <p:cNvPr id="4" name="Shape 2"/>
          <p:cNvSpPr/>
          <p:nvPr/>
        </p:nvSpPr>
        <p:spPr>
          <a:xfrm>
            <a:off x="1234440" y="2743200"/>
            <a:ext cx="9601200" cy="0"/>
          </a:xfrm>
          <a:prstGeom prst="line">
            <a:avLst/>
          </a:prstGeom>
          <a:noFill/>
          <a:ln w="38100">
            <a:solidFill>
              <a:schemeClr val="accent3"/>
            </a:solidFill>
            <a:prstDash val="dash"/>
            <a:tailEnd type="triangle"/>
          </a:ln>
        </p:spPr>
      </p:sp>
      <p:sp>
        <p:nvSpPr>
          <p:cNvPr id="5" name="Text 3"/>
          <p:cNvSpPr txBox="1"/>
          <p:nvPr/>
        </p:nvSpPr>
        <p:spPr>
          <a:xfrm>
            <a:off x="548640" y="1691640"/>
            <a:ext cx="1371600" cy="274320"/>
          </a:xfrm>
          <a:prstGeom prst="rect">
            <a:avLst/>
          </a:prstGeom>
          <a:noFill/>
          <a:ln/>
        </p:spPr>
        <p:txBody>
          <a:bodyPr wrap="square" lIns="0" tIns="0" rIns="0" bIns="0" rtlCol="0" anchor="t"/>
          <a:lstStyle/>
          <a:p>
            <a:pPr algn="ctr" indent="0" marL="0">
              <a:buNone/>
            </a:pPr>
            <a:r>
              <a:rPr lang="en-US" sz="1300" b="1" spc="300" kern="0" dirty="0">
                <a:solidFill>
                  <a:schemeClr val="accent1"/>
                </a:solidFill>
              </a:rPr>
              <a:t>CURRENT</a:t>
            </a:r>
            <a:endParaRPr lang="en-US" sz="1300" dirty="0"/>
          </a:p>
        </p:txBody>
      </p:sp>
      <p:sp>
        <p:nvSpPr>
          <p:cNvPr id="6" name="Text 4"/>
          <p:cNvSpPr txBox="1"/>
          <p:nvPr/>
        </p:nvSpPr>
        <p:spPr>
          <a:xfrm>
            <a:off x="3154680" y="1691640"/>
            <a:ext cx="7680960" cy="274320"/>
          </a:xfrm>
          <a:prstGeom prst="rect">
            <a:avLst/>
          </a:prstGeom>
          <a:noFill/>
          <a:ln/>
        </p:spPr>
        <p:txBody>
          <a:bodyPr wrap="square" lIns="0" tIns="0" rIns="0" bIns="0" rtlCol="0" anchor="t"/>
          <a:lstStyle/>
          <a:p>
            <a:pPr algn="ctr" indent="0" marL="0">
              <a:buNone/>
            </a:pPr>
            <a:r>
              <a:rPr lang="en-US" sz="1300" b="1" spc="300" kern="0" dirty="0">
                <a:solidFill>
                  <a:schemeClr val="accent3"/>
                </a:solidFill>
              </a:rPr>
              <a:t>ROADMAP (PLANNED)</a:t>
            </a:r>
            <a:endParaRPr lang="en-US" sz="1300" dirty="0"/>
          </a:p>
        </p:txBody>
      </p:sp>
      <p:sp>
        <p:nvSpPr>
          <p:cNvPr id="7" name="Shape 5"/>
          <p:cNvSpPr/>
          <p:nvPr/>
        </p:nvSpPr>
        <p:spPr>
          <a:xfrm>
            <a:off x="868680" y="2377440"/>
            <a:ext cx="731520" cy="731520"/>
          </a:xfrm>
          <a:prstGeom prst="ellipse">
            <a:avLst/>
          </a:prstGeom>
          <a:solidFill>
            <a:schemeClr val="tx2"/>
          </a:solidFill>
          <a:ln w="38100">
            <a:solidFill>
              <a:schemeClr val="bg2"/>
            </a:solidFill>
            <a:prstDash val="solid"/>
          </a:ln>
        </p:spPr>
      </p:sp>
      <p:pic>
        <p:nvPicPr>
          <p:cNvPr id="8" name="Image 0" descr="pin">    </p:cNvPr>
          <p:cNvPicPr>
            <a:picLocks noChangeAspect="1"/>
          </p:cNvPicPr>
          <p:nvPr/>
        </p:nvPicPr>
        <p:blipFill>
          <a:blip r:embed="rId1"/>
          <a:stretch>
            <a:fillRect/>
          </a:stretch>
        </p:blipFill>
        <p:spPr>
          <a:xfrm>
            <a:off x="1051560" y="2560320"/>
            <a:ext cx="365760" cy="365760"/>
          </a:xfrm>
          <a:prstGeom prst="rect">
            <a:avLst/>
          </a:prstGeom>
        </p:spPr>
      </p:pic>
      <p:sp>
        <p:nvSpPr>
          <p:cNvPr id="9" name="Text 6"/>
          <p:cNvSpPr txBox="1"/>
          <p:nvPr/>
        </p:nvSpPr>
        <p:spPr>
          <a:xfrm>
            <a:off x="365760" y="3291840"/>
            <a:ext cx="1737360" cy="914400"/>
          </a:xfrm>
          <a:prstGeom prst="rect">
            <a:avLst/>
          </a:prstGeom>
          <a:noFill/>
          <a:ln/>
        </p:spPr>
        <p:txBody>
          <a:bodyPr wrap="square" lIns="0" tIns="0" rIns="0" bIns="0" rtlCol="0" anchor="t"/>
          <a:lstStyle/>
          <a:p>
            <a:pPr algn="ctr" indent="0" marL="0">
              <a:buNone/>
            </a:pPr>
            <a:r>
              <a:rPr lang="en-US" sz="1500" b="1" dirty="0">
                <a:solidFill>
                  <a:schemeClr val="tx2"/>
                </a:solidFill>
              </a:rPr>
              <a:t>Local-first working product</a:t>
            </a:r>
            <a:endParaRPr lang="en-US" sz="1500" dirty="0"/>
          </a:p>
        </p:txBody>
      </p:sp>
      <p:sp>
        <p:nvSpPr>
          <p:cNvPr id="10" name="Shape 7"/>
          <p:cNvSpPr/>
          <p:nvPr/>
        </p:nvSpPr>
        <p:spPr>
          <a:xfrm>
            <a:off x="2834640" y="2423160"/>
            <a:ext cx="640080" cy="640080"/>
          </a:xfrm>
          <a:prstGeom prst="ellipse">
            <a:avLst/>
          </a:prstGeom>
          <a:solidFill>
            <a:schemeClr val="bg1"/>
          </a:solidFill>
          <a:ln w="31750">
            <a:solidFill>
              <a:schemeClr val="accent3"/>
            </a:solidFill>
            <a:prstDash val="dash"/>
          </a:ln>
        </p:spPr>
      </p:sp>
      <p:sp>
        <p:nvSpPr>
          <p:cNvPr id="11" name="Text 8"/>
          <p:cNvSpPr txBox="1"/>
          <p:nvPr/>
        </p:nvSpPr>
        <p:spPr>
          <a:xfrm>
            <a:off x="2834640" y="2423160"/>
            <a:ext cx="640080" cy="640080"/>
          </a:xfrm>
          <a:prstGeom prst="rect">
            <a:avLst/>
          </a:prstGeom>
          <a:noFill/>
          <a:ln/>
        </p:spPr>
        <p:txBody>
          <a:bodyPr wrap="square" lIns="0" tIns="0" rIns="0" bIns="0" rtlCol="0" anchor="ctr"/>
          <a:lstStyle/>
          <a:p>
            <a:pPr algn="ctr" indent="0" marL="0">
              <a:buNone/>
            </a:pPr>
            <a:r>
              <a:rPr lang="en-US" sz="2000" b="1" dirty="0">
                <a:solidFill>
                  <a:schemeClr val="accent3"/>
                </a:solidFill>
              </a:rPr>
              <a:t>1</a:t>
            </a:r>
            <a:endParaRPr lang="en-US" sz="2000" dirty="0"/>
          </a:p>
        </p:txBody>
      </p:sp>
      <p:sp>
        <p:nvSpPr>
          <p:cNvPr id="12" name="Text 9"/>
          <p:cNvSpPr txBox="1"/>
          <p:nvPr/>
        </p:nvSpPr>
        <p:spPr>
          <a:xfrm>
            <a:off x="2258568" y="3291840"/>
            <a:ext cx="1792224" cy="1371600"/>
          </a:xfrm>
          <a:prstGeom prst="rect">
            <a:avLst/>
          </a:prstGeom>
          <a:noFill/>
          <a:ln/>
        </p:spPr>
        <p:txBody>
          <a:bodyPr wrap="square" lIns="0" tIns="0" rIns="0" bIns="0" rtlCol="0" anchor="t"/>
          <a:lstStyle/>
          <a:p>
            <a:pPr algn="ctr" indent="0" marL="0">
              <a:buNone/>
            </a:pPr>
            <a:r>
              <a:rPr lang="en-US" sz="1400" dirty="0">
                <a:solidFill>
                  <a:schemeClr val="tx1"/>
                </a:solidFill>
              </a:rPr>
              <a:t>Verify dataset provenance</a:t>
            </a:r>
            <a:endParaRPr lang="en-US" sz="1400" dirty="0"/>
          </a:p>
        </p:txBody>
      </p:sp>
      <p:sp>
        <p:nvSpPr>
          <p:cNvPr id="13" name="Shape 10"/>
          <p:cNvSpPr/>
          <p:nvPr/>
        </p:nvSpPr>
        <p:spPr>
          <a:xfrm>
            <a:off x="4754880" y="2423160"/>
            <a:ext cx="640080" cy="640080"/>
          </a:xfrm>
          <a:prstGeom prst="ellipse">
            <a:avLst/>
          </a:prstGeom>
          <a:solidFill>
            <a:schemeClr val="bg1"/>
          </a:solidFill>
          <a:ln w="31750">
            <a:solidFill>
              <a:schemeClr val="accent3"/>
            </a:solidFill>
            <a:prstDash val="dash"/>
          </a:ln>
        </p:spPr>
      </p:sp>
      <p:sp>
        <p:nvSpPr>
          <p:cNvPr id="14" name="Text 11"/>
          <p:cNvSpPr txBox="1"/>
          <p:nvPr/>
        </p:nvSpPr>
        <p:spPr>
          <a:xfrm>
            <a:off x="4754880" y="2423160"/>
            <a:ext cx="640080" cy="640080"/>
          </a:xfrm>
          <a:prstGeom prst="rect">
            <a:avLst/>
          </a:prstGeom>
          <a:noFill/>
          <a:ln/>
        </p:spPr>
        <p:txBody>
          <a:bodyPr wrap="square" lIns="0" tIns="0" rIns="0" bIns="0" rtlCol="0" anchor="ctr"/>
          <a:lstStyle/>
          <a:p>
            <a:pPr algn="ctr" indent="0" marL="0">
              <a:buNone/>
            </a:pPr>
            <a:r>
              <a:rPr lang="en-US" sz="2000" b="1" dirty="0">
                <a:solidFill>
                  <a:schemeClr val="accent3"/>
                </a:solidFill>
              </a:rPr>
              <a:t>2</a:t>
            </a:r>
            <a:endParaRPr lang="en-US" sz="2000" dirty="0"/>
          </a:p>
        </p:txBody>
      </p:sp>
      <p:sp>
        <p:nvSpPr>
          <p:cNvPr id="15" name="Text 12"/>
          <p:cNvSpPr txBox="1"/>
          <p:nvPr/>
        </p:nvSpPr>
        <p:spPr>
          <a:xfrm>
            <a:off x="4178808" y="3291840"/>
            <a:ext cx="1792224" cy="1371600"/>
          </a:xfrm>
          <a:prstGeom prst="rect">
            <a:avLst/>
          </a:prstGeom>
          <a:noFill/>
          <a:ln/>
        </p:spPr>
        <p:txBody>
          <a:bodyPr wrap="square" lIns="0" tIns="0" rIns="0" bIns="0" rtlCol="0" anchor="t"/>
          <a:lstStyle/>
          <a:p>
            <a:pPr algn="ctr" indent="0" marL="0">
              <a:buNone/>
            </a:pPr>
            <a:r>
              <a:rPr lang="en-US" sz="1400" dirty="0">
                <a:solidFill>
                  <a:schemeClr val="tx1"/>
                </a:solidFill>
              </a:rPr>
              <a:t>Build a held-out query set</a:t>
            </a:r>
            <a:endParaRPr lang="en-US" sz="1400" dirty="0"/>
          </a:p>
        </p:txBody>
      </p:sp>
      <p:sp>
        <p:nvSpPr>
          <p:cNvPr id="16" name="Shape 13"/>
          <p:cNvSpPr/>
          <p:nvPr/>
        </p:nvSpPr>
        <p:spPr>
          <a:xfrm>
            <a:off x="6675120" y="2423160"/>
            <a:ext cx="640080" cy="640080"/>
          </a:xfrm>
          <a:prstGeom prst="ellipse">
            <a:avLst/>
          </a:prstGeom>
          <a:solidFill>
            <a:schemeClr val="bg1"/>
          </a:solidFill>
          <a:ln w="31750">
            <a:solidFill>
              <a:schemeClr val="accent3"/>
            </a:solidFill>
            <a:prstDash val="dash"/>
          </a:ln>
        </p:spPr>
      </p:sp>
      <p:sp>
        <p:nvSpPr>
          <p:cNvPr id="17" name="Text 14"/>
          <p:cNvSpPr txBox="1"/>
          <p:nvPr/>
        </p:nvSpPr>
        <p:spPr>
          <a:xfrm>
            <a:off x="6675120" y="2423160"/>
            <a:ext cx="640080" cy="640080"/>
          </a:xfrm>
          <a:prstGeom prst="rect">
            <a:avLst/>
          </a:prstGeom>
          <a:noFill/>
          <a:ln/>
        </p:spPr>
        <p:txBody>
          <a:bodyPr wrap="square" lIns="0" tIns="0" rIns="0" bIns="0" rtlCol="0" anchor="ctr"/>
          <a:lstStyle/>
          <a:p>
            <a:pPr algn="ctr" indent="0" marL="0">
              <a:buNone/>
            </a:pPr>
            <a:r>
              <a:rPr lang="en-US" sz="2000" b="1" dirty="0">
                <a:solidFill>
                  <a:schemeClr val="accent3"/>
                </a:solidFill>
              </a:rPr>
              <a:t>3</a:t>
            </a:r>
            <a:endParaRPr lang="en-US" sz="2000" dirty="0"/>
          </a:p>
        </p:txBody>
      </p:sp>
      <p:sp>
        <p:nvSpPr>
          <p:cNvPr id="18" name="Text 15"/>
          <p:cNvSpPr txBox="1"/>
          <p:nvPr/>
        </p:nvSpPr>
        <p:spPr>
          <a:xfrm>
            <a:off x="6099048" y="3291840"/>
            <a:ext cx="1792224" cy="1371600"/>
          </a:xfrm>
          <a:prstGeom prst="rect">
            <a:avLst/>
          </a:prstGeom>
          <a:noFill/>
          <a:ln/>
        </p:spPr>
        <p:txBody>
          <a:bodyPr wrap="square" lIns="0" tIns="0" rIns="0" bIns="0" rtlCol="0" anchor="t"/>
          <a:lstStyle/>
          <a:p>
            <a:pPr algn="ctr" indent="0" marL="0">
              <a:buNone/>
            </a:pPr>
            <a:r>
              <a:rPr lang="en-US" sz="1400" dirty="0">
                <a:solidFill>
                  <a:schemeClr val="tx1"/>
                </a:solidFill>
              </a:rPr>
              <a:t>Run DeepEval and optional LLM-judge evaluation once implemented</a:t>
            </a:r>
            <a:endParaRPr lang="en-US" sz="1400" dirty="0"/>
          </a:p>
        </p:txBody>
      </p:sp>
      <p:sp>
        <p:nvSpPr>
          <p:cNvPr id="19" name="Shape 16"/>
          <p:cNvSpPr/>
          <p:nvPr/>
        </p:nvSpPr>
        <p:spPr>
          <a:xfrm>
            <a:off x="8595360" y="2423160"/>
            <a:ext cx="640080" cy="640080"/>
          </a:xfrm>
          <a:prstGeom prst="ellipse">
            <a:avLst/>
          </a:prstGeom>
          <a:solidFill>
            <a:schemeClr val="bg1"/>
          </a:solidFill>
          <a:ln w="31750">
            <a:solidFill>
              <a:schemeClr val="accent3"/>
            </a:solidFill>
            <a:prstDash val="dash"/>
          </a:ln>
        </p:spPr>
      </p:sp>
      <p:sp>
        <p:nvSpPr>
          <p:cNvPr id="20" name="Text 17"/>
          <p:cNvSpPr txBox="1"/>
          <p:nvPr/>
        </p:nvSpPr>
        <p:spPr>
          <a:xfrm>
            <a:off x="8595360" y="2423160"/>
            <a:ext cx="640080" cy="640080"/>
          </a:xfrm>
          <a:prstGeom prst="rect">
            <a:avLst/>
          </a:prstGeom>
          <a:noFill/>
          <a:ln/>
        </p:spPr>
        <p:txBody>
          <a:bodyPr wrap="square" lIns="0" tIns="0" rIns="0" bIns="0" rtlCol="0" anchor="ctr"/>
          <a:lstStyle/>
          <a:p>
            <a:pPr algn="ctr" indent="0" marL="0">
              <a:buNone/>
            </a:pPr>
            <a:r>
              <a:rPr lang="en-US" sz="2000" b="1" dirty="0">
                <a:solidFill>
                  <a:schemeClr val="accent3"/>
                </a:solidFill>
              </a:rPr>
              <a:t>4</a:t>
            </a:r>
            <a:endParaRPr lang="en-US" sz="2000" dirty="0"/>
          </a:p>
        </p:txBody>
      </p:sp>
      <p:sp>
        <p:nvSpPr>
          <p:cNvPr id="21" name="Text 18"/>
          <p:cNvSpPr txBox="1"/>
          <p:nvPr/>
        </p:nvSpPr>
        <p:spPr>
          <a:xfrm>
            <a:off x="8019288" y="3291840"/>
            <a:ext cx="1792224" cy="1371600"/>
          </a:xfrm>
          <a:prstGeom prst="rect">
            <a:avLst/>
          </a:prstGeom>
          <a:noFill/>
          <a:ln/>
        </p:spPr>
        <p:txBody>
          <a:bodyPr wrap="square" lIns="0" tIns="0" rIns="0" bIns="0" rtlCol="0" anchor="t"/>
          <a:lstStyle/>
          <a:p>
            <a:pPr algn="ctr" indent="0" marL="0">
              <a:buNone/>
            </a:pPr>
            <a:r>
              <a:rPr lang="en-US" sz="1400" dirty="0">
                <a:solidFill>
                  <a:schemeClr val="tx1"/>
                </a:solidFill>
              </a:rPr>
              <a:t>Add real price and duration data before feasibility planning</a:t>
            </a:r>
            <a:endParaRPr lang="en-US" sz="1400" dirty="0"/>
          </a:p>
        </p:txBody>
      </p:sp>
      <p:sp>
        <p:nvSpPr>
          <p:cNvPr id="22" name="Shape 19"/>
          <p:cNvSpPr/>
          <p:nvPr/>
        </p:nvSpPr>
        <p:spPr>
          <a:xfrm>
            <a:off x="10515600" y="2423160"/>
            <a:ext cx="640080" cy="640080"/>
          </a:xfrm>
          <a:prstGeom prst="ellipse">
            <a:avLst/>
          </a:prstGeom>
          <a:solidFill>
            <a:schemeClr val="bg1"/>
          </a:solidFill>
          <a:ln w="31750">
            <a:solidFill>
              <a:schemeClr val="accent3"/>
            </a:solidFill>
            <a:prstDash val="dash"/>
          </a:ln>
        </p:spPr>
      </p:sp>
      <p:sp>
        <p:nvSpPr>
          <p:cNvPr id="23" name="Text 20"/>
          <p:cNvSpPr txBox="1"/>
          <p:nvPr/>
        </p:nvSpPr>
        <p:spPr>
          <a:xfrm>
            <a:off x="10515600" y="2423160"/>
            <a:ext cx="640080" cy="640080"/>
          </a:xfrm>
          <a:prstGeom prst="rect">
            <a:avLst/>
          </a:prstGeom>
          <a:noFill/>
          <a:ln/>
        </p:spPr>
        <p:txBody>
          <a:bodyPr wrap="square" lIns="0" tIns="0" rIns="0" bIns="0" rtlCol="0" anchor="ctr"/>
          <a:lstStyle/>
          <a:p>
            <a:pPr algn="ctr" indent="0" marL="0">
              <a:buNone/>
            </a:pPr>
            <a:r>
              <a:rPr lang="en-US" sz="2000" b="1" dirty="0">
                <a:solidFill>
                  <a:schemeClr val="accent3"/>
                </a:solidFill>
              </a:rPr>
              <a:t>5</a:t>
            </a:r>
            <a:endParaRPr lang="en-US" sz="2000" dirty="0"/>
          </a:p>
        </p:txBody>
      </p:sp>
      <p:sp>
        <p:nvSpPr>
          <p:cNvPr id="24" name="Text 21"/>
          <p:cNvSpPr txBox="1"/>
          <p:nvPr/>
        </p:nvSpPr>
        <p:spPr>
          <a:xfrm>
            <a:off x="9939528" y="3291840"/>
            <a:ext cx="1792224" cy="1371600"/>
          </a:xfrm>
          <a:prstGeom prst="rect">
            <a:avLst/>
          </a:prstGeom>
          <a:noFill/>
          <a:ln/>
        </p:spPr>
        <p:txBody>
          <a:bodyPr wrap="square" lIns="0" tIns="0" rIns="0" bIns="0" rtlCol="0" anchor="t"/>
          <a:lstStyle/>
          <a:p>
            <a:pPr algn="ctr" indent="0" marL="0">
              <a:buNone/>
            </a:pPr>
            <a:r>
              <a:rPr lang="en-US" sz="1400" dirty="0">
                <a:solidFill>
                  <a:schemeClr val="tx1"/>
                </a:solidFill>
              </a:rPr>
              <a:t>Improve optional feedback-based ranking</a:t>
            </a:r>
            <a:endParaRPr lang="en-US" sz="1400" dirty="0"/>
          </a:p>
        </p:txBody>
      </p:sp>
      <p:sp>
        <p:nvSpPr>
          <p:cNvPr id="25" name="Shape 22"/>
          <p:cNvSpPr/>
          <p:nvPr/>
        </p:nvSpPr>
        <p:spPr>
          <a:xfrm>
            <a:off x="548640" y="4846320"/>
            <a:ext cx="11091672" cy="1280160"/>
          </a:xfrm>
          <a:prstGeom prst="roundRect">
            <a:avLst>
              <a:gd name="adj" fmla="val 8571"/>
            </a:avLst>
          </a:prstGeom>
          <a:solidFill>
            <a:schemeClr val="tx2"/>
          </a:solidFill>
          <a:ln w="12700">
            <a:solidFill>
              <a:schemeClr val="tx2"/>
            </a:solidFill>
            <a:prstDash val="solid"/>
          </a:ln>
        </p:spPr>
      </p:sp>
      <p:sp>
        <p:nvSpPr>
          <p:cNvPr id="26" name="Text 23"/>
          <p:cNvSpPr txBox="1"/>
          <p:nvPr/>
        </p:nvSpPr>
        <p:spPr>
          <a:xfrm>
            <a:off x="822960" y="4846320"/>
            <a:ext cx="10515600" cy="1280160"/>
          </a:xfrm>
          <a:prstGeom prst="rect">
            <a:avLst/>
          </a:prstGeom>
          <a:noFill/>
          <a:ln/>
        </p:spPr>
        <p:txBody>
          <a:bodyPr wrap="square" lIns="0" tIns="0" rIns="0" bIns="0" rtlCol="0" anchor="ctr"/>
          <a:lstStyle/>
          <a:p>
            <a:pPr algn="ctr" indent="0" marL="0">
              <a:buNone/>
            </a:pPr>
            <a:r>
              <a:rPr lang="en-US" sz="3200" b="1" i="1" dirty="0">
                <a:solidFill>
                  <a:schemeClr val="bg2"/>
                </a:solidFill>
                <a:latin typeface="+mj-lt" pitchFamily="34" charset="0"/>
                <a:ea typeface="+mj-lt" pitchFamily="34" charset="-122"/>
                <a:cs typeface="+mj-lt" pitchFamily="34" charset="-120"/>
              </a:rPr>
              <a:t>Search less. Compare better. Recommend with evidence.</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Illustrated Mediterranean coast at dusk">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6309360" cy="6858000"/>
          </a:xfrm>
          <a:prstGeom prst="rect">
            <a:avLst>
              <a:gd name="adj" fmla="val 1739"/>
            </a:avLst>
          </a:prstGeom>
          <a:solidFill>
            <a:schemeClr val="tx2">
              <a:alpha val="85000"/>
            </a:schemeClr>
          </a:solidFill>
          <a:ln w="12700">
            <a:solidFill>
              <a:schemeClr val="tx2">
                <a:alpha val="0"/>
              </a:schemeClr>
            </a:solidFill>
            <a:prstDash val="solid"/>
          </a:ln>
        </p:spPr>
      </p:sp>
      <p:sp>
        <p:nvSpPr>
          <p:cNvPr id="4" name="Text 0"/>
          <p:cNvSpPr/>
          <p:nvPr>
            <p:ph idx="100" type="title" hasCustomPrompt="1"/>
          </p:nvPr>
        </p:nvSpPr>
        <p:spPr>
          <a:xfrm>
            <a:off x="640080" y="1783080"/>
            <a:ext cx="4846320" cy="2468880"/>
          </a:xfrm>
          <a:prstGeom prst="rect">
            <a:avLst/>
          </a:prstGeom>
          <a:noFill/>
          <a:ln/>
        </p:spPr>
        <p:txBody>
          <a:bodyPr wrap="square" lIns="0" tIns="0" rIns="0" bIns="0" rtlCol="0" anchor="t"/>
          <a:lstStyle/>
          <a:p>
            <a:pPr algn="l" indent="0" marL="0">
              <a:buNone/>
            </a:pPr>
            <a:r>
              <a:rPr lang="en-US" sz="6000" b="1" dirty="0">
                <a:solidFill>
                  <a:schemeClr val="bg2"/>
                </a:solidFill>
              </a:rPr>
              <a:t>Questions?</a:t>
            </a:r>
            <a:endParaRPr lang="en-US" sz="3800" dirty="0"/>
          </a:p>
        </p:txBody>
      </p:sp>
      <p:sp>
        <p:nvSpPr>
          <p:cNvPr id="5" name="Text 2"/>
          <p:cNvSpPr txBox="1"/>
          <p:nvPr/>
        </p:nvSpPr>
        <p:spPr>
          <a:xfrm>
            <a:off x="640080" y="3566160"/>
            <a:ext cx="5303520" cy="822960"/>
          </a:xfrm>
          <a:prstGeom prst="rect">
            <a:avLst/>
          </a:prstGeom>
          <a:noFill/>
          <a:ln/>
        </p:spPr>
        <p:txBody>
          <a:bodyPr wrap="square" lIns="0" tIns="0" rIns="0" bIns="0" rtlCol="0" anchor="t"/>
          <a:lstStyle/>
          <a:p>
            <a:pPr indent="0" marL="0">
              <a:buNone/>
            </a:pPr>
            <a:r>
              <a:rPr lang="en-US" sz="1800" dirty="0">
                <a:solidFill>
                  <a:schemeClr val="bg2"/>
                </a:solidFill>
              </a:rPr>
              <a:t>AI-Powered Travel Planning &amp; Itinerary Assistant  |  Project 2</a:t>
            </a:r>
            <a:endParaRPr lang="en-US" sz="1800" dirty="0"/>
          </a:p>
        </p:txBody>
      </p:sp>
      <p:sp>
        <p:nvSpPr>
          <p:cNvPr id="6" name="Text 3"/>
          <p:cNvSpPr txBox="1"/>
          <p:nvPr/>
        </p:nvSpPr>
        <p:spPr>
          <a:xfrm>
            <a:off x="640080" y="4572000"/>
            <a:ext cx="5303520" cy="365760"/>
          </a:xfrm>
          <a:prstGeom prst="rect">
            <a:avLst/>
          </a:prstGeom>
          <a:noFill/>
          <a:ln/>
        </p:spPr>
        <p:txBody>
          <a:bodyPr wrap="square" lIns="0" tIns="0" rIns="0" bIns="0" rtlCol="0" anchor="t"/>
          <a:lstStyle/>
          <a:p>
            <a:pPr indent="0" marL="0">
              <a:buNone/>
            </a:pPr>
            <a:r>
              <a:rPr lang="en-US" sz="1600" dirty="0">
                <a:solidFill>
                  <a:schemeClr val="accent2"/>
                </a:solidFill>
              </a:rPr>
              <a:t>[Presenter / team name]</a:t>
            </a:r>
            <a:endParaRPr lang="en-US" sz="1600" dirty="0"/>
          </a:p>
        </p:txBody>
      </p:sp>
    </p:spTree>
  </p:cSld>
  <p:clrMapOvr>
    <a:masterClrMapping/>
  </p:clrMapOvr>
  <p:transition spd="med">
    <p:fade/>
  </p:transition>
</p:sld>
</file>

<file path=ppt/theme/theme1.xml><?xml version="1.0" encoding="utf-8"?>
<a:theme xmlns:a="http://schemas.openxmlformats.org/drawingml/2006/main" name="Wayfarer Studio">
  <a:themeElements>
    <a:clrScheme name="Wayfarer Studio">
      <a:dk1>
        <a:srgbClr val="1B2B24"/>
      </a:dk1>
      <a:lt1>
        <a:srgbClr val="FFFFFF"/>
      </a:lt1>
      <a:dk2>
        <a:srgbClr val="1F4D3A"/>
      </a:dk2>
      <a:lt2>
        <a:srgbClr val="FBF7EE"/>
      </a:lt2>
      <a:accent1>
        <a:srgbClr val="2C6B4F"/>
      </a:accent1>
      <a:accent2>
        <a:srgbClr val="A9D9BE"/>
      </a:accent2>
      <a:accent3>
        <a:srgbClr val="CF523B"/>
      </a:accent3>
      <a:accent4>
        <a:srgbClr val="5E8C72"/>
      </a:accent4>
      <a:accent5>
        <a:srgbClr val="F0E4CC"/>
      </a:accent5>
      <a:accent6>
        <a:srgbClr val="5C6F65"/>
      </a:accent6>
      <a:hlink>
        <a:srgbClr val="2C6B4F"/>
      </a:hlink>
      <a:folHlink>
        <a:srgbClr val="5E8C72"/>
      </a:folHlink>
    </a:clrScheme>
    <a:fontScheme name="Wayfarer Studi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Travel Planning &amp; Itinerary Assistant</dc:title>
  <dc:subject>PptxGenJS Presentation</dc:subject>
  <dc:creator>Project 2</dc:creator>
  <cp:lastModifiedBy>Project 2</cp:lastModifiedBy>
  <cp:revision>1</cp:revision>
  <dcterms:created xsi:type="dcterms:W3CDTF">2026-10-11T18:08:38Z</dcterms:created>
  <dcterms:modified xsi:type="dcterms:W3CDTF">2026-10-11T18:08:38Z</dcterms:modified>
</cp:coreProperties>
</file>